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64a7a0ae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64a7a0ae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64a7a0aee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64a7a0aee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64a7a0aee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64a7a0aee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64a7a0aee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64a7a0aee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64a7a0aee3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64a7a0aee3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64b596220f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64b596220f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64b596220f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64b596220f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64b596220f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64b596220f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64b596220f_1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64b596220f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64b596220f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64b596220f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64b596220f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64b596220f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64b596220f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64b596220f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64b596220f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64b596220f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64b596220f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64b596220f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64b596220f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64b596220f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aab488a05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aab488a05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64b596220f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64b596220f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64c86c4fa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64c86c4f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64c86c4faf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264c86c4faf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64d90f172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64d90f172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64d90f172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64d90f172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64a7a0aee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64a7a0aee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64a7a0aee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64a7a0aee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Making Decisions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t>CS 470</a:t>
            </a:r>
            <a:endParaRPr/>
          </a:p>
          <a:p>
            <a:pPr indent="0" lvl="0" marL="0" rtl="0" algn="ctr">
              <a:spcBef>
                <a:spcPts val="0"/>
              </a:spcBef>
              <a:spcAft>
                <a:spcPts val="0"/>
              </a:spcAft>
              <a:buNone/>
            </a:pPr>
            <a:r>
              <a:rPr lang="en"/>
              <a:t>Ethan Pedersen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Review</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Uncertainty in environments:</a:t>
            </a:r>
            <a:endParaRPr/>
          </a:p>
          <a:p>
            <a:pPr indent="-317500" lvl="1" marL="914400" rtl="0" algn="l">
              <a:spcBef>
                <a:spcPts val="0"/>
              </a:spcBef>
              <a:spcAft>
                <a:spcPts val="0"/>
              </a:spcAft>
              <a:buSzPts val="1400"/>
              <a:buChar char="○"/>
            </a:pPr>
            <a:r>
              <a:rPr lang="en"/>
              <a:t>Uncertainty about which state we are in</a:t>
            </a:r>
            <a:endParaRPr/>
          </a:p>
          <a:p>
            <a:pPr indent="-317500" lvl="1" marL="914400" rtl="0" algn="l">
              <a:spcBef>
                <a:spcPts val="0"/>
              </a:spcBef>
              <a:spcAft>
                <a:spcPts val="0"/>
              </a:spcAft>
              <a:buSzPts val="1400"/>
              <a:buChar char="○"/>
            </a:pPr>
            <a:r>
              <a:rPr lang="en"/>
              <a:t>Uncertainty about what new we’ll enter once we select a particular action</a:t>
            </a:r>
            <a:endParaRPr/>
          </a:p>
          <a:p>
            <a:pPr indent="-342900" lvl="0" marL="457200" rtl="0" algn="l">
              <a:spcBef>
                <a:spcPts val="0"/>
              </a:spcBef>
              <a:spcAft>
                <a:spcPts val="0"/>
              </a:spcAft>
              <a:buSzPts val="1800"/>
              <a:buChar char="●"/>
            </a:pPr>
            <a:r>
              <a:rPr lang="en"/>
              <a:t>Utility function:</a:t>
            </a:r>
            <a:endParaRPr/>
          </a:p>
          <a:p>
            <a:pPr indent="-317500" lvl="1" marL="914400" rtl="0" algn="l">
              <a:spcBef>
                <a:spcPts val="0"/>
              </a:spcBef>
              <a:spcAft>
                <a:spcPts val="0"/>
              </a:spcAft>
              <a:buSzPts val="1400"/>
              <a:buChar char="○"/>
            </a:pPr>
            <a:r>
              <a:rPr lang="en"/>
              <a:t>Based on our agent’s preferences, we can create a utility function that will give us utility for any </a:t>
            </a:r>
            <a:r>
              <a:rPr lang="en"/>
              <a:t>particular</a:t>
            </a:r>
            <a:r>
              <a:rPr lang="en"/>
              <a:t> state we’re in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Review</a:t>
            </a:r>
            <a:endParaRPr/>
          </a:p>
        </p:txBody>
      </p:sp>
      <p:pic>
        <p:nvPicPr>
          <p:cNvPr id="67" name="Google Shape;67;p15"/>
          <p:cNvPicPr preferRelativeResize="0"/>
          <p:nvPr/>
        </p:nvPicPr>
        <p:blipFill>
          <a:blip r:embed="rId3">
            <a:alphaModFix/>
          </a:blip>
          <a:stretch>
            <a:fillRect/>
          </a:stretch>
        </p:blipFill>
        <p:spPr>
          <a:xfrm>
            <a:off x="331962" y="1421850"/>
            <a:ext cx="8480076" cy="2991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Review</a:t>
            </a:r>
            <a:endParaRPr/>
          </a:p>
        </p:txBody>
      </p:sp>
      <p:pic>
        <p:nvPicPr>
          <p:cNvPr id="73" name="Google Shape;73;p16"/>
          <p:cNvPicPr preferRelativeResize="0"/>
          <p:nvPr/>
        </p:nvPicPr>
        <p:blipFill>
          <a:blip r:embed="rId3">
            <a:alphaModFix/>
          </a:blip>
          <a:stretch>
            <a:fillRect/>
          </a:stretch>
        </p:blipFill>
        <p:spPr>
          <a:xfrm>
            <a:off x="1097100" y="1178600"/>
            <a:ext cx="6949799" cy="35638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Maximum Expected Utility (MEU)</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Choosing the action that maximizes the expected utility is what the book calls the maximum expected utility (MEU) principle</a:t>
            </a:r>
            <a:endParaRPr/>
          </a:p>
          <a:p>
            <a:pPr indent="-317500" lvl="1" marL="914400" rtl="0" algn="l">
              <a:spcBef>
                <a:spcPts val="0"/>
              </a:spcBef>
              <a:spcAft>
                <a:spcPts val="0"/>
              </a:spcAft>
              <a:buSzPts val="1400"/>
              <a:buChar char="○"/>
            </a:pPr>
            <a:r>
              <a:rPr lang="en"/>
              <a:t>A prescription for a rational agent</a:t>
            </a:r>
            <a:endParaRPr/>
          </a:p>
          <a:p>
            <a:pPr indent="-342900" lvl="0" marL="457200" rtl="0" algn="l">
              <a:spcBef>
                <a:spcPts val="0"/>
              </a:spcBef>
              <a:spcAft>
                <a:spcPts val="0"/>
              </a:spcAft>
              <a:buSzPts val="1800"/>
              <a:buChar char="●"/>
            </a:pPr>
            <a:r>
              <a:rPr lang="en"/>
              <a:t>However, this principle does not solve our AI problems; why?</a:t>
            </a:r>
            <a:endParaRPr/>
          </a:p>
          <a:p>
            <a:pPr indent="-317500" lvl="1" marL="914400" rtl="0" algn="l">
              <a:spcBef>
                <a:spcPts val="0"/>
              </a:spcBef>
              <a:spcAft>
                <a:spcPts val="0"/>
              </a:spcAft>
              <a:buSzPts val="1400"/>
              <a:buChar char="○"/>
            </a:pPr>
            <a:r>
              <a:rPr lang="en"/>
              <a:t>Computing utilities can be difficult</a:t>
            </a:r>
            <a:endParaRPr/>
          </a:p>
          <a:p>
            <a:pPr indent="-317500" lvl="1" marL="914400" rtl="0" algn="l">
              <a:spcBef>
                <a:spcPts val="0"/>
              </a:spcBef>
              <a:spcAft>
                <a:spcPts val="0"/>
              </a:spcAft>
              <a:buSzPts val="1400"/>
              <a:buChar char="○"/>
            </a:pPr>
            <a:r>
              <a:rPr lang="en"/>
              <a:t>We need to create probability models</a:t>
            </a:r>
            <a:endParaRPr/>
          </a:p>
          <a:p>
            <a:pPr indent="-317500" lvl="1" marL="914400" rtl="0" algn="l">
              <a:spcBef>
                <a:spcPts val="0"/>
              </a:spcBef>
              <a:spcAft>
                <a:spcPts val="0"/>
              </a:spcAft>
              <a:buSzPts val="1400"/>
              <a:buChar char="○"/>
            </a:pPr>
            <a:r>
              <a:rPr lang="en"/>
              <a:t>To do these things, we need perception, learning, knowledge representation, inference, etc.</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with MEU</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Do you think the MEU is reasonable?</a:t>
            </a:r>
            <a:endParaRPr/>
          </a:p>
          <a:p>
            <a:pPr indent="-342900" lvl="0" marL="457200" rtl="0" algn="l">
              <a:spcBef>
                <a:spcPts val="0"/>
              </a:spcBef>
              <a:spcAft>
                <a:spcPts val="0"/>
              </a:spcAft>
              <a:buSzPts val="1800"/>
              <a:buChar char="●"/>
            </a:pPr>
            <a:r>
              <a:rPr lang="en"/>
              <a:t>Do you think every agent should follow the MEU?</a:t>
            </a:r>
            <a:endParaRPr/>
          </a:p>
          <a:p>
            <a:pPr indent="-317500" lvl="1" marL="914400" rtl="0" algn="l">
              <a:spcBef>
                <a:spcPts val="0"/>
              </a:spcBef>
              <a:spcAft>
                <a:spcPts val="0"/>
              </a:spcAft>
              <a:buSzPts val="1400"/>
              <a:buChar char="○"/>
            </a:pPr>
            <a:r>
              <a:rPr lang="en"/>
              <a:t>Agents can be unique, having specific goals that want to achieve rather than simply maximize expected utility</a:t>
            </a:r>
            <a:endParaRPr/>
          </a:p>
          <a:p>
            <a:pPr indent="-317500" lvl="1" marL="914400" rtl="0" algn="l">
              <a:spcBef>
                <a:spcPts val="0"/>
              </a:spcBef>
              <a:spcAft>
                <a:spcPts val="0"/>
              </a:spcAft>
              <a:buSzPts val="1400"/>
              <a:buChar char="○"/>
            </a:pPr>
            <a:r>
              <a:rPr lang="en"/>
              <a:t>For example, recall the risk-aversion (minimax) strategy we reviewed towards the beginning of the semester:</a:t>
            </a:r>
            <a:endParaRPr/>
          </a:p>
        </p:txBody>
      </p:sp>
      <p:pic>
        <p:nvPicPr>
          <p:cNvPr id="86" name="Google Shape;86;p18"/>
          <p:cNvPicPr preferRelativeResize="0"/>
          <p:nvPr/>
        </p:nvPicPr>
        <p:blipFill>
          <a:blip r:embed="rId3">
            <a:alphaModFix/>
          </a:blip>
          <a:stretch>
            <a:fillRect/>
          </a:stretch>
        </p:blipFill>
        <p:spPr>
          <a:xfrm>
            <a:off x="1097100" y="2980800"/>
            <a:ext cx="6949801" cy="2065500"/>
          </a:xfrm>
          <a:prstGeom prst="rect">
            <a:avLst/>
          </a:prstGeom>
          <a:noFill/>
          <a:ln>
            <a:noFill/>
          </a:ln>
        </p:spPr>
      </p:pic>
      <p:sp>
        <p:nvSpPr>
          <p:cNvPr id="87" name="Google Shape;87;p18"/>
          <p:cNvSpPr/>
          <p:nvPr/>
        </p:nvSpPr>
        <p:spPr>
          <a:xfrm>
            <a:off x="6580564" y="3810104"/>
            <a:ext cx="328500" cy="342600"/>
          </a:xfrm>
          <a:prstGeom prst="flowChartConnector">
            <a:avLst/>
          </a:prstGeom>
          <a:noFill/>
          <a:ln cap="flat" cmpd="sng" w="9525">
            <a:solidFill>
              <a:srgbClr val="EEFF4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Google Shape;88;p18"/>
          <p:cNvSpPr/>
          <p:nvPr/>
        </p:nvSpPr>
        <p:spPr>
          <a:xfrm>
            <a:off x="6580564" y="4153038"/>
            <a:ext cx="328500" cy="342600"/>
          </a:xfrm>
          <a:prstGeom prst="flowChartConnector">
            <a:avLst/>
          </a:prstGeom>
          <a:noFill/>
          <a:ln cap="flat" cmpd="sng" w="9525">
            <a:solidFill>
              <a:srgbClr val="EEFF4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 name="Google Shape;89;p18"/>
          <p:cNvSpPr/>
          <p:nvPr/>
        </p:nvSpPr>
        <p:spPr>
          <a:xfrm>
            <a:off x="4781041" y="4440765"/>
            <a:ext cx="430800" cy="420300"/>
          </a:xfrm>
          <a:prstGeom prst="flowChartConnector">
            <a:avLst/>
          </a:prstGeom>
          <a:noFill/>
          <a:ln cap="flat" cmpd="sng" w="9525">
            <a:solidFill>
              <a:srgbClr val="EEFF4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Other Challenges</a:t>
            </a:r>
            <a:endParaRPr/>
          </a:p>
        </p:txBody>
      </p:sp>
      <p:sp>
        <p:nvSpPr>
          <p:cNvPr id="95" name="Google Shape;95;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Do you think money is a good utility?</a:t>
            </a:r>
            <a:endParaRPr/>
          </a:p>
          <a:p>
            <a:pPr indent="-342900" lvl="0" marL="457200" rtl="0" algn="l">
              <a:spcBef>
                <a:spcPts val="0"/>
              </a:spcBef>
              <a:spcAft>
                <a:spcPts val="0"/>
              </a:spcAft>
              <a:buSzPts val="1800"/>
              <a:buChar char="●"/>
            </a:pPr>
            <a:r>
              <a:rPr lang="en"/>
              <a:t>What about placing monetary value on human life (ex: insurance)?</a:t>
            </a:r>
            <a:endParaRPr/>
          </a:p>
          <a:p>
            <a:pPr indent="-317500" lvl="1" marL="914400" rtl="0" algn="l">
              <a:spcBef>
                <a:spcPts val="0"/>
              </a:spcBef>
              <a:spcAft>
                <a:spcPts val="0"/>
              </a:spcAft>
              <a:buSzPts val="1400"/>
              <a:buChar char="○"/>
            </a:pPr>
            <a:r>
              <a:rPr lang="en"/>
              <a:t>The book argues that failing to place monetary value on life can mean life is undervalued</a:t>
            </a:r>
            <a:endParaRPr/>
          </a:p>
          <a:p>
            <a:pPr indent="-317500" lvl="1" marL="914400" rtl="0" algn="l">
              <a:spcBef>
                <a:spcPts val="0"/>
              </a:spcBef>
              <a:spcAft>
                <a:spcPts val="0"/>
              </a:spcAft>
              <a:buSzPts val="1400"/>
              <a:buChar char="○"/>
            </a:pPr>
            <a:r>
              <a:rPr lang="en"/>
              <a:t>Ex: A government agency ran a study on removing asbestos from schools.  The analysts running the study assumed a particular value for a school-age child, and argued that the rational choice was to remove the asbestos.  The agency was morally outraged at their approach and rejected the finding of the study, failing to remove the asbestos.</a:t>
            </a:r>
            <a:endParaRPr/>
          </a:p>
          <a:p>
            <a:pPr indent="-342900" lvl="0" marL="457200" rtl="0" algn="l">
              <a:spcBef>
                <a:spcPts val="0"/>
              </a:spcBef>
              <a:spcAft>
                <a:spcPts val="0"/>
              </a:spcAft>
              <a:buSzPts val="1800"/>
              <a:buChar char="●"/>
            </a:pPr>
            <a:r>
              <a:rPr lang="en"/>
              <a:t>Do you think people behave consistently (especially with money)?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Thought Experiment</a:t>
            </a:r>
            <a:endParaRPr/>
          </a:p>
        </p:txBody>
      </p:sp>
      <p:sp>
        <p:nvSpPr>
          <p:cNvPr id="101" name="Google Shape;101;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You’re on a game show and have triumphed over the other competitors</a:t>
            </a:r>
            <a:endParaRPr/>
          </a:p>
          <a:p>
            <a:pPr indent="-342900" lvl="0" marL="457200" rtl="0" algn="l">
              <a:spcBef>
                <a:spcPts val="0"/>
              </a:spcBef>
              <a:spcAft>
                <a:spcPts val="0"/>
              </a:spcAft>
              <a:buSzPts val="1800"/>
              <a:buChar char="●"/>
            </a:pPr>
            <a:r>
              <a:rPr lang="en"/>
              <a:t>The host offers you one of the two choices:</a:t>
            </a:r>
            <a:endParaRPr/>
          </a:p>
          <a:p>
            <a:pPr indent="-317500" lvl="1" marL="914400" rtl="0" algn="l">
              <a:spcBef>
                <a:spcPts val="0"/>
              </a:spcBef>
              <a:spcAft>
                <a:spcPts val="0"/>
              </a:spcAft>
              <a:buSzPts val="1400"/>
              <a:buChar char="○"/>
            </a:pPr>
            <a:r>
              <a:rPr lang="en"/>
              <a:t>$1,000,000</a:t>
            </a:r>
            <a:endParaRPr/>
          </a:p>
          <a:p>
            <a:pPr indent="-317500" lvl="1" marL="914400" rtl="0" algn="l">
              <a:spcBef>
                <a:spcPts val="0"/>
              </a:spcBef>
              <a:spcAft>
                <a:spcPts val="0"/>
              </a:spcAft>
              <a:buSzPts val="1400"/>
              <a:buChar char="○"/>
            </a:pPr>
            <a:r>
              <a:rPr lang="en"/>
              <a:t>A coin flip, where if the coin lands on tails you get $2,500,000, but if it lands on heads you get nothing</a:t>
            </a:r>
            <a:endParaRPr/>
          </a:p>
          <a:p>
            <a:pPr indent="-342900" lvl="0" marL="457200" rtl="0" algn="l">
              <a:spcBef>
                <a:spcPts val="0"/>
              </a:spcBef>
              <a:spcAft>
                <a:spcPts val="0"/>
              </a:spcAft>
              <a:buSzPts val="1800"/>
              <a:buChar char="●"/>
            </a:pPr>
            <a:r>
              <a:rPr lang="en"/>
              <a:t>What would you do, and why?</a:t>
            </a:r>
            <a:endParaRPr/>
          </a:p>
          <a:p>
            <a:pPr indent="-342900" lvl="0" marL="457200" rtl="0" algn="l">
              <a:spcBef>
                <a:spcPts val="0"/>
              </a:spcBef>
              <a:spcAft>
                <a:spcPts val="0"/>
              </a:spcAft>
              <a:buSzPts val="1800"/>
              <a:buChar char="●"/>
            </a:pPr>
            <a:r>
              <a:rPr lang="en"/>
              <a:t>What the MEU tells us:</a:t>
            </a:r>
            <a:endParaRPr/>
          </a:p>
          <a:p>
            <a:pPr indent="-317500" lvl="1" marL="914400" rtl="0" algn="l">
              <a:spcBef>
                <a:spcPts val="0"/>
              </a:spcBef>
              <a:spcAft>
                <a:spcPts val="0"/>
              </a:spcAft>
              <a:buSzPts val="1400"/>
              <a:buChar char="○"/>
            </a:pPr>
            <a:r>
              <a:rPr lang="en"/>
              <a:t>The expected value of the first option is simply $1,000,000 (no uncertainty around the first option)</a:t>
            </a:r>
            <a:endParaRPr/>
          </a:p>
          <a:p>
            <a:pPr indent="-317500" lvl="1" marL="914400" rtl="0" algn="l">
              <a:spcBef>
                <a:spcPts val="0"/>
              </a:spcBef>
              <a:spcAft>
                <a:spcPts val="0"/>
              </a:spcAft>
              <a:buSzPts val="1400"/>
              <a:buChar char="○"/>
            </a:pPr>
            <a:r>
              <a:rPr lang="en"/>
              <a:t>The expected value of the second option is 0.5($0) + 0.5($2,500,000) = $1,250,000</a:t>
            </a:r>
            <a:endParaRPr/>
          </a:p>
          <a:p>
            <a:pPr indent="-317500" lvl="1" marL="914400" rtl="0" algn="l">
              <a:spcBef>
                <a:spcPts val="0"/>
              </a:spcBef>
              <a:spcAft>
                <a:spcPts val="0"/>
              </a:spcAft>
              <a:buSzPts val="1400"/>
              <a:buChar char="○"/>
            </a:pPr>
            <a:r>
              <a:rPr lang="en"/>
              <a:t>So, under the MEU, people should select the second option</a:t>
            </a:r>
            <a:endParaRPr/>
          </a:p>
          <a:p>
            <a:pPr indent="-317500" lvl="1" marL="914400" rtl="0" algn="l">
              <a:spcBef>
                <a:spcPts val="0"/>
              </a:spcBef>
              <a:spcAft>
                <a:spcPts val="0"/>
              </a:spcAft>
              <a:buSzPts val="1400"/>
              <a:buChar char="○"/>
            </a:pPr>
            <a:r>
              <a:rPr lang="en"/>
              <a:t>Most people take the $1,000,000, but are they being irrational?  Why or why not?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Money and Utility</a:t>
            </a:r>
            <a:endParaRPr/>
          </a:p>
        </p:txBody>
      </p:sp>
      <p:sp>
        <p:nvSpPr>
          <p:cNvPr id="107" name="Google Shape;107;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For most people, utility is not directly proportional to monetary value</a:t>
            </a:r>
            <a:endParaRPr/>
          </a:p>
          <a:p>
            <a:pPr indent="-342900" lvl="0" marL="457200" rtl="0" algn="l">
              <a:spcBef>
                <a:spcPts val="0"/>
              </a:spcBef>
              <a:spcAft>
                <a:spcPts val="0"/>
              </a:spcAft>
              <a:buSzPts val="1800"/>
              <a:buChar char="●"/>
            </a:pPr>
            <a:r>
              <a:rPr lang="en"/>
              <a:t>Ex: The </a:t>
            </a:r>
            <a:r>
              <a:rPr lang="en"/>
              <a:t>utility</a:t>
            </a:r>
            <a:r>
              <a:rPr lang="en"/>
              <a:t> of your first $1,000,000 is probably larger than your second $1,000,000</a:t>
            </a:r>
            <a:endParaRPr/>
          </a:p>
          <a:p>
            <a:pPr indent="-342900" lvl="0" marL="457200" rtl="0" algn="l">
              <a:spcBef>
                <a:spcPts val="0"/>
              </a:spcBef>
              <a:spcAft>
                <a:spcPts val="0"/>
              </a:spcAft>
              <a:buSzPts val="1800"/>
              <a:buChar char="●"/>
            </a:pPr>
            <a:r>
              <a:rPr lang="en"/>
              <a:t>One study has shown that people’s utility of money tends to be proportional to the logarithm of the amount</a:t>
            </a:r>
            <a:endParaRPr/>
          </a:p>
          <a:p>
            <a:pPr indent="-317500" lvl="1" marL="914400" rtl="0" algn="l">
              <a:spcBef>
                <a:spcPts val="0"/>
              </a:spcBef>
              <a:spcAft>
                <a:spcPts val="0"/>
              </a:spcAft>
              <a:buSzPts val="1400"/>
              <a:buChar char="○"/>
            </a:pPr>
            <a:r>
              <a:rPr lang="en"/>
              <a:t>So, there are diminishing returns when larger and larger amounts of money are involved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Money and Utility</a:t>
            </a:r>
            <a:endParaRPr/>
          </a:p>
        </p:txBody>
      </p:sp>
      <p:pic>
        <p:nvPicPr>
          <p:cNvPr id="113" name="Google Shape;113;p22"/>
          <p:cNvPicPr preferRelativeResize="0"/>
          <p:nvPr/>
        </p:nvPicPr>
        <p:blipFill>
          <a:blip r:embed="rId3">
            <a:alphaModFix/>
          </a:blip>
          <a:stretch>
            <a:fillRect/>
          </a:stretch>
        </p:blipFill>
        <p:spPr>
          <a:xfrm>
            <a:off x="2412862" y="1314225"/>
            <a:ext cx="4318276" cy="3474376"/>
          </a:xfrm>
          <a:prstGeom prst="rect">
            <a:avLst/>
          </a:prstGeom>
          <a:noFill/>
          <a:ln>
            <a:noFill/>
          </a:ln>
        </p:spPr>
      </p:pic>
      <p:cxnSp>
        <p:nvCxnSpPr>
          <p:cNvPr id="114" name="Google Shape;114;p22"/>
          <p:cNvCxnSpPr>
            <a:stCxn id="115" idx="1"/>
          </p:cNvCxnSpPr>
          <p:nvPr/>
        </p:nvCxnSpPr>
        <p:spPr>
          <a:xfrm flipH="1">
            <a:off x="5710500" y="1152750"/>
            <a:ext cx="1530900" cy="1074900"/>
          </a:xfrm>
          <a:prstGeom prst="straightConnector1">
            <a:avLst/>
          </a:prstGeom>
          <a:noFill/>
          <a:ln cap="flat" cmpd="sng" w="28575">
            <a:solidFill>
              <a:schemeClr val="accent4"/>
            </a:solidFill>
            <a:prstDash val="solid"/>
            <a:round/>
            <a:headEnd len="med" w="med" type="none"/>
            <a:tailEnd len="med" w="med" type="triangle"/>
          </a:ln>
        </p:spPr>
      </p:cxnSp>
      <p:cxnSp>
        <p:nvCxnSpPr>
          <p:cNvPr id="116" name="Google Shape;116;p22"/>
          <p:cNvCxnSpPr>
            <a:stCxn id="117" idx="3"/>
          </p:cNvCxnSpPr>
          <p:nvPr/>
        </p:nvCxnSpPr>
        <p:spPr>
          <a:xfrm flipH="1" rot="10800000">
            <a:off x="1579500" y="4293150"/>
            <a:ext cx="939600" cy="449400"/>
          </a:xfrm>
          <a:prstGeom prst="straightConnector1">
            <a:avLst/>
          </a:prstGeom>
          <a:noFill/>
          <a:ln cap="flat" cmpd="sng" w="28575">
            <a:solidFill>
              <a:schemeClr val="accent4"/>
            </a:solidFill>
            <a:prstDash val="solid"/>
            <a:round/>
            <a:headEnd len="med" w="med" type="none"/>
            <a:tailEnd len="med" w="med" type="triangle"/>
          </a:ln>
        </p:spPr>
      </p:cxnSp>
      <p:sp>
        <p:nvSpPr>
          <p:cNvPr id="117" name="Google Shape;117;p22"/>
          <p:cNvSpPr txBox="1"/>
          <p:nvPr/>
        </p:nvSpPr>
        <p:spPr>
          <a:xfrm>
            <a:off x="48600" y="4511700"/>
            <a:ext cx="1530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Risk-seeking</a:t>
            </a:r>
            <a:endParaRPr sz="1800">
              <a:solidFill>
                <a:schemeClr val="dk2"/>
              </a:solidFill>
            </a:endParaRPr>
          </a:p>
        </p:txBody>
      </p:sp>
      <p:sp>
        <p:nvSpPr>
          <p:cNvPr id="115" name="Google Shape;115;p22"/>
          <p:cNvSpPr txBox="1"/>
          <p:nvPr/>
        </p:nvSpPr>
        <p:spPr>
          <a:xfrm>
            <a:off x="7241400" y="921900"/>
            <a:ext cx="1530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Risk-seeking</a:t>
            </a:r>
            <a:endParaRPr sz="1800">
              <a:solidFill>
                <a:schemeClr val="dk2"/>
              </a:solidFill>
            </a:endParaRPr>
          </a:p>
        </p:txBody>
      </p:sp>
      <p:sp>
        <p:nvSpPr>
          <p:cNvPr id="118" name="Google Shape;118;p22"/>
          <p:cNvSpPr txBox="1"/>
          <p:nvPr/>
        </p:nvSpPr>
        <p:spPr>
          <a:xfrm>
            <a:off x="581700" y="3473400"/>
            <a:ext cx="1530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Risk-averse</a:t>
            </a:r>
            <a:endParaRPr sz="1800">
              <a:solidFill>
                <a:schemeClr val="dk2"/>
              </a:solidFill>
            </a:endParaRPr>
          </a:p>
        </p:txBody>
      </p:sp>
      <p:sp>
        <p:nvSpPr>
          <p:cNvPr id="119" name="Google Shape;119;p22"/>
          <p:cNvSpPr txBox="1"/>
          <p:nvPr/>
        </p:nvSpPr>
        <p:spPr>
          <a:xfrm>
            <a:off x="4411500" y="691050"/>
            <a:ext cx="1530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Risk-averse</a:t>
            </a:r>
            <a:endParaRPr sz="1800">
              <a:solidFill>
                <a:schemeClr val="dk2"/>
              </a:solidFill>
            </a:endParaRPr>
          </a:p>
        </p:txBody>
      </p:sp>
      <p:cxnSp>
        <p:nvCxnSpPr>
          <p:cNvPr id="120" name="Google Shape;120;p22"/>
          <p:cNvCxnSpPr>
            <a:stCxn id="119" idx="2"/>
          </p:cNvCxnSpPr>
          <p:nvPr/>
        </p:nvCxnSpPr>
        <p:spPr>
          <a:xfrm flipH="1">
            <a:off x="4349850" y="1152750"/>
            <a:ext cx="827100" cy="1552800"/>
          </a:xfrm>
          <a:prstGeom prst="straightConnector1">
            <a:avLst/>
          </a:prstGeom>
          <a:noFill/>
          <a:ln cap="flat" cmpd="sng" w="28575">
            <a:solidFill>
              <a:schemeClr val="accent5"/>
            </a:solidFill>
            <a:prstDash val="solid"/>
            <a:round/>
            <a:headEnd len="med" w="med" type="none"/>
            <a:tailEnd len="med" w="med" type="triangle"/>
          </a:ln>
        </p:spPr>
      </p:cxnSp>
      <p:cxnSp>
        <p:nvCxnSpPr>
          <p:cNvPr id="121" name="Google Shape;121;p22"/>
          <p:cNvCxnSpPr>
            <a:stCxn id="118" idx="3"/>
          </p:cNvCxnSpPr>
          <p:nvPr/>
        </p:nvCxnSpPr>
        <p:spPr>
          <a:xfrm flipH="1" rot="10800000">
            <a:off x="2112600" y="3264450"/>
            <a:ext cx="1751100" cy="439800"/>
          </a:xfrm>
          <a:prstGeom prst="straightConnector1">
            <a:avLst/>
          </a:prstGeom>
          <a:noFill/>
          <a:ln cap="flat" cmpd="sng" w="28575">
            <a:solidFill>
              <a:schemeClr val="accent5"/>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Money and Utility</a:t>
            </a:r>
            <a:endParaRPr/>
          </a:p>
          <a:p>
            <a:pPr indent="0" lvl="0" marL="0" rtl="0" algn="l">
              <a:spcBef>
                <a:spcPts val="0"/>
              </a:spcBef>
              <a:spcAft>
                <a:spcPts val="0"/>
              </a:spcAft>
              <a:buNone/>
            </a:pPr>
            <a:r>
              <a:t/>
            </a:r>
            <a:endParaRPr/>
          </a:p>
        </p:txBody>
      </p:sp>
      <p:sp>
        <p:nvSpPr>
          <p:cNvPr id="127" name="Google Shape;127;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difference between an expected monetary value and its certainty equivalent is </a:t>
            </a:r>
            <a:r>
              <a:rPr lang="en"/>
              <a:t>known</a:t>
            </a:r>
            <a:r>
              <a:rPr lang="en"/>
              <a:t> as the insurance premium</a:t>
            </a:r>
            <a:endParaRPr/>
          </a:p>
          <a:p>
            <a:pPr indent="-342900" lvl="0" marL="457200" rtl="0" algn="l">
              <a:spcBef>
                <a:spcPts val="0"/>
              </a:spcBef>
              <a:spcAft>
                <a:spcPts val="0"/>
              </a:spcAft>
              <a:buSzPts val="1800"/>
              <a:buChar char="●"/>
            </a:pPr>
            <a:r>
              <a:rPr lang="en"/>
              <a:t>Risk aversion is the basis of the insurance industry</a:t>
            </a:r>
            <a:endParaRPr/>
          </a:p>
          <a:p>
            <a:pPr indent="-317500" lvl="1" marL="914400" rtl="0" algn="l">
              <a:spcBef>
                <a:spcPts val="0"/>
              </a:spcBef>
              <a:spcAft>
                <a:spcPts val="0"/>
              </a:spcAft>
              <a:buSzPts val="1400"/>
              <a:buChar char="○"/>
            </a:pPr>
            <a:r>
              <a:rPr lang="en"/>
              <a:t>People are usually willing to pay an insurance premium, rather than gamble the prices of their valuables (house, car, health, etc.)</a:t>
            </a:r>
            <a:endParaRPr/>
          </a:p>
        </p:txBody>
      </p:sp>
      <p:pic>
        <p:nvPicPr>
          <p:cNvPr id="128" name="Google Shape;128;p23"/>
          <p:cNvPicPr preferRelativeResize="0"/>
          <p:nvPr/>
        </p:nvPicPr>
        <p:blipFill>
          <a:blip r:embed="rId3">
            <a:alphaModFix/>
          </a:blip>
          <a:stretch>
            <a:fillRect/>
          </a:stretch>
        </p:blipFill>
        <p:spPr>
          <a:xfrm>
            <a:off x="2709612" y="2916174"/>
            <a:ext cx="3724776" cy="2097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Risk-Related Behaviors</a:t>
            </a:r>
            <a:endParaRPr/>
          </a:p>
        </p:txBody>
      </p:sp>
      <p:sp>
        <p:nvSpPr>
          <p:cNvPr id="134" name="Google Shape;134;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 this class, we’ve talked about risk-averse, risk-neutral, and risk-seeking behavior</a:t>
            </a:r>
            <a:endParaRPr/>
          </a:p>
          <a:p>
            <a:pPr indent="-342900" lvl="0" marL="457200" rtl="0" algn="l">
              <a:spcBef>
                <a:spcPts val="0"/>
              </a:spcBef>
              <a:spcAft>
                <a:spcPts val="0"/>
              </a:spcAft>
              <a:buSzPts val="1800"/>
              <a:buChar char="●"/>
            </a:pPr>
            <a:r>
              <a:rPr lang="en"/>
              <a:t>Risk-averse:</a:t>
            </a:r>
            <a:endParaRPr/>
          </a:p>
          <a:p>
            <a:pPr indent="-317500" lvl="1" marL="914400" rtl="0" algn="l">
              <a:spcBef>
                <a:spcPts val="0"/>
              </a:spcBef>
              <a:spcAft>
                <a:spcPts val="0"/>
              </a:spcAft>
              <a:buSzPts val="1400"/>
              <a:buChar char="○"/>
            </a:pPr>
            <a:r>
              <a:rPr lang="en"/>
              <a:t>Focus on the worst-case utility (minimax)</a:t>
            </a:r>
            <a:endParaRPr/>
          </a:p>
          <a:p>
            <a:pPr indent="-342900" lvl="0" marL="457200" rtl="0" algn="l">
              <a:spcBef>
                <a:spcPts val="0"/>
              </a:spcBef>
              <a:spcAft>
                <a:spcPts val="0"/>
              </a:spcAft>
              <a:buSzPts val="1800"/>
              <a:buChar char="●"/>
            </a:pPr>
            <a:r>
              <a:rPr lang="en"/>
              <a:t>Risk-neutral:</a:t>
            </a:r>
            <a:endParaRPr/>
          </a:p>
          <a:p>
            <a:pPr indent="-317500" lvl="1" marL="914400" rtl="0" algn="l">
              <a:spcBef>
                <a:spcPts val="0"/>
              </a:spcBef>
              <a:spcAft>
                <a:spcPts val="0"/>
              </a:spcAft>
              <a:buSzPts val="1400"/>
              <a:buChar char="○"/>
            </a:pPr>
            <a:r>
              <a:rPr lang="en"/>
              <a:t>Focus on expected utility</a:t>
            </a:r>
            <a:endParaRPr/>
          </a:p>
          <a:p>
            <a:pPr indent="-342900" lvl="0" marL="457200" rtl="0" algn="l">
              <a:spcBef>
                <a:spcPts val="0"/>
              </a:spcBef>
              <a:spcAft>
                <a:spcPts val="0"/>
              </a:spcAft>
              <a:buSzPts val="1800"/>
              <a:buChar char="●"/>
            </a:pPr>
            <a:r>
              <a:rPr lang="en"/>
              <a:t>Risk-seeking:</a:t>
            </a:r>
            <a:endParaRPr/>
          </a:p>
          <a:p>
            <a:pPr indent="-317500" lvl="1" marL="914400" rtl="0" algn="l">
              <a:spcBef>
                <a:spcPts val="0"/>
              </a:spcBef>
              <a:spcAft>
                <a:spcPts val="0"/>
              </a:spcAft>
              <a:buSzPts val="1400"/>
              <a:buChar char="○"/>
            </a:pPr>
            <a:r>
              <a:rPr lang="en"/>
              <a:t>Focus on the best-case utility</a:t>
            </a:r>
            <a:endParaRPr/>
          </a:p>
        </p:txBody>
      </p:sp>
      <p:pic>
        <p:nvPicPr>
          <p:cNvPr id="135" name="Google Shape;135;p24"/>
          <p:cNvPicPr preferRelativeResize="0"/>
          <p:nvPr/>
        </p:nvPicPr>
        <p:blipFill>
          <a:blip r:embed="rId3">
            <a:alphaModFix/>
          </a:blip>
          <a:stretch>
            <a:fillRect/>
          </a:stretch>
        </p:blipFill>
        <p:spPr>
          <a:xfrm>
            <a:off x="5066975" y="1967075"/>
            <a:ext cx="3668875" cy="27959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Another Thought Experiment</a:t>
            </a:r>
            <a:endParaRPr/>
          </a:p>
        </p:txBody>
      </p:sp>
      <p:pic>
        <p:nvPicPr>
          <p:cNvPr id="141" name="Google Shape;141;p25"/>
          <p:cNvPicPr preferRelativeResize="0"/>
          <p:nvPr/>
        </p:nvPicPr>
        <p:blipFill>
          <a:blip r:embed="rId3">
            <a:alphaModFix/>
          </a:blip>
          <a:stretch>
            <a:fillRect/>
          </a:stretch>
        </p:blipFill>
        <p:spPr>
          <a:xfrm>
            <a:off x="2202000" y="1856175"/>
            <a:ext cx="4740000" cy="1640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Another Thought Experiment</a:t>
            </a:r>
            <a:endParaRPr/>
          </a:p>
        </p:txBody>
      </p:sp>
      <p:pic>
        <p:nvPicPr>
          <p:cNvPr id="147" name="Google Shape;147;p26"/>
          <p:cNvPicPr preferRelativeResize="0"/>
          <p:nvPr/>
        </p:nvPicPr>
        <p:blipFill>
          <a:blip r:embed="rId3">
            <a:alphaModFix/>
          </a:blip>
          <a:stretch>
            <a:fillRect/>
          </a:stretch>
        </p:blipFill>
        <p:spPr>
          <a:xfrm>
            <a:off x="2174175" y="1997975"/>
            <a:ext cx="4795650" cy="1474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Another Thought Experiment</a:t>
            </a:r>
            <a:endParaRPr/>
          </a:p>
        </p:txBody>
      </p:sp>
      <p:sp>
        <p:nvSpPr>
          <p:cNvPr id="153" name="Google Shape;153;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Most people prefer B over A and C over D</a:t>
            </a:r>
            <a:endParaRPr/>
          </a:p>
          <a:p>
            <a:pPr indent="-317500" lvl="1" marL="914400" rtl="0" algn="l">
              <a:spcBef>
                <a:spcPts val="0"/>
              </a:spcBef>
              <a:spcAft>
                <a:spcPts val="0"/>
              </a:spcAft>
              <a:buSzPts val="1400"/>
              <a:buChar char="○"/>
            </a:pPr>
            <a:r>
              <a:rPr lang="en"/>
              <a:t>Preferring B over A implies that U($3000) &gt; 0.8 * U($4000)</a:t>
            </a:r>
            <a:endParaRPr/>
          </a:p>
          <a:p>
            <a:pPr indent="-317500" lvl="1" marL="914400" rtl="0" algn="l">
              <a:spcBef>
                <a:spcPts val="0"/>
              </a:spcBef>
              <a:spcAft>
                <a:spcPts val="0"/>
              </a:spcAft>
              <a:buSzPts val="1400"/>
              <a:buChar char="○"/>
            </a:pPr>
            <a:r>
              <a:rPr lang="en"/>
              <a:t>Preferring C over D implies that 0.2 * U($4000) &gt; 0.25 * U($3000)</a:t>
            </a:r>
            <a:endParaRPr/>
          </a:p>
          <a:p>
            <a:pPr indent="-317500" lvl="2" marL="1371600" rtl="0" algn="l">
              <a:spcBef>
                <a:spcPts val="0"/>
              </a:spcBef>
              <a:spcAft>
                <a:spcPts val="0"/>
              </a:spcAft>
              <a:buSzPts val="1400"/>
              <a:buChar char="■"/>
            </a:pPr>
            <a:r>
              <a:rPr lang="en"/>
              <a:t>-&gt; 0.8 * U($4000) &gt; U($3000)</a:t>
            </a:r>
            <a:endParaRPr/>
          </a:p>
          <a:p>
            <a:pPr indent="-317500" lvl="1" marL="914400" rtl="0" algn="l">
              <a:spcBef>
                <a:spcPts val="0"/>
              </a:spcBef>
              <a:spcAft>
                <a:spcPts val="0"/>
              </a:spcAft>
              <a:buSzPts val="1400"/>
              <a:buChar char="○"/>
            </a:pPr>
            <a:r>
              <a:rPr lang="en"/>
              <a:t>Contradiction</a:t>
            </a:r>
            <a:endParaRPr/>
          </a:p>
          <a:p>
            <a:pPr indent="-342900" lvl="0" marL="457200" rtl="0" algn="l">
              <a:spcBef>
                <a:spcPts val="0"/>
              </a:spcBef>
              <a:spcAft>
                <a:spcPts val="0"/>
              </a:spcAft>
              <a:buSzPts val="1800"/>
              <a:buChar char="●"/>
            </a:pPr>
            <a:r>
              <a:rPr lang="en"/>
              <a:t>Similar to what we saw before, money isn’t directly related to utility</a:t>
            </a:r>
            <a:endParaRPr/>
          </a:p>
          <a:p>
            <a:pPr indent="-342900" lvl="0" marL="457200" rtl="0" algn="l">
              <a:spcBef>
                <a:spcPts val="0"/>
              </a:spcBef>
              <a:spcAft>
                <a:spcPts val="0"/>
              </a:spcAft>
              <a:buSzPts val="1800"/>
              <a:buChar char="●"/>
            </a:pPr>
            <a:r>
              <a:rPr lang="en"/>
              <a:t>This is similar to what we saw before with money, but this time the amounts are the same</a:t>
            </a:r>
            <a:endParaRPr/>
          </a:p>
          <a:p>
            <a:pPr indent="-342900" lvl="0" marL="457200" rtl="0" algn="l">
              <a:spcBef>
                <a:spcPts val="0"/>
              </a:spcBef>
              <a:spcAft>
                <a:spcPts val="0"/>
              </a:spcAft>
              <a:buSzPts val="1800"/>
              <a:buChar char="●"/>
            </a:pPr>
            <a:r>
              <a:rPr lang="en"/>
              <a:t>Do you think this is reasonable?  Why or why not?</a:t>
            </a:r>
            <a:endParaRPr/>
          </a:p>
          <a:p>
            <a:pPr indent="-317500" lvl="1" marL="914400" rtl="0" algn="l">
              <a:spcBef>
                <a:spcPts val="0"/>
              </a:spcBef>
              <a:spcAft>
                <a:spcPts val="0"/>
              </a:spcAft>
              <a:buSzPts val="1400"/>
              <a:buChar char="○"/>
            </a:pPr>
            <a:r>
              <a:rPr lang="en"/>
              <a:t>There might be a “certainty effect”, or other factors</a:t>
            </a:r>
            <a:endParaRPr/>
          </a:p>
        </p:txBody>
      </p:sp>
      <p:pic>
        <p:nvPicPr>
          <p:cNvPr id="154" name="Google Shape;154;p27"/>
          <p:cNvPicPr preferRelativeResize="0"/>
          <p:nvPr/>
        </p:nvPicPr>
        <p:blipFill>
          <a:blip r:embed="rId3">
            <a:alphaModFix/>
          </a:blip>
          <a:stretch>
            <a:fillRect/>
          </a:stretch>
        </p:blipFill>
        <p:spPr>
          <a:xfrm>
            <a:off x="1252800" y="4089775"/>
            <a:ext cx="6638399" cy="980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Human Judgment and Irrationality</a:t>
            </a:r>
            <a:endParaRPr/>
          </a:p>
        </p:txBody>
      </p:sp>
      <p:sp>
        <p:nvSpPr>
          <p:cNvPr id="160" name="Google Shape;160;p28"/>
          <p:cNvSpPr txBox="1"/>
          <p:nvPr>
            <p:ph idx="1" type="body"/>
          </p:nvPr>
        </p:nvSpPr>
        <p:spPr>
          <a:xfrm>
            <a:off x="311700" y="1152475"/>
            <a:ext cx="8520600" cy="39909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Decision theory tells us how an agent should act</a:t>
            </a:r>
            <a:endParaRPr/>
          </a:p>
          <a:p>
            <a:pPr indent="-342900" lvl="0" marL="457200" rtl="0" algn="l">
              <a:spcBef>
                <a:spcPts val="0"/>
              </a:spcBef>
              <a:spcAft>
                <a:spcPts val="0"/>
              </a:spcAft>
              <a:buSzPts val="1800"/>
              <a:buChar char="●"/>
            </a:pPr>
            <a:r>
              <a:rPr lang="en"/>
              <a:t>Descriptive theory tells us how actual agents (humans, for the most part) act</a:t>
            </a:r>
            <a:endParaRPr/>
          </a:p>
          <a:p>
            <a:pPr indent="-317500" lvl="1" marL="914400" rtl="0" algn="l">
              <a:spcBef>
                <a:spcPts val="0"/>
              </a:spcBef>
              <a:spcAft>
                <a:spcPts val="0"/>
              </a:spcAft>
              <a:buSzPts val="1400"/>
              <a:buChar char="○"/>
            </a:pPr>
            <a:r>
              <a:rPr lang="en"/>
              <a:t>Evidence suggests that humans are “predictably irrational”</a:t>
            </a:r>
            <a:endParaRPr/>
          </a:p>
          <a:p>
            <a:pPr indent="-342900" lvl="0" marL="457200" rtl="0" algn="l">
              <a:spcBef>
                <a:spcPts val="0"/>
              </a:spcBef>
              <a:spcAft>
                <a:spcPts val="0"/>
              </a:spcAft>
              <a:buSzPts val="1800"/>
              <a:buChar char="●"/>
            </a:pPr>
            <a:r>
              <a:rPr lang="en"/>
              <a:t>Possible explanations to “irrational” human behavior:</a:t>
            </a:r>
            <a:endParaRPr/>
          </a:p>
          <a:p>
            <a:pPr indent="-317500" lvl="1" marL="914400" rtl="0" algn="l">
              <a:spcBef>
                <a:spcPts val="0"/>
              </a:spcBef>
              <a:spcAft>
                <a:spcPts val="0"/>
              </a:spcAft>
              <a:buSzPts val="1400"/>
              <a:buChar char="○"/>
            </a:pPr>
            <a:r>
              <a:rPr lang="en"/>
              <a:t>Certainty effect</a:t>
            </a:r>
            <a:endParaRPr/>
          </a:p>
          <a:p>
            <a:pPr indent="-317500" lvl="1" marL="914400" rtl="0" algn="l">
              <a:spcBef>
                <a:spcPts val="0"/>
              </a:spcBef>
              <a:spcAft>
                <a:spcPts val="0"/>
              </a:spcAft>
              <a:buSzPts val="1400"/>
              <a:buChar char="○"/>
            </a:pPr>
            <a:r>
              <a:rPr lang="en"/>
              <a:t>Reduce computational burden (avoid computing probabilities)</a:t>
            </a:r>
            <a:endParaRPr/>
          </a:p>
          <a:p>
            <a:pPr indent="-317500" lvl="1" marL="914400" rtl="0" algn="l">
              <a:spcBef>
                <a:spcPts val="0"/>
              </a:spcBef>
              <a:spcAft>
                <a:spcPts val="0"/>
              </a:spcAft>
              <a:buSzPts val="1400"/>
              <a:buChar char="○"/>
            </a:pPr>
            <a:r>
              <a:rPr lang="en"/>
              <a:t>Distrust the legitimacy of the stated probabilities</a:t>
            </a:r>
            <a:endParaRPr/>
          </a:p>
          <a:p>
            <a:pPr indent="-317500" lvl="1" marL="914400" rtl="0" algn="l">
              <a:spcBef>
                <a:spcPts val="0"/>
              </a:spcBef>
              <a:spcAft>
                <a:spcPts val="0"/>
              </a:spcAft>
              <a:buSzPts val="1400"/>
              <a:buChar char="○"/>
            </a:pPr>
            <a:r>
              <a:rPr lang="en"/>
              <a:t>Emotions</a:t>
            </a:r>
            <a:endParaRPr/>
          </a:p>
          <a:p>
            <a:pPr indent="-317500" lvl="2" marL="1371600" rtl="0" algn="l">
              <a:spcBef>
                <a:spcPts val="0"/>
              </a:spcBef>
              <a:spcAft>
                <a:spcPts val="0"/>
              </a:spcAft>
              <a:buSzPts val="1400"/>
              <a:buChar char="■"/>
            </a:pPr>
            <a:r>
              <a:rPr lang="en"/>
              <a:t>Regret</a:t>
            </a:r>
            <a:endParaRPr/>
          </a:p>
          <a:p>
            <a:pPr indent="-317500" lvl="1" marL="914400" rtl="0" algn="l">
              <a:spcBef>
                <a:spcPts val="0"/>
              </a:spcBef>
              <a:spcAft>
                <a:spcPts val="0"/>
              </a:spcAft>
              <a:buSzPts val="1400"/>
              <a:buChar char="○"/>
            </a:pPr>
            <a:r>
              <a:rPr lang="en"/>
              <a:t>Framing effect (how something is worded can have an impact on choices)</a:t>
            </a:r>
            <a:endParaRPr/>
          </a:p>
          <a:p>
            <a:pPr indent="-317500" lvl="2" marL="1371600" rtl="0" algn="l">
              <a:spcBef>
                <a:spcPts val="0"/>
              </a:spcBef>
              <a:spcAft>
                <a:spcPts val="0"/>
              </a:spcAft>
              <a:buSzPts val="1400"/>
              <a:buChar char="■"/>
            </a:pPr>
            <a:r>
              <a:rPr lang="en"/>
              <a:t>Ex: People prefer a procedure that has a “90% survival rate” compared to a procedure that has a “10% death rate”, even though they mean the same thing</a:t>
            </a:r>
            <a:endParaRPr/>
          </a:p>
          <a:p>
            <a:pPr indent="-317500" lvl="1" marL="914400" rtl="0" algn="l">
              <a:spcBef>
                <a:spcPts val="0"/>
              </a:spcBef>
              <a:spcAft>
                <a:spcPts val="0"/>
              </a:spcAft>
              <a:buSzPts val="1400"/>
              <a:buChar char="○"/>
            </a:pPr>
            <a:r>
              <a:rPr lang="en"/>
              <a:t>Anchoring effect (relative utility judgments)</a:t>
            </a:r>
            <a:endParaRPr/>
          </a:p>
          <a:p>
            <a:pPr indent="-317500" lvl="2" marL="1371600" rtl="0" algn="l">
              <a:spcBef>
                <a:spcPts val="0"/>
              </a:spcBef>
              <a:spcAft>
                <a:spcPts val="0"/>
              </a:spcAft>
              <a:buSzPts val="1400"/>
              <a:buChar char="■"/>
            </a:pPr>
            <a:r>
              <a:rPr lang="en"/>
              <a:t>Ex: Restaurant offers a $200 bottle of wine it knows that no one will buy, but it makes the $55 bottle of wine seem like a bargain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Human Judgment and Irrationality</a:t>
            </a:r>
            <a:endParaRPr/>
          </a:p>
        </p:txBody>
      </p:sp>
      <p:sp>
        <p:nvSpPr>
          <p:cNvPr id="166" name="Google Shape;166;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Creating agents that interact with humans or try to replicate human behavior in some way can be difficult due to these factors</a:t>
            </a:r>
            <a:endParaRPr/>
          </a:p>
          <a:p>
            <a:pPr indent="-342900" lvl="0" marL="457200" rtl="0" algn="l">
              <a:spcBef>
                <a:spcPts val="0"/>
              </a:spcBef>
              <a:spcAft>
                <a:spcPts val="0"/>
              </a:spcAft>
              <a:buSzPts val="1800"/>
              <a:buChar char="●"/>
            </a:pPr>
            <a:r>
              <a:rPr lang="en"/>
              <a:t>Psychology is involved</a:t>
            </a:r>
            <a:endParaRPr/>
          </a:p>
        </p:txBody>
      </p:sp>
      <p:pic>
        <p:nvPicPr>
          <p:cNvPr id="167" name="Google Shape;167;p29"/>
          <p:cNvPicPr preferRelativeResize="0"/>
          <p:nvPr/>
        </p:nvPicPr>
        <p:blipFill>
          <a:blip r:embed="rId3">
            <a:alphaModFix/>
          </a:blip>
          <a:stretch>
            <a:fillRect/>
          </a:stretch>
        </p:blipFill>
        <p:spPr>
          <a:xfrm>
            <a:off x="2846188" y="2571750"/>
            <a:ext cx="3451625" cy="2393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Estimating Utility</a:t>
            </a:r>
            <a:endParaRPr/>
          </a:p>
        </p:txBody>
      </p:sp>
      <p:sp>
        <p:nvSpPr>
          <p:cNvPr id="173" name="Google Shape;173;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 practice, it is difficult to calculate actual utility</a:t>
            </a:r>
            <a:endParaRPr/>
          </a:p>
          <a:p>
            <a:pPr indent="-317500" lvl="1" marL="914400" rtl="0" algn="l">
              <a:spcBef>
                <a:spcPts val="0"/>
              </a:spcBef>
              <a:spcAft>
                <a:spcPts val="0"/>
              </a:spcAft>
              <a:buSzPts val="1400"/>
              <a:buChar char="○"/>
            </a:pPr>
            <a:r>
              <a:rPr lang="en"/>
              <a:t>We might not know enough (about the environment, the consequences of actions, etc.)</a:t>
            </a:r>
            <a:endParaRPr/>
          </a:p>
          <a:p>
            <a:pPr indent="-317500" lvl="1" marL="914400" rtl="0" algn="l">
              <a:spcBef>
                <a:spcPts val="0"/>
              </a:spcBef>
              <a:spcAft>
                <a:spcPts val="0"/>
              </a:spcAft>
              <a:buSzPts val="1400"/>
              <a:buChar char="○"/>
            </a:pPr>
            <a:r>
              <a:rPr lang="en"/>
              <a:t>Computation of true utility is very difficult</a:t>
            </a:r>
            <a:endParaRPr/>
          </a:p>
          <a:p>
            <a:pPr indent="-317500" lvl="2" marL="1371600" rtl="0" algn="l">
              <a:spcBef>
                <a:spcPts val="0"/>
              </a:spcBef>
              <a:spcAft>
                <a:spcPts val="0"/>
              </a:spcAft>
              <a:buSzPts val="1400"/>
              <a:buChar char="■"/>
            </a:pPr>
            <a:r>
              <a:rPr lang="en"/>
              <a:t>Environment might be too complex</a:t>
            </a:r>
            <a:endParaRPr/>
          </a:p>
          <a:p>
            <a:pPr indent="-317500" lvl="2" marL="1371600" rtl="0" algn="l">
              <a:spcBef>
                <a:spcPts val="0"/>
              </a:spcBef>
              <a:spcAft>
                <a:spcPts val="0"/>
              </a:spcAft>
              <a:buSzPts val="1400"/>
              <a:buChar char="■"/>
            </a:pPr>
            <a:r>
              <a:rPr lang="en"/>
              <a:t>Could be numerous factors influencing utility</a:t>
            </a:r>
            <a:endParaRPr/>
          </a:p>
          <a:p>
            <a:pPr indent="-342900" lvl="0" marL="457200" rtl="0" algn="l">
              <a:spcBef>
                <a:spcPts val="0"/>
              </a:spcBef>
              <a:spcAft>
                <a:spcPts val="0"/>
              </a:spcAft>
              <a:buSzPts val="1800"/>
              <a:buChar char="●"/>
            </a:pPr>
            <a:r>
              <a:rPr lang="en"/>
              <a:t>So, we often will estimate utility to the best of our abilities</a:t>
            </a:r>
            <a:endParaRPr/>
          </a:p>
        </p:txBody>
      </p:sp>
      <p:pic>
        <p:nvPicPr>
          <p:cNvPr id="174" name="Google Shape;174;p30"/>
          <p:cNvPicPr preferRelativeResize="0"/>
          <p:nvPr/>
        </p:nvPicPr>
        <p:blipFill>
          <a:blip r:embed="rId3">
            <a:alphaModFix/>
          </a:blip>
          <a:stretch>
            <a:fillRect/>
          </a:stretch>
        </p:blipFill>
        <p:spPr>
          <a:xfrm>
            <a:off x="6176800" y="2986150"/>
            <a:ext cx="2555625" cy="2017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Satisficing</a:t>
            </a:r>
            <a:endParaRPr/>
          </a:p>
        </p:txBody>
      </p:sp>
      <p:sp>
        <p:nvSpPr>
          <p:cNvPr id="180" name="Google Shape;180;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Another decision making strategy</a:t>
            </a:r>
            <a:endParaRPr/>
          </a:p>
          <a:p>
            <a:pPr indent="-342900" lvl="0" marL="457200" rtl="0" algn="l">
              <a:spcBef>
                <a:spcPts val="0"/>
              </a:spcBef>
              <a:spcAft>
                <a:spcPts val="0"/>
              </a:spcAft>
              <a:buSzPts val="1800"/>
              <a:buChar char="●"/>
            </a:pPr>
            <a:r>
              <a:rPr lang="en"/>
              <a:t>Focuses on finding a “satisfactory” outcome, rather than the optimal outcome</a:t>
            </a:r>
            <a:endParaRPr/>
          </a:p>
          <a:p>
            <a:pPr indent="-317500" lvl="1" marL="914400" rtl="0" algn="l">
              <a:spcBef>
                <a:spcPts val="0"/>
              </a:spcBef>
              <a:spcAft>
                <a:spcPts val="0"/>
              </a:spcAft>
              <a:buSzPts val="1400"/>
              <a:buChar char="○"/>
            </a:pPr>
            <a:r>
              <a:rPr lang="en"/>
              <a:t>Finding the optimal outcome might require too much time or </a:t>
            </a:r>
            <a:r>
              <a:rPr lang="en"/>
              <a:t>computational</a:t>
            </a:r>
            <a:r>
              <a:rPr lang="en"/>
              <a:t> power</a:t>
            </a:r>
            <a:endParaRPr/>
          </a:p>
          <a:p>
            <a:pPr indent="-317500" lvl="1" marL="914400" rtl="0" algn="l">
              <a:spcBef>
                <a:spcPts val="0"/>
              </a:spcBef>
              <a:spcAft>
                <a:spcPts val="0"/>
              </a:spcAft>
              <a:buSzPts val="1400"/>
              <a:buChar char="○"/>
            </a:pPr>
            <a:r>
              <a:rPr lang="en"/>
              <a:t>Can be viewed as a form of estimation</a:t>
            </a:r>
            <a:endParaRPr/>
          </a:p>
          <a:p>
            <a:pPr indent="-342900" lvl="0" marL="457200" rtl="0" algn="l">
              <a:spcBef>
                <a:spcPts val="0"/>
              </a:spcBef>
              <a:spcAft>
                <a:spcPts val="0"/>
              </a:spcAft>
              <a:buSzPts val="1800"/>
              <a:buChar char="●"/>
            </a:pPr>
            <a:r>
              <a:rPr lang="en"/>
              <a:t>In practice, we’ll usually do the following:</a:t>
            </a:r>
            <a:endParaRPr/>
          </a:p>
          <a:p>
            <a:pPr indent="-317500" lvl="1" marL="914400" rtl="0" algn="l">
              <a:spcBef>
                <a:spcPts val="0"/>
              </a:spcBef>
              <a:spcAft>
                <a:spcPts val="0"/>
              </a:spcAft>
              <a:buSzPts val="1400"/>
              <a:buChar char="○"/>
            </a:pPr>
            <a:r>
              <a:rPr lang="en"/>
              <a:t>Set a baseline utility level we think is acceptable</a:t>
            </a:r>
            <a:endParaRPr/>
          </a:p>
          <a:p>
            <a:pPr indent="-317500" lvl="1" marL="914400" rtl="0" algn="l">
              <a:spcBef>
                <a:spcPts val="0"/>
              </a:spcBef>
              <a:spcAft>
                <a:spcPts val="0"/>
              </a:spcAft>
              <a:buSzPts val="1400"/>
              <a:buChar char="○"/>
            </a:pPr>
            <a:r>
              <a:rPr lang="en"/>
              <a:t>Search for possible outcomes</a:t>
            </a:r>
            <a:endParaRPr/>
          </a:p>
          <a:p>
            <a:pPr indent="-317500" lvl="1" marL="914400" rtl="0" algn="l">
              <a:spcBef>
                <a:spcPts val="0"/>
              </a:spcBef>
              <a:spcAft>
                <a:spcPts val="0"/>
              </a:spcAft>
              <a:buSzPts val="1400"/>
              <a:buChar char="○"/>
            </a:pPr>
            <a:r>
              <a:rPr lang="en"/>
              <a:t>Accept the first outcome that meets or exceeds our baseline</a:t>
            </a:r>
            <a:endParaRPr/>
          </a:p>
          <a:p>
            <a:pPr indent="-317500" lvl="1" marL="914400" rtl="0" algn="l">
              <a:spcBef>
                <a:spcPts val="0"/>
              </a:spcBef>
              <a:spcAft>
                <a:spcPts val="0"/>
              </a:spcAft>
              <a:buSzPts val="1400"/>
              <a:buChar char="○"/>
            </a:pPr>
            <a:r>
              <a:rPr lang="en"/>
              <a:t>We may or may not adjust the baseline afterwards</a:t>
            </a:r>
            <a:endParaRPr/>
          </a:p>
          <a:p>
            <a:pPr indent="-342900" lvl="0" marL="457200" rtl="0" algn="l">
              <a:spcBef>
                <a:spcPts val="0"/>
              </a:spcBef>
              <a:spcAft>
                <a:spcPts val="0"/>
              </a:spcAft>
              <a:buSzPts val="1800"/>
              <a:buChar char="●"/>
            </a:pPr>
            <a:r>
              <a:rPr lang="en"/>
              <a:t>Ex: S++</a:t>
            </a:r>
            <a:endParaRPr/>
          </a:p>
        </p:txBody>
      </p:sp>
      <p:pic>
        <p:nvPicPr>
          <p:cNvPr id="181" name="Google Shape;181;p31"/>
          <p:cNvPicPr preferRelativeResize="0"/>
          <p:nvPr/>
        </p:nvPicPr>
        <p:blipFill>
          <a:blip r:embed="rId3">
            <a:alphaModFix/>
          </a:blip>
          <a:stretch>
            <a:fillRect/>
          </a:stretch>
        </p:blipFill>
        <p:spPr>
          <a:xfrm>
            <a:off x="6230375" y="2264075"/>
            <a:ext cx="2663150" cy="26957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0">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Example</a:t>
            </a:r>
            <a:endParaRPr/>
          </a:p>
        </p:txBody>
      </p:sp>
      <p:sp>
        <p:nvSpPr>
          <p:cNvPr id="187" name="Google Shape;187;p32"/>
          <p:cNvSpPr/>
          <p:nvPr/>
        </p:nvSpPr>
        <p:spPr>
          <a:xfrm>
            <a:off x="4344900" y="1220350"/>
            <a:ext cx="454200" cy="420600"/>
          </a:xfrm>
          <a:prstGeom prst="ellipse">
            <a:avLst/>
          </a:prstGeom>
          <a:solidFill>
            <a:srgbClr val="0097A7"/>
          </a:solidFill>
          <a:ln cap="flat" cmpd="sng" w="9525">
            <a:solidFill>
              <a:srgbClr val="0097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97A7"/>
              </a:solidFill>
            </a:endParaRPr>
          </a:p>
        </p:txBody>
      </p:sp>
      <p:sp>
        <p:nvSpPr>
          <p:cNvPr id="188" name="Google Shape;188;p32"/>
          <p:cNvSpPr/>
          <p:nvPr/>
        </p:nvSpPr>
        <p:spPr>
          <a:xfrm>
            <a:off x="2690900" y="2060800"/>
            <a:ext cx="454200" cy="420600"/>
          </a:xfrm>
          <a:prstGeom prst="ellipse">
            <a:avLst/>
          </a:prstGeom>
          <a:solidFill>
            <a:srgbClr val="EEFF41"/>
          </a:solidFill>
          <a:ln cap="flat" cmpd="sng" w="9525">
            <a:solidFill>
              <a:srgbClr val="EEFF4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32"/>
          <p:cNvSpPr/>
          <p:nvPr/>
        </p:nvSpPr>
        <p:spPr>
          <a:xfrm>
            <a:off x="5892075" y="2060800"/>
            <a:ext cx="454200" cy="420600"/>
          </a:xfrm>
          <a:prstGeom prst="ellipse">
            <a:avLst/>
          </a:prstGeom>
          <a:solidFill>
            <a:srgbClr val="EEFF41"/>
          </a:solidFill>
          <a:ln cap="flat" cmpd="sng" w="9525">
            <a:solidFill>
              <a:srgbClr val="EEFF4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32"/>
          <p:cNvSpPr/>
          <p:nvPr/>
        </p:nvSpPr>
        <p:spPr>
          <a:xfrm>
            <a:off x="1872125" y="2986850"/>
            <a:ext cx="454200" cy="420600"/>
          </a:xfrm>
          <a:prstGeom prst="ellipse">
            <a:avLst/>
          </a:prstGeom>
          <a:solidFill>
            <a:srgbClr val="0097A7"/>
          </a:solidFill>
          <a:ln cap="flat" cmpd="sng" w="9525">
            <a:solidFill>
              <a:srgbClr val="0097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32"/>
          <p:cNvSpPr/>
          <p:nvPr/>
        </p:nvSpPr>
        <p:spPr>
          <a:xfrm>
            <a:off x="3501775" y="2986850"/>
            <a:ext cx="454200" cy="420600"/>
          </a:xfrm>
          <a:prstGeom prst="ellipse">
            <a:avLst/>
          </a:prstGeom>
          <a:solidFill>
            <a:srgbClr val="0097A7"/>
          </a:solidFill>
          <a:ln cap="flat" cmpd="sng" w="9525">
            <a:solidFill>
              <a:srgbClr val="0097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32"/>
          <p:cNvSpPr/>
          <p:nvPr/>
        </p:nvSpPr>
        <p:spPr>
          <a:xfrm>
            <a:off x="5134525" y="2986850"/>
            <a:ext cx="454200" cy="420600"/>
          </a:xfrm>
          <a:prstGeom prst="ellipse">
            <a:avLst/>
          </a:prstGeom>
          <a:solidFill>
            <a:srgbClr val="0097A7"/>
          </a:solidFill>
          <a:ln cap="flat" cmpd="sng" w="9525">
            <a:solidFill>
              <a:srgbClr val="0097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 name="Google Shape;193;p32"/>
          <p:cNvSpPr/>
          <p:nvPr/>
        </p:nvSpPr>
        <p:spPr>
          <a:xfrm>
            <a:off x="6732400" y="2986850"/>
            <a:ext cx="454200" cy="420600"/>
          </a:xfrm>
          <a:prstGeom prst="ellipse">
            <a:avLst/>
          </a:prstGeom>
          <a:solidFill>
            <a:srgbClr val="0097A7"/>
          </a:solidFill>
          <a:ln cap="flat" cmpd="sng" w="9525">
            <a:solidFill>
              <a:srgbClr val="0097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32"/>
          <p:cNvSpPr/>
          <p:nvPr/>
        </p:nvSpPr>
        <p:spPr>
          <a:xfrm>
            <a:off x="1417925" y="4002550"/>
            <a:ext cx="454200" cy="420600"/>
          </a:xfrm>
          <a:prstGeom prst="ellipse">
            <a:avLst/>
          </a:prstGeom>
          <a:solidFill>
            <a:srgbClr val="EEFF41"/>
          </a:solidFill>
          <a:ln cap="flat" cmpd="sng" w="9525">
            <a:solidFill>
              <a:srgbClr val="EEFF4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32"/>
          <p:cNvSpPr/>
          <p:nvPr/>
        </p:nvSpPr>
        <p:spPr>
          <a:xfrm>
            <a:off x="2326325" y="4002550"/>
            <a:ext cx="454200" cy="420600"/>
          </a:xfrm>
          <a:prstGeom prst="ellipse">
            <a:avLst/>
          </a:prstGeom>
          <a:solidFill>
            <a:srgbClr val="EEFF41"/>
          </a:solidFill>
          <a:ln cap="flat" cmpd="sng" w="9525">
            <a:solidFill>
              <a:srgbClr val="EEFF4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32"/>
          <p:cNvSpPr/>
          <p:nvPr/>
        </p:nvSpPr>
        <p:spPr>
          <a:xfrm>
            <a:off x="3047575" y="4002550"/>
            <a:ext cx="454200" cy="420600"/>
          </a:xfrm>
          <a:prstGeom prst="ellipse">
            <a:avLst/>
          </a:prstGeom>
          <a:solidFill>
            <a:srgbClr val="EEFF41"/>
          </a:solidFill>
          <a:ln cap="flat" cmpd="sng" w="9525">
            <a:solidFill>
              <a:srgbClr val="EEFF4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32"/>
          <p:cNvSpPr/>
          <p:nvPr/>
        </p:nvSpPr>
        <p:spPr>
          <a:xfrm>
            <a:off x="3955975" y="4002550"/>
            <a:ext cx="454200" cy="420600"/>
          </a:xfrm>
          <a:prstGeom prst="ellipse">
            <a:avLst/>
          </a:prstGeom>
          <a:solidFill>
            <a:srgbClr val="EEFF41"/>
          </a:solidFill>
          <a:ln cap="flat" cmpd="sng" w="9525">
            <a:solidFill>
              <a:srgbClr val="EEFF4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8" name="Google Shape;198;p32"/>
          <p:cNvSpPr/>
          <p:nvPr/>
        </p:nvSpPr>
        <p:spPr>
          <a:xfrm>
            <a:off x="5588725" y="4002550"/>
            <a:ext cx="454200" cy="420600"/>
          </a:xfrm>
          <a:prstGeom prst="ellipse">
            <a:avLst/>
          </a:prstGeom>
          <a:solidFill>
            <a:srgbClr val="EEFF41"/>
          </a:solidFill>
          <a:ln cap="flat" cmpd="sng" w="9525">
            <a:solidFill>
              <a:srgbClr val="EEFF4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32"/>
          <p:cNvSpPr/>
          <p:nvPr/>
        </p:nvSpPr>
        <p:spPr>
          <a:xfrm>
            <a:off x="6278200" y="4002550"/>
            <a:ext cx="454200" cy="420600"/>
          </a:xfrm>
          <a:prstGeom prst="ellipse">
            <a:avLst/>
          </a:prstGeom>
          <a:solidFill>
            <a:srgbClr val="EEFF41"/>
          </a:solidFill>
          <a:ln cap="flat" cmpd="sng" w="9525">
            <a:solidFill>
              <a:srgbClr val="EEFF4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 name="Google Shape;200;p32"/>
          <p:cNvSpPr/>
          <p:nvPr/>
        </p:nvSpPr>
        <p:spPr>
          <a:xfrm>
            <a:off x="7186600" y="4002550"/>
            <a:ext cx="454200" cy="420600"/>
          </a:xfrm>
          <a:prstGeom prst="ellipse">
            <a:avLst/>
          </a:prstGeom>
          <a:solidFill>
            <a:srgbClr val="EEFF41"/>
          </a:solidFill>
          <a:ln cap="flat" cmpd="sng" w="9525">
            <a:solidFill>
              <a:srgbClr val="EEFF4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1" name="Google Shape;201;p32"/>
          <p:cNvSpPr/>
          <p:nvPr/>
        </p:nvSpPr>
        <p:spPr>
          <a:xfrm>
            <a:off x="4689225" y="4002550"/>
            <a:ext cx="454200" cy="420600"/>
          </a:xfrm>
          <a:prstGeom prst="ellipse">
            <a:avLst/>
          </a:prstGeom>
          <a:solidFill>
            <a:srgbClr val="EEFF41"/>
          </a:solidFill>
          <a:ln cap="flat" cmpd="sng" w="9525">
            <a:solidFill>
              <a:srgbClr val="EEFF4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02" name="Google Shape;202;p32"/>
          <p:cNvCxnSpPr>
            <a:endCxn id="187" idx="3"/>
          </p:cNvCxnSpPr>
          <p:nvPr/>
        </p:nvCxnSpPr>
        <p:spPr>
          <a:xfrm flipH="1" rot="10800000">
            <a:off x="3075216" y="1579355"/>
            <a:ext cx="1336200" cy="530400"/>
          </a:xfrm>
          <a:prstGeom prst="straightConnector1">
            <a:avLst/>
          </a:prstGeom>
          <a:noFill/>
          <a:ln cap="flat" cmpd="sng" w="9525">
            <a:solidFill>
              <a:srgbClr val="0097A7"/>
            </a:solidFill>
            <a:prstDash val="solid"/>
            <a:round/>
            <a:headEnd len="med" w="med" type="none"/>
            <a:tailEnd len="med" w="med" type="none"/>
          </a:ln>
        </p:spPr>
      </p:cxnSp>
      <p:cxnSp>
        <p:nvCxnSpPr>
          <p:cNvPr id="203" name="Google Shape;203;p32"/>
          <p:cNvCxnSpPr>
            <a:stCxn id="187" idx="5"/>
            <a:endCxn id="189" idx="1"/>
          </p:cNvCxnSpPr>
          <p:nvPr/>
        </p:nvCxnSpPr>
        <p:spPr>
          <a:xfrm>
            <a:off x="4732584" y="1579355"/>
            <a:ext cx="1226100" cy="543000"/>
          </a:xfrm>
          <a:prstGeom prst="straightConnector1">
            <a:avLst/>
          </a:prstGeom>
          <a:noFill/>
          <a:ln cap="flat" cmpd="sng" w="9525">
            <a:solidFill>
              <a:srgbClr val="0097A7"/>
            </a:solidFill>
            <a:prstDash val="solid"/>
            <a:round/>
            <a:headEnd len="med" w="med" type="none"/>
            <a:tailEnd len="med" w="med" type="none"/>
          </a:ln>
        </p:spPr>
      </p:cxnSp>
      <p:cxnSp>
        <p:nvCxnSpPr>
          <p:cNvPr id="204" name="Google Shape;204;p32"/>
          <p:cNvCxnSpPr>
            <a:stCxn id="194" idx="0"/>
            <a:endCxn id="190" idx="3"/>
          </p:cNvCxnSpPr>
          <p:nvPr/>
        </p:nvCxnSpPr>
        <p:spPr>
          <a:xfrm flipH="1" rot="10800000">
            <a:off x="1645025" y="3345850"/>
            <a:ext cx="293700" cy="656700"/>
          </a:xfrm>
          <a:prstGeom prst="straightConnector1">
            <a:avLst/>
          </a:prstGeom>
          <a:noFill/>
          <a:ln cap="flat" cmpd="sng" w="9525">
            <a:solidFill>
              <a:srgbClr val="0097A7"/>
            </a:solidFill>
            <a:prstDash val="solid"/>
            <a:round/>
            <a:headEnd len="med" w="med" type="none"/>
            <a:tailEnd len="med" w="med" type="none"/>
          </a:ln>
        </p:spPr>
      </p:cxnSp>
      <p:cxnSp>
        <p:nvCxnSpPr>
          <p:cNvPr id="205" name="Google Shape;205;p32"/>
          <p:cNvCxnSpPr>
            <a:stCxn id="195" idx="0"/>
            <a:endCxn id="190" idx="5"/>
          </p:cNvCxnSpPr>
          <p:nvPr/>
        </p:nvCxnSpPr>
        <p:spPr>
          <a:xfrm rot="10800000">
            <a:off x="2259725" y="3345850"/>
            <a:ext cx="293700" cy="656700"/>
          </a:xfrm>
          <a:prstGeom prst="straightConnector1">
            <a:avLst/>
          </a:prstGeom>
          <a:noFill/>
          <a:ln cap="flat" cmpd="sng" w="9525">
            <a:solidFill>
              <a:srgbClr val="0097A7"/>
            </a:solidFill>
            <a:prstDash val="solid"/>
            <a:round/>
            <a:headEnd len="med" w="med" type="none"/>
            <a:tailEnd len="med" w="med" type="none"/>
          </a:ln>
        </p:spPr>
      </p:cxnSp>
      <p:cxnSp>
        <p:nvCxnSpPr>
          <p:cNvPr id="206" name="Google Shape;206;p32"/>
          <p:cNvCxnSpPr>
            <a:stCxn id="196" idx="0"/>
            <a:endCxn id="191" idx="3"/>
          </p:cNvCxnSpPr>
          <p:nvPr/>
        </p:nvCxnSpPr>
        <p:spPr>
          <a:xfrm flipH="1" rot="10800000">
            <a:off x="3274675" y="3345850"/>
            <a:ext cx="293700" cy="656700"/>
          </a:xfrm>
          <a:prstGeom prst="straightConnector1">
            <a:avLst/>
          </a:prstGeom>
          <a:noFill/>
          <a:ln cap="flat" cmpd="sng" w="9525">
            <a:solidFill>
              <a:srgbClr val="0097A7"/>
            </a:solidFill>
            <a:prstDash val="solid"/>
            <a:round/>
            <a:headEnd len="med" w="med" type="none"/>
            <a:tailEnd len="med" w="med" type="none"/>
          </a:ln>
        </p:spPr>
      </p:cxnSp>
      <p:cxnSp>
        <p:nvCxnSpPr>
          <p:cNvPr id="207" name="Google Shape;207;p32"/>
          <p:cNvCxnSpPr>
            <a:stCxn id="197" idx="0"/>
            <a:endCxn id="191" idx="5"/>
          </p:cNvCxnSpPr>
          <p:nvPr/>
        </p:nvCxnSpPr>
        <p:spPr>
          <a:xfrm rot="10800000">
            <a:off x="3889375" y="3345850"/>
            <a:ext cx="293700" cy="656700"/>
          </a:xfrm>
          <a:prstGeom prst="straightConnector1">
            <a:avLst/>
          </a:prstGeom>
          <a:noFill/>
          <a:ln cap="flat" cmpd="sng" w="9525">
            <a:solidFill>
              <a:srgbClr val="0097A7"/>
            </a:solidFill>
            <a:prstDash val="solid"/>
            <a:round/>
            <a:headEnd len="med" w="med" type="none"/>
            <a:tailEnd len="med" w="med" type="none"/>
          </a:ln>
        </p:spPr>
      </p:cxnSp>
      <p:cxnSp>
        <p:nvCxnSpPr>
          <p:cNvPr id="208" name="Google Shape;208;p32"/>
          <p:cNvCxnSpPr>
            <a:stCxn id="201" idx="0"/>
            <a:endCxn id="192" idx="3"/>
          </p:cNvCxnSpPr>
          <p:nvPr/>
        </p:nvCxnSpPr>
        <p:spPr>
          <a:xfrm flipH="1" rot="10800000">
            <a:off x="4916325" y="3345850"/>
            <a:ext cx="284700" cy="656700"/>
          </a:xfrm>
          <a:prstGeom prst="straightConnector1">
            <a:avLst/>
          </a:prstGeom>
          <a:noFill/>
          <a:ln cap="flat" cmpd="sng" w="9525">
            <a:solidFill>
              <a:srgbClr val="0097A7"/>
            </a:solidFill>
            <a:prstDash val="solid"/>
            <a:round/>
            <a:headEnd len="med" w="med" type="none"/>
            <a:tailEnd len="med" w="med" type="none"/>
          </a:ln>
        </p:spPr>
      </p:cxnSp>
      <p:cxnSp>
        <p:nvCxnSpPr>
          <p:cNvPr id="209" name="Google Shape;209;p32"/>
          <p:cNvCxnSpPr>
            <a:stCxn id="198" idx="0"/>
            <a:endCxn id="192" idx="5"/>
          </p:cNvCxnSpPr>
          <p:nvPr/>
        </p:nvCxnSpPr>
        <p:spPr>
          <a:xfrm rot="10800000">
            <a:off x="5522125" y="3345850"/>
            <a:ext cx="293700" cy="656700"/>
          </a:xfrm>
          <a:prstGeom prst="straightConnector1">
            <a:avLst/>
          </a:prstGeom>
          <a:noFill/>
          <a:ln cap="flat" cmpd="sng" w="9525">
            <a:solidFill>
              <a:srgbClr val="0097A7"/>
            </a:solidFill>
            <a:prstDash val="solid"/>
            <a:round/>
            <a:headEnd len="med" w="med" type="none"/>
            <a:tailEnd len="med" w="med" type="none"/>
          </a:ln>
        </p:spPr>
      </p:cxnSp>
      <p:cxnSp>
        <p:nvCxnSpPr>
          <p:cNvPr id="210" name="Google Shape;210;p32"/>
          <p:cNvCxnSpPr>
            <a:stCxn id="199" idx="0"/>
            <a:endCxn id="193" idx="3"/>
          </p:cNvCxnSpPr>
          <p:nvPr/>
        </p:nvCxnSpPr>
        <p:spPr>
          <a:xfrm flipH="1" rot="10800000">
            <a:off x="6505300" y="3345850"/>
            <a:ext cx="293700" cy="656700"/>
          </a:xfrm>
          <a:prstGeom prst="straightConnector1">
            <a:avLst/>
          </a:prstGeom>
          <a:noFill/>
          <a:ln cap="flat" cmpd="sng" w="9525">
            <a:solidFill>
              <a:srgbClr val="0097A7"/>
            </a:solidFill>
            <a:prstDash val="solid"/>
            <a:round/>
            <a:headEnd len="med" w="med" type="none"/>
            <a:tailEnd len="med" w="med" type="none"/>
          </a:ln>
        </p:spPr>
      </p:cxnSp>
      <p:cxnSp>
        <p:nvCxnSpPr>
          <p:cNvPr id="211" name="Google Shape;211;p32"/>
          <p:cNvCxnSpPr>
            <a:stCxn id="200" idx="0"/>
            <a:endCxn id="193" idx="5"/>
          </p:cNvCxnSpPr>
          <p:nvPr/>
        </p:nvCxnSpPr>
        <p:spPr>
          <a:xfrm rot="10800000">
            <a:off x="7120000" y="3345850"/>
            <a:ext cx="293700" cy="656700"/>
          </a:xfrm>
          <a:prstGeom prst="straightConnector1">
            <a:avLst/>
          </a:prstGeom>
          <a:noFill/>
          <a:ln cap="flat" cmpd="sng" w="9525">
            <a:solidFill>
              <a:srgbClr val="0097A7"/>
            </a:solidFill>
            <a:prstDash val="solid"/>
            <a:round/>
            <a:headEnd len="med" w="med" type="none"/>
            <a:tailEnd len="med" w="med" type="none"/>
          </a:ln>
        </p:spPr>
      </p:cxnSp>
      <p:cxnSp>
        <p:nvCxnSpPr>
          <p:cNvPr id="212" name="Google Shape;212;p32"/>
          <p:cNvCxnSpPr>
            <a:stCxn id="190" idx="0"/>
            <a:endCxn id="188" idx="3"/>
          </p:cNvCxnSpPr>
          <p:nvPr/>
        </p:nvCxnSpPr>
        <p:spPr>
          <a:xfrm flipH="1" rot="10800000">
            <a:off x="2099225" y="2419850"/>
            <a:ext cx="658200" cy="567000"/>
          </a:xfrm>
          <a:prstGeom prst="straightConnector1">
            <a:avLst/>
          </a:prstGeom>
          <a:noFill/>
          <a:ln cap="flat" cmpd="sng" w="9525">
            <a:solidFill>
              <a:srgbClr val="EEFF41"/>
            </a:solidFill>
            <a:prstDash val="solid"/>
            <a:round/>
            <a:headEnd len="med" w="med" type="none"/>
            <a:tailEnd len="med" w="med" type="none"/>
          </a:ln>
        </p:spPr>
      </p:cxnSp>
      <p:cxnSp>
        <p:nvCxnSpPr>
          <p:cNvPr id="213" name="Google Shape;213;p32"/>
          <p:cNvCxnSpPr>
            <a:stCxn id="191" idx="0"/>
            <a:endCxn id="188" idx="5"/>
          </p:cNvCxnSpPr>
          <p:nvPr/>
        </p:nvCxnSpPr>
        <p:spPr>
          <a:xfrm rot="10800000">
            <a:off x="3078475" y="2419850"/>
            <a:ext cx="650400" cy="567000"/>
          </a:xfrm>
          <a:prstGeom prst="straightConnector1">
            <a:avLst/>
          </a:prstGeom>
          <a:noFill/>
          <a:ln cap="flat" cmpd="sng" w="9525">
            <a:solidFill>
              <a:srgbClr val="EEFF41"/>
            </a:solidFill>
            <a:prstDash val="solid"/>
            <a:round/>
            <a:headEnd len="med" w="med" type="none"/>
            <a:tailEnd len="med" w="med" type="none"/>
          </a:ln>
        </p:spPr>
      </p:cxnSp>
      <p:cxnSp>
        <p:nvCxnSpPr>
          <p:cNvPr id="214" name="Google Shape;214;p32"/>
          <p:cNvCxnSpPr>
            <a:stCxn id="192" idx="0"/>
            <a:endCxn id="189" idx="3"/>
          </p:cNvCxnSpPr>
          <p:nvPr/>
        </p:nvCxnSpPr>
        <p:spPr>
          <a:xfrm flipH="1" rot="10800000">
            <a:off x="5361625" y="2419850"/>
            <a:ext cx="597000" cy="567000"/>
          </a:xfrm>
          <a:prstGeom prst="straightConnector1">
            <a:avLst/>
          </a:prstGeom>
          <a:noFill/>
          <a:ln cap="flat" cmpd="sng" w="9525">
            <a:solidFill>
              <a:srgbClr val="EEFF41"/>
            </a:solidFill>
            <a:prstDash val="solid"/>
            <a:round/>
            <a:headEnd len="med" w="med" type="none"/>
            <a:tailEnd len="med" w="med" type="none"/>
          </a:ln>
        </p:spPr>
      </p:cxnSp>
      <p:cxnSp>
        <p:nvCxnSpPr>
          <p:cNvPr id="215" name="Google Shape;215;p32"/>
          <p:cNvCxnSpPr>
            <a:stCxn id="193" idx="0"/>
            <a:endCxn id="189" idx="5"/>
          </p:cNvCxnSpPr>
          <p:nvPr/>
        </p:nvCxnSpPr>
        <p:spPr>
          <a:xfrm rot="10800000">
            <a:off x="6279700" y="2419850"/>
            <a:ext cx="679800" cy="567000"/>
          </a:xfrm>
          <a:prstGeom prst="straightConnector1">
            <a:avLst/>
          </a:prstGeom>
          <a:noFill/>
          <a:ln cap="flat" cmpd="sng" w="9525">
            <a:solidFill>
              <a:srgbClr val="EEFF41"/>
            </a:solidFill>
            <a:prstDash val="solid"/>
            <a:round/>
            <a:headEnd len="med" w="med" type="none"/>
            <a:tailEnd len="med" w="med" type="none"/>
          </a:ln>
        </p:spPr>
      </p:cxnSp>
      <p:sp>
        <p:nvSpPr>
          <p:cNvPr id="216" name="Google Shape;216;p32"/>
          <p:cNvSpPr txBox="1"/>
          <p:nvPr/>
        </p:nvSpPr>
        <p:spPr>
          <a:xfrm>
            <a:off x="6732400" y="1012150"/>
            <a:ext cx="1832700" cy="837000"/>
          </a:xfrm>
          <a:prstGeom prst="rect">
            <a:avLst/>
          </a:prstGeom>
          <a:noFill/>
          <a:ln>
            <a:noFill/>
          </a:ln>
        </p:spPr>
        <p:txBody>
          <a:bodyPr anchorCtr="0" anchor="t" bIns="91425" lIns="91425" spcFirstLastPara="1" rIns="91425" wrap="square" tIns="91425">
            <a:normAutofit fontScale="70000"/>
          </a:bodyPr>
          <a:lstStyle/>
          <a:p>
            <a:pPr indent="0" lvl="0" marL="0" rtl="0" algn="l">
              <a:lnSpc>
                <a:spcPct val="115000"/>
              </a:lnSpc>
              <a:spcBef>
                <a:spcPts val="0"/>
              </a:spcBef>
              <a:spcAft>
                <a:spcPts val="0"/>
              </a:spcAft>
              <a:buNone/>
            </a:pPr>
            <a:r>
              <a:rPr lang="en" sz="1800">
                <a:solidFill>
                  <a:srgbClr val="595959"/>
                </a:solidFill>
              </a:rPr>
              <a:t>Player 1: blue (max)</a:t>
            </a:r>
            <a:endParaRPr sz="1800">
              <a:solidFill>
                <a:srgbClr val="595959"/>
              </a:solidFill>
            </a:endParaRPr>
          </a:p>
          <a:p>
            <a:pPr indent="0" lvl="0" marL="0" rtl="0" algn="l">
              <a:lnSpc>
                <a:spcPct val="115000"/>
              </a:lnSpc>
              <a:spcBef>
                <a:spcPts val="1200"/>
              </a:spcBef>
              <a:spcAft>
                <a:spcPts val="1200"/>
              </a:spcAft>
              <a:buNone/>
            </a:pPr>
            <a:r>
              <a:rPr lang="en" sz="1800">
                <a:solidFill>
                  <a:srgbClr val="595959"/>
                </a:solidFill>
              </a:rPr>
              <a:t>Player 2: yellow (min)</a:t>
            </a:r>
            <a:endParaRPr sz="1800">
              <a:solidFill>
                <a:srgbClr val="595959"/>
              </a:solidFill>
            </a:endParaRPr>
          </a:p>
        </p:txBody>
      </p:sp>
      <p:sp>
        <p:nvSpPr>
          <p:cNvPr id="217" name="Google Shape;217;p32"/>
          <p:cNvSpPr txBox="1"/>
          <p:nvPr/>
        </p:nvSpPr>
        <p:spPr>
          <a:xfrm>
            <a:off x="1405925" y="4002550"/>
            <a:ext cx="45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t>-1</a:t>
            </a:r>
            <a:endParaRPr sz="1800"/>
          </a:p>
        </p:txBody>
      </p:sp>
      <p:sp>
        <p:nvSpPr>
          <p:cNvPr id="218" name="Google Shape;218;p32"/>
          <p:cNvSpPr txBox="1"/>
          <p:nvPr/>
        </p:nvSpPr>
        <p:spPr>
          <a:xfrm>
            <a:off x="2323225" y="4002550"/>
            <a:ext cx="45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t> 3</a:t>
            </a:r>
            <a:endParaRPr sz="1800"/>
          </a:p>
        </p:txBody>
      </p:sp>
      <p:sp>
        <p:nvSpPr>
          <p:cNvPr id="219" name="Google Shape;219;p32"/>
          <p:cNvSpPr txBox="1"/>
          <p:nvPr/>
        </p:nvSpPr>
        <p:spPr>
          <a:xfrm>
            <a:off x="3053575" y="4002550"/>
            <a:ext cx="45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t> 5</a:t>
            </a:r>
            <a:endParaRPr sz="1800"/>
          </a:p>
        </p:txBody>
      </p:sp>
      <p:sp>
        <p:nvSpPr>
          <p:cNvPr id="220" name="Google Shape;220;p32"/>
          <p:cNvSpPr txBox="1"/>
          <p:nvPr/>
        </p:nvSpPr>
        <p:spPr>
          <a:xfrm>
            <a:off x="3957525" y="4002550"/>
            <a:ext cx="45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t> 1</a:t>
            </a:r>
            <a:endParaRPr sz="1800"/>
          </a:p>
        </p:txBody>
      </p:sp>
      <p:sp>
        <p:nvSpPr>
          <p:cNvPr id="221" name="Google Shape;221;p32"/>
          <p:cNvSpPr txBox="1"/>
          <p:nvPr/>
        </p:nvSpPr>
        <p:spPr>
          <a:xfrm>
            <a:off x="4625500" y="4002550"/>
            <a:ext cx="45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t> -6</a:t>
            </a:r>
            <a:endParaRPr sz="1800"/>
          </a:p>
        </p:txBody>
      </p:sp>
      <p:sp>
        <p:nvSpPr>
          <p:cNvPr id="222" name="Google Shape;222;p32"/>
          <p:cNvSpPr txBox="1"/>
          <p:nvPr/>
        </p:nvSpPr>
        <p:spPr>
          <a:xfrm>
            <a:off x="7194775" y="4002550"/>
            <a:ext cx="45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t> 9</a:t>
            </a:r>
            <a:endParaRPr sz="1800"/>
          </a:p>
        </p:txBody>
      </p:sp>
      <p:sp>
        <p:nvSpPr>
          <p:cNvPr id="223" name="Google Shape;223;p32"/>
          <p:cNvSpPr txBox="1"/>
          <p:nvPr/>
        </p:nvSpPr>
        <p:spPr>
          <a:xfrm>
            <a:off x="5512513" y="4002550"/>
            <a:ext cx="45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t> -4</a:t>
            </a:r>
            <a:endParaRPr sz="1800"/>
          </a:p>
        </p:txBody>
      </p:sp>
      <p:sp>
        <p:nvSpPr>
          <p:cNvPr id="224" name="Google Shape;224;p32"/>
          <p:cNvSpPr txBox="1"/>
          <p:nvPr/>
        </p:nvSpPr>
        <p:spPr>
          <a:xfrm>
            <a:off x="6278188" y="4002550"/>
            <a:ext cx="454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t> 0</a:t>
            </a:r>
            <a:endParaRPr sz="1800"/>
          </a:p>
        </p:txBody>
      </p:sp>
      <p:sp>
        <p:nvSpPr>
          <p:cNvPr id="225" name="Google Shape;225;p32"/>
          <p:cNvSpPr txBox="1"/>
          <p:nvPr/>
        </p:nvSpPr>
        <p:spPr>
          <a:xfrm>
            <a:off x="123775" y="1210888"/>
            <a:ext cx="31509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Imagine we’re Player 1, and we would be satisfied with a utility of 2</a:t>
            </a:r>
            <a:endParaRPr sz="1800">
              <a:solidFill>
                <a:schemeClr val="dk2"/>
              </a:solidFill>
            </a:endParaRPr>
          </a:p>
        </p:txBody>
      </p:sp>
      <p:sp>
        <p:nvSpPr>
          <p:cNvPr id="226" name="Google Shape;226;p32"/>
          <p:cNvSpPr txBox="1"/>
          <p:nvPr/>
        </p:nvSpPr>
        <p:spPr>
          <a:xfrm>
            <a:off x="82925" y="3124550"/>
            <a:ext cx="15501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As soon as we find this outcome in our tree search, we can stop</a:t>
            </a:r>
            <a:endParaRPr sz="1800">
              <a:solidFill>
                <a:schemeClr val="dk2"/>
              </a:solidFill>
            </a:endParaRPr>
          </a:p>
        </p:txBody>
      </p:sp>
      <p:cxnSp>
        <p:nvCxnSpPr>
          <p:cNvPr id="227" name="Google Shape;227;p32"/>
          <p:cNvCxnSpPr>
            <a:endCxn id="218" idx="1"/>
          </p:cNvCxnSpPr>
          <p:nvPr/>
        </p:nvCxnSpPr>
        <p:spPr>
          <a:xfrm flipH="1" rot="10800000">
            <a:off x="1344625" y="4233400"/>
            <a:ext cx="978600" cy="424200"/>
          </a:xfrm>
          <a:prstGeom prst="straightConnector1">
            <a:avLst/>
          </a:prstGeom>
          <a:noFill/>
          <a:ln cap="flat" cmpd="sng" w="9525">
            <a:solidFill>
              <a:schemeClr val="accent4"/>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Multiple Variables</a:t>
            </a:r>
            <a:endParaRPr/>
          </a:p>
        </p:txBody>
      </p:sp>
      <p:sp>
        <p:nvSpPr>
          <p:cNvPr id="233" name="Google Shape;233;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 realistic domains, there are usually multiple variables/factors we should take into consideration when calculating/estimating utility</a:t>
            </a:r>
            <a:endParaRPr/>
          </a:p>
          <a:p>
            <a:pPr indent="-317500" lvl="1" marL="914400" rtl="0" algn="l">
              <a:spcBef>
                <a:spcPts val="0"/>
              </a:spcBef>
              <a:spcAft>
                <a:spcPts val="0"/>
              </a:spcAft>
              <a:buSzPts val="1400"/>
              <a:buChar char="○"/>
            </a:pPr>
            <a:r>
              <a:rPr lang="en"/>
              <a:t>Ex: Making a list of pros and cons when making a decision</a:t>
            </a:r>
            <a:endParaRPr/>
          </a:p>
          <a:p>
            <a:pPr indent="-342900" lvl="0" marL="457200" rtl="0" algn="l">
              <a:spcBef>
                <a:spcPts val="0"/>
              </a:spcBef>
              <a:spcAft>
                <a:spcPts val="0"/>
              </a:spcAft>
              <a:buSzPts val="1800"/>
              <a:buChar char="●"/>
            </a:pPr>
            <a:r>
              <a:rPr lang="en"/>
              <a:t>If we have a utility function for each </a:t>
            </a:r>
            <a:r>
              <a:rPr lang="en"/>
              <a:t>variable</a:t>
            </a:r>
            <a:r>
              <a:rPr lang="en"/>
              <a:t>, then we can do the following:</a:t>
            </a:r>
            <a:endParaRPr/>
          </a:p>
        </p:txBody>
      </p:sp>
      <p:pic>
        <p:nvPicPr>
          <p:cNvPr id="234" name="Google Shape;234;p33"/>
          <p:cNvPicPr preferRelativeResize="0"/>
          <p:nvPr/>
        </p:nvPicPr>
        <p:blipFill>
          <a:blip r:embed="rId3">
            <a:alphaModFix/>
          </a:blip>
          <a:stretch>
            <a:fillRect/>
          </a:stretch>
        </p:blipFill>
        <p:spPr>
          <a:xfrm>
            <a:off x="1126150" y="2930325"/>
            <a:ext cx="6891675" cy="1079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Multiple Variables</a:t>
            </a:r>
            <a:endParaRPr/>
          </a:p>
        </p:txBody>
      </p:sp>
      <p:sp>
        <p:nvSpPr>
          <p:cNvPr id="240" name="Google Shape;240;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Each f is a utility function for an individual variable</a:t>
            </a:r>
            <a:endParaRPr/>
          </a:p>
          <a:p>
            <a:pPr indent="-342900" lvl="0" marL="457200" rtl="0" algn="l">
              <a:spcBef>
                <a:spcPts val="0"/>
              </a:spcBef>
              <a:spcAft>
                <a:spcPts val="0"/>
              </a:spcAft>
              <a:buSzPts val="1800"/>
              <a:buChar char="●"/>
            </a:pPr>
            <a:r>
              <a:rPr lang="en"/>
              <a:t>F is a function that combines all of the utilities</a:t>
            </a:r>
            <a:endParaRPr/>
          </a:p>
          <a:p>
            <a:pPr indent="-317500" lvl="1" marL="914400" rtl="0" algn="l">
              <a:spcBef>
                <a:spcPts val="0"/>
              </a:spcBef>
              <a:spcAft>
                <a:spcPts val="0"/>
              </a:spcAft>
              <a:buSzPts val="1400"/>
              <a:buChar char="○"/>
            </a:pPr>
            <a:r>
              <a:rPr lang="en"/>
              <a:t>We hope that F is simple, such as addition</a:t>
            </a:r>
            <a:endParaRPr/>
          </a:p>
          <a:p>
            <a:pPr indent="-317500" lvl="2" marL="1371600" rtl="0" algn="l">
              <a:spcBef>
                <a:spcPts val="0"/>
              </a:spcBef>
              <a:spcAft>
                <a:spcPts val="0"/>
              </a:spcAft>
              <a:buSzPts val="1400"/>
              <a:buChar char="■"/>
            </a:pPr>
            <a:r>
              <a:rPr lang="en"/>
              <a:t>However, it depends on how the variables relate to each other (dependent or independent)</a:t>
            </a:r>
            <a:endParaRPr/>
          </a:p>
        </p:txBody>
      </p:sp>
      <p:pic>
        <p:nvPicPr>
          <p:cNvPr id="241" name="Google Shape;241;p34"/>
          <p:cNvPicPr preferRelativeResize="0"/>
          <p:nvPr/>
        </p:nvPicPr>
        <p:blipFill>
          <a:blip r:embed="rId3">
            <a:alphaModFix/>
          </a:blip>
          <a:stretch>
            <a:fillRect/>
          </a:stretch>
        </p:blipFill>
        <p:spPr>
          <a:xfrm>
            <a:off x="1126150" y="2930325"/>
            <a:ext cx="6891675" cy="1079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Homework</a:t>
            </a:r>
            <a:endParaRPr/>
          </a:p>
        </p:txBody>
      </p:sp>
      <p:sp>
        <p:nvSpPr>
          <p:cNvPr id="247" name="Google Shape;247;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Finish the midterm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Time</a:t>
            </a:r>
            <a:endParaRPr/>
          </a:p>
        </p:txBody>
      </p:sp>
      <p:sp>
        <p:nvSpPr>
          <p:cNvPr id="253" name="Google Shape;253;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Introduce mini project (COVID policy making)</a:t>
            </a:r>
            <a:endParaRPr/>
          </a:p>
          <a:p>
            <a:pPr indent="-342900" lvl="0" marL="457200" rtl="0" algn="l">
              <a:spcBef>
                <a:spcPts val="0"/>
              </a:spcBef>
              <a:spcAft>
                <a:spcPts val="0"/>
              </a:spcAft>
              <a:buSzPts val="1800"/>
              <a:buChar char="●"/>
            </a:pPr>
            <a:r>
              <a:rPr lang="en"/>
              <a:t>Ethical decision making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