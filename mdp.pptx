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4d97c7a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4d97c7a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4e8990cb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4e8990cb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64e8990cb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64e8990cb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64e8990cb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64e8990cb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4e8990cb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4e8990cb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64e8990cb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64e8990cb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4e8990cb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4e8990cb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4e8990cb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64e8990cb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4e8990cb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4e8990cb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4e8990cb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64e8990cb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4e8990cb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64e8990cb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64e8990cb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64e8990cb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4e8990cb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4e8990cb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4e8990cb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4e8990cb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4e8990cbe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64e8990cb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4e8990cb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64e8990cb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4e8990cb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64e8990cb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4e8990cbe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64e8990cbe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4e8990cbe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64e8990cbe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4e8990cbe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64e8990cbe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64e8990cbe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64e8990cb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64e8990cbe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64e8990cb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64e8990cb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64e8990cb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64e8990cbe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64e8990cbe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64e8990cbe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64e8990cb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64e8990cbe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64e8990cb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Markov </a:t>
            </a:r>
            <a:r>
              <a:rPr lang="en"/>
              <a:t>Decision</a:t>
            </a:r>
            <a:r>
              <a:rPr lang="en"/>
              <a:t> Processes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 rental company rents cars at two different locations, A and 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day, people rent cars from either location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no cars are left at one of the locations, that location can’t conduct business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Cars can be returned to either location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business hours, the company can: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Move cars from A to 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Move cars from B to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question: if there are x cars at location A and y cars at location B, how many cars should we move?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750" y="3677400"/>
            <a:ext cx="1645650" cy="137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8026" y="3677400"/>
            <a:ext cx="1462270" cy="13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plan ahead for the next day of business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element (number of rentals and returns)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might have estimates for the number of rentals and returns (based on historical data, </a:t>
            </a:r>
            <a:r>
              <a:rPr lang="en"/>
              <a:t>business knowledge, etc.)</a:t>
            </a:r>
            <a:r>
              <a:rPr lang="en"/>
              <a:t>, but there’s still at least a small stochastic element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decision today can impact what happens the next 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maximize profit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summary, we’re dealing with a stochastic and sequential domain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this sound familiar?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Bayes Filter lab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750" y="3677400"/>
            <a:ext cx="1645650" cy="137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8026" y="3677400"/>
            <a:ext cx="1462270" cy="13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</a:t>
            </a:r>
            <a:r>
              <a:rPr lang="en"/>
              <a:t>Markov Process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Stochastic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Iterate through states over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Uncertainty when transitioning from one state to the next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we have a set of states that differ over time, and the future only depends on the current state (not the previous states)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does “the future only depends on the current state” sound like?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Markov assumption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650" y="3127948"/>
            <a:ext cx="4529301" cy="181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Markov Decision Process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Markov process, but with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other words, at each state we “decide” what action to take in order to reach/achieve some goal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Markov assumption still holds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way, this is what you were doing in the Bayes Filter lab: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the current state the robot was in, you chose an action to move it towards the terminal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“MDP” is a very common acronym 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6575" y="3082699"/>
            <a:ext cx="2910225" cy="197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Markov Decision Process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6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Stochastic sequential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main components: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of states 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of actions for each state s in 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A(s)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Transition model P(s’ | s, 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Probability of reaching state s’ after performing action a in state 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Does this look familiar?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Bayes Filter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Reward function for specifying the reward for each state s in 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R(s)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MDP = </a:t>
            </a:r>
            <a:r>
              <a:rPr lang="en"/>
              <a:t>(S, A, R, P)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Notation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Depending on the resource you read, the notation might differ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Ex: R(s, s’) instead of just R(s)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Ex: MDP = (S, s_0, A, R, P) (the tuple includes initial state)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initial state actually doesn’t really matter, but it can be nice to think about/visualize the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Despite differences in the notation, they mean the same thing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438" y="1114925"/>
            <a:ext cx="4883122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99500" y="1622650"/>
            <a:ext cx="19518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Actions move in the intended direction with probability 0.8, 0.1 to each of the sides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750" y="1121525"/>
            <a:ext cx="471449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2365200" y="278825"/>
            <a:ext cx="636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numbers are arbitrary (as the designers, we can have a say in what the numbers are)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7144200" y="1668600"/>
            <a:ext cx="188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Goal, so we give it a “large” positive number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7144200" y="3270475"/>
            <a:ext cx="188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Danger</a:t>
            </a:r>
            <a:r>
              <a:rPr lang="en" sz="1800">
                <a:solidFill>
                  <a:schemeClr val="dk2"/>
                </a:solidFill>
              </a:rPr>
              <a:t>, so we give it a “large” negative number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129600" y="1968300"/>
            <a:ext cx="2000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“Small” negative numbers to motivate the agent to get to the goal as quickly as possible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5" name="Google Shape;115;p21"/>
          <p:cNvCxnSpPr/>
          <p:nvPr/>
        </p:nvCxnSpPr>
        <p:spPr>
          <a:xfrm flipH="1" rot="10800000">
            <a:off x="2138400" y="2106000"/>
            <a:ext cx="631800" cy="907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21"/>
          <p:cNvCxnSpPr>
            <a:stCxn id="114" idx="3"/>
          </p:cNvCxnSpPr>
          <p:nvPr/>
        </p:nvCxnSpPr>
        <p:spPr>
          <a:xfrm flipH="1" rot="10800000">
            <a:off x="2130300" y="3029400"/>
            <a:ext cx="558900" cy="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21"/>
          <p:cNvCxnSpPr>
            <a:stCxn id="114" idx="3"/>
          </p:cNvCxnSpPr>
          <p:nvPr/>
        </p:nvCxnSpPr>
        <p:spPr>
          <a:xfrm flipH="1" rot="10800000">
            <a:off x="2130300" y="2106000"/>
            <a:ext cx="1782000" cy="924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21"/>
          <p:cNvCxnSpPr>
            <a:stCxn id="114" idx="3"/>
          </p:cNvCxnSpPr>
          <p:nvPr/>
        </p:nvCxnSpPr>
        <p:spPr>
          <a:xfrm>
            <a:off x="2130300" y="3030300"/>
            <a:ext cx="1741500" cy="963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21"/>
          <p:cNvCxnSpPr>
            <a:stCxn id="114" idx="3"/>
          </p:cNvCxnSpPr>
          <p:nvPr/>
        </p:nvCxnSpPr>
        <p:spPr>
          <a:xfrm>
            <a:off x="2130300" y="3030300"/>
            <a:ext cx="2648700" cy="971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1"/>
          <p:cNvCxnSpPr>
            <a:stCxn id="114" idx="3"/>
          </p:cNvCxnSpPr>
          <p:nvPr/>
        </p:nvCxnSpPr>
        <p:spPr>
          <a:xfrm>
            <a:off x="2130300" y="3030300"/>
            <a:ext cx="3790800" cy="954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21"/>
          <p:cNvCxnSpPr>
            <a:stCxn id="114" idx="3"/>
          </p:cNvCxnSpPr>
          <p:nvPr/>
        </p:nvCxnSpPr>
        <p:spPr>
          <a:xfrm>
            <a:off x="2130300" y="3030300"/>
            <a:ext cx="2648700" cy="7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21"/>
          <p:cNvCxnSpPr>
            <a:stCxn id="114" idx="3"/>
          </p:cNvCxnSpPr>
          <p:nvPr/>
        </p:nvCxnSpPr>
        <p:spPr>
          <a:xfrm flipH="1" rot="10800000">
            <a:off x="2130300" y="2073600"/>
            <a:ext cx="2794500" cy="956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21"/>
          <p:cNvCxnSpPr>
            <a:stCxn id="112" idx="1"/>
          </p:cNvCxnSpPr>
          <p:nvPr/>
        </p:nvCxnSpPr>
        <p:spPr>
          <a:xfrm rot="10800000">
            <a:off x="6552900" y="1944000"/>
            <a:ext cx="591300" cy="232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21"/>
          <p:cNvCxnSpPr>
            <a:stCxn id="113" idx="1"/>
          </p:cNvCxnSpPr>
          <p:nvPr/>
        </p:nvCxnSpPr>
        <p:spPr>
          <a:xfrm rot="10800000">
            <a:off x="6407100" y="3312775"/>
            <a:ext cx="737100" cy="465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Solve an MDP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17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does a </a:t>
            </a:r>
            <a:r>
              <a:rPr lang="en"/>
              <a:t>solution to an MDP problem look like?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Fixed action sequence?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No, because there is randomness (we could potentially end up in any state)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Answer: we need to specify what the agent should do in any reachable state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call this solution a policy, though it’s sometimes referred to as a strategy</a:t>
            </a:r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 rotWithShape="1">
          <a:blip r:embed="rId3">
            <a:alphaModFix/>
          </a:blip>
          <a:srcRect b="13857" l="3719" r="6449" t="28328"/>
          <a:stretch/>
        </p:blipFill>
        <p:spPr>
          <a:xfrm>
            <a:off x="4943175" y="4353200"/>
            <a:ext cx="39528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8275" y="2640100"/>
            <a:ext cx="1981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 rotWithShape="1">
          <a:blip r:embed="rId5">
            <a:alphaModFix/>
          </a:blip>
          <a:srcRect b="8207" l="6331" r="0" t="14649"/>
          <a:stretch/>
        </p:blipFill>
        <p:spPr>
          <a:xfrm>
            <a:off x="1438275" y="3358575"/>
            <a:ext cx="8030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2342150" y="3423188"/>
            <a:ext cx="383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Action that the policy tells us to take in state 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6975" y="1108900"/>
            <a:ext cx="4850041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875" y="1124200"/>
            <a:ext cx="4852243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Policies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think we can agree that the previous two policies we saw were not very good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But, what makes a “good” policy?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Hint: Maximum Expected Utility (MEU)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 (we’ll cover approaches more in the next two lectures):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each policy we’re evaluating: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Start in the initial state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Execute the policy several times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Transitions are </a:t>
            </a:r>
            <a:r>
              <a:rPr lang="en"/>
              <a:t>random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So, this gives us a distribution over state sequences induced by the policy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state sequence has an associated utility (ex: sum of rewards from each state)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state sequence has a probability of occuring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Use the rewards and probabilities of the state sequences to calculate the expected utility of the policy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the MEU principle to choose the policy with the largest expected utility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simplicity, assume the utility of any intermediate state is 0</a:t>
            </a:r>
            <a:endParaRPr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8500" y="2170650"/>
            <a:ext cx="4847025" cy="26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utility of this sequence?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</a:t>
            </a:r>
            <a:endParaRPr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8500" y="2170650"/>
            <a:ext cx="4847025" cy="26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probability of this sequence </a:t>
            </a:r>
            <a:r>
              <a:rPr lang="en"/>
              <a:t>occurring</a:t>
            </a:r>
            <a:r>
              <a:rPr lang="en"/>
              <a:t>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0.1 * 0.8 * 0.1 * 0.8 * 0.8 * 0.8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= 0.004096</a:t>
            </a:r>
            <a:endParaRPr/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8500" y="2170650"/>
            <a:ext cx="4847025" cy="26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utility of this sequence?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913" y="2161050"/>
            <a:ext cx="4804174" cy="26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probability of this sequence occurring?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0.8 * 0.8 * 0.1 * 0.1 * 0.8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= 0.00512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913" y="2161050"/>
            <a:ext cx="4804174" cy="26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utility of this sequence?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-1</a:t>
            </a:r>
            <a:endParaRPr/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600" y="2192100"/>
            <a:ext cx="4748799" cy="257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the probability of this sequence occurring?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0.1 * 0.1 * 0.8 * 0.8 * 0.1 * 0.8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= 0.000512</a:t>
            </a:r>
            <a:endParaRPr/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600" y="2192100"/>
            <a:ext cx="4748799" cy="257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Policy</a:t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policy with the largest expected utility is called the optimal policy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Notation:</a:t>
            </a:r>
            <a:endParaRPr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950" y="2019400"/>
            <a:ext cx="445535" cy="5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State Sequences</a:t>
            </a:r>
            <a:endParaRPr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determine the utility of a state sequence?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main approaches: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already mentioned this 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Discount future rewards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Probably the most common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Financial aspect (time value of money)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reward per time step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as common, and we won’t cover it</a:t>
            </a:r>
            <a:endParaRPr/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7825" y="2820433"/>
            <a:ext cx="3367324" cy="1748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 </a:t>
            </a:r>
            <a:endParaRPr/>
          </a:p>
        </p:txBody>
      </p:sp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simply add up all of the utilities received from each state</a:t>
            </a:r>
            <a:endParaRPr/>
          </a:p>
        </p:txBody>
      </p:sp>
      <p:pic>
        <p:nvPicPr>
          <p:cNvPr id="222" name="Google Shape;2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900" y="1770425"/>
            <a:ext cx="541020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311700" y="3241350"/>
            <a:ext cx="8520600" cy="19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there any issues with this?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we’re dealing with an infinite sequence of states?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sums of multiple policies will approach infinity, making it difficult/impossible to compare them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Discounted Rewards</a:t>
            </a:r>
            <a:endParaRPr/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idea: instead of just adding the rewards from each state, we discount the rewards first and then add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other words, the sum of discounted rewards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Financial aspect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Time value of money (x amount of money now is worth more than x amount of money in the future)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Perpetuities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Receive payments over an infinite horizon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further into the future a payment occurs, the more its present value approaches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common because it is more realistic and it allows us to deal with infinite sequences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Discounted Rewards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discount factor gamma between 0 and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smaller it is, the less value we get from future rewards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Often something like 0.99 is used</a:t>
            </a:r>
            <a:endParaRPr/>
          </a:p>
        </p:txBody>
      </p:sp>
      <p:pic>
        <p:nvPicPr>
          <p:cNvPr id="236" name="Google Shape;23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25" y="2388900"/>
            <a:ext cx="56959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7"/>
          <p:cNvPicPr preferRelativeResize="0"/>
          <p:nvPr/>
        </p:nvPicPr>
        <p:blipFill rotWithShape="1">
          <a:blip r:embed="rId4">
            <a:alphaModFix/>
          </a:blip>
          <a:srcRect b="0" l="4148" r="5271" t="0"/>
          <a:stretch/>
        </p:blipFill>
        <p:spPr>
          <a:xfrm>
            <a:off x="4063000" y="3803475"/>
            <a:ext cx="10180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COVID mini project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 iteration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Skim the value iteration section of the Wikipedia article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