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8fc5f5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8fc5f5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8fc5f545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8fc5f545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8fc5f54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8fc5f54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8fc5f54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8fc5f54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8fc5f54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8fc5f54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8fc5f545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8fc5f545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68fc5f545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68fc5f545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8fc5f54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8fc5f54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8fc5f545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8fc5f545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8fc5f545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8fc5f545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8fc5f545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8fc5f54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98d5c9a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98d5c9a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98d5c9ae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98d5c9ae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98d5c9ae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98d5c9ae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98d5c9ae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98d5c9ae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98d5c9ae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98d5c9ae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8fc5f545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8fc5f545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8fc5f545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8fc5f545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8fc5f545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68fc5f545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8fc5f545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8fc5f545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8fc5f545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8fc5f545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8fc5f545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8fc5f545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91df02a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91df02a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8fc5f545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8fc5f545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91df02a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691df02a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91df02a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691df02a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91df02ad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91df02a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8fc5f545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8fc5f545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a0b8c4b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ba0b8c4b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a0b8c4b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a0b8c4b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68fc5f545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68fc5f545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a0b8c4b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a0b8c4b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972ec89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6972ec89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68fc5f545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68fc5f545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972ec89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6972ec89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972ec89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972ec89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8fc5f545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68fc5f545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68fc5f545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68fc5f545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698d5c9a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698d5c9a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8fc5f545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68fc5f545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698d5c9a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698d5c9a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68fc5f545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68fc5f545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98d5c9a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698d5c9a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698d5c9ae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698d5c9a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98d5c9a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698d5c9a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68fc5f545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68fc5f54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698d5c9ae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698d5c9ae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698d5c9ae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698d5c9ae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accurate predictions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learn by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training data that we </a:t>
            </a:r>
            <a:r>
              <a:rPr lang="en"/>
              <a:t>repeatedly</a:t>
            </a:r>
            <a:r>
              <a:rPr lang="en"/>
              <a:t> feed to our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data point, we have a “label”: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we would like our model to output for a particular data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During each training iteration, the model </a:t>
            </a:r>
            <a:r>
              <a:rPr lang="en"/>
              <a:t>outputs what it thinks the labels should be for each data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 a loss function (we’ll discuss this later) to tell the model how far off it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model uses the loss to change its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see examples in a few slides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for Supervised Learning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your data into a train set and test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 set is used to train/teach the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use is used to determine how good the model is at generalizing (making predictions on data it has never seen before)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process is useful to prevent what we call “overfitting”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times, especially for neural networks, it’s good to further split the train set into a train set and validation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Validation set is used for early stopping: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After each training iteration, see how well the model performs on the validation set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 validation performance doesn’t improve after several iterations, we can stop the training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also helps prevent overfitting, while decreasing training time (which can be useful for very large neural networks or other models)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just talked about supervised learning; what do you think unsupervised learning is?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uncover hidden patterns or structure in our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still uses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there are no longer any labels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PCA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used to model the relationship between numerous independent variables (i.e. data features) and a dependant variable (what we’re trying to predict)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/>
              <a:t>independent</a:t>
            </a:r>
            <a:r>
              <a:rPr lang="en"/>
              <a:t> variables can be categorical or continuous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dependant variable is continuous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Height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Dollar amounts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used to model the relationship between numerous independent variables (i.e. data features) and a dependant variable (what we’re trying to predict)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independent variables can be categorical or continuous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dependant variable is categorical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status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Type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Functions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loss function quantifies the difference between a predicted value and the true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squared error (MSE)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</a:t>
            </a:r>
            <a:r>
              <a:rPr lang="en"/>
              <a:t>absolute</a:t>
            </a:r>
            <a:r>
              <a:rPr lang="en"/>
              <a:t> error (MAE)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Categorical cross entropy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56360" l="26306" r="8673" t="2325"/>
          <a:stretch/>
        </p:blipFill>
        <p:spPr>
          <a:xfrm>
            <a:off x="4163400" y="3069900"/>
            <a:ext cx="4002826" cy="11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and Variance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 different sources of error in a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Bias: measures the systematic error in predictions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oversimplifies the underlying data patterns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Underfits the training data: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Poor performance on both training data and test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Variance: measures how sensitive a model is to changes in the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too complex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high variance model tends to overfit the training data: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Performs well on the training data but poorly on test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bad because they lead to poor test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Tradeoff between bias and variance: if we increase model complexity then bias decreases while variance increases, and vice versa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 to find a sweet spot between the two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machine learning, the more data we have, the better (usually)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collect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Surveys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Mechanical Turk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Record data as people use products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Simulation/synthesis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features should we collect?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the 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lot of time we collect as much data as possible and then perform feature engineering: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 our existing data to craft features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split house prices into a categorical “expense” feature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Something like inexpensive, intermediate, expensive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Representation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lot of times we have categorical data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However, our models need to work with data on a mathematical/numerical level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So, how do we convert categorical data to numeric data?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One-hot encoding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Ex: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Let’s say I have a “color” feature with three possible values: red, green, blue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 would I represent a green value?</a:t>
            </a:r>
            <a:endParaRPr/>
          </a:p>
          <a:p>
            <a:pPr indent="-310832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[0, 1, 0]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Embeddings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 lot more effective, but harder to achieve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Very common with neural networks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 can have embedding layers that get trained as your entire network is trained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Ex: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word2vec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Representation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problem that we face: different data features have different numeric scales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“age” feature might have values between ~0 to ~100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the same time, an “income” feature might have values of ~40000 and larger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Since the values for the “income” feature are larger, our model might place a lot more weight/importance on that feature, even if that feature maybe isn’t the best indicator for what we’re trying to learn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combat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usually scale our data: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Min-max scaling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Scales data to be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Standard scaling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Scales data to a standard normal distribution (mean of 0, standard deviation of 1)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Principal component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might have several data features that we either don’t need (they aren’t useful for learning) or give us minimal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we have high-dimensional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of this, we would like to somehow reduce the dimensionality of our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Less data storage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Less computation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 visualization (if we reduce from 5 dimensions to 2 or 3, we can now visualize our data)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a smaller-dimension vector to project our data on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want to find a vector such that we preserve as much variance from our original data as possible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think of this as preserving as much information as possible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001" y="1185900"/>
            <a:ext cx="3507975" cy="350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239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Find a vector to project our data on to</a:t>
            </a:r>
            <a:r>
              <a:rPr lang="en"/>
              <a:t>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241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a projection looks like: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863" y="1152475"/>
            <a:ext cx="3572275" cy="35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turns out that the vector that maximizes variance is the principal </a:t>
            </a:r>
            <a:r>
              <a:rPr lang="en"/>
              <a:t>eigenvector of the covariance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Covariance matrix: square matrix that shows the covariance between each feature in the dataset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diagonals are the variances of each feature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Principal eigenvector: vector corresponding to the largest eigenvalue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won’t go through the math, but if you’re familiar with the covariance matrix and eigenvectors/eigenvalues then this will hopefully be fairly intuitive: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Eigenvectors don’t rotate, they just scale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want this to preserve our original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Covariance matrix is used for variance and covariance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Since we want to maximize the variance of our original data, we want the largest eigenvalue of the covariance matrix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form of unsupervised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We’ve already talked about strengths (less data storage, better computation and visualization,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Weaknesses: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Lose 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Ideally we lose as little as possible (retain as much variance as possible), but we’re still losing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linear relationships between features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relationships are not linear, PCA can lead to suboptimal performance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model is a 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find the line of best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and interpretable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175" y="1182600"/>
            <a:ext cx="5353651" cy="345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 rotWithShape="1">
          <a:blip r:embed="rId3">
            <a:alphaModFix/>
          </a:blip>
          <a:srcRect b="2068" l="971" r="931" t="3055"/>
          <a:stretch/>
        </p:blipFill>
        <p:spPr>
          <a:xfrm>
            <a:off x="2818925" y="1274700"/>
            <a:ext cx="3506150" cy="8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2"/>
          <p:cNvPicPr preferRelativeResize="0"/>
          <p:nvPr/>
        </p:nvPicPr>
        <p:blipFill rotWithShape="1">
          <a:blip r:embed="rId4">
            <a:alphaModFix/>
          </a:blip>
          <a:srcRect b="5198" l="758" r="738" t="9579"/>
          <a:stretch/>
        </p:blipFill>
        <p:spPr>
          <a:xfrm>
            <a:off x="218250" y="2524975"/>
            <a:ext cx="8707501" cy="7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our data isn’t linear, we can try to introduce non-linearity: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50" y="1979825"/>
            <a:ext cx="8714699" cy="9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for binary classification (0 or 1, true or false,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approach as linear regression: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log to transform the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 linear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Fits a logistic curve </a:t>
            </a:r>
            <a:r>
              <a:rPr lang="en"/>
              <a:t>instead of a line and outputs an approximation of the probability of the output given the input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K-nearest neighbors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local information near the current data point to make a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for regression or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Store all (or at least an informative subset) of the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predicting on a new data point, measure the distance from the data point to every other point in the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k-nearest neighbors vote on what the predicted value should be: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classification, use a majority vote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regression, use the average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either, you can weight by distance (i.e. neighbors that are very close to the data point have more weight to what they think)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sp>
        <p:nvSpPr>
          <p:cNvPr id="198" name="Google Shape;19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Very simple, but it can still represent very complex decision surfaces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Very easy to implement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Great for interpretation (i.e. why did the model predict what it did?)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Fast learning (don’t really need to train/tune anything, just need to store the training data)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Doesn’t require a loss function, so it doesn’t make any assumptions about the underlying data distribution (“non-parametric”)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 is a tunable parameter (i.e. how many nearest neighbors should we use in our predictions?)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However, storage can be an issue and execution can be slow if the training set is large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There are ways to combat this (use a subset of training data, use indices on the data set, etc.), but it still can be a problem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Inspiration from the human brain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~100 billion neurons that are connected to each other in different ways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Signals are passed </a:t>
            </a:r>
            <a:r>
              <a:rPr lang="en"/>
              <a:t>from neuron to neuron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basic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layers of neurons: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Input layer (where we pass our input data)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Output layer (prediction)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have what are called “hidden layers”, which are simply layers of neurons between the input and output layers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650" y="1287025"/>
            <a:ext cx="5888701" cy="3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Deep learning is the use of several hidden layers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So, the network looks “deep”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You can this of this as increasing model complexity, which allows us to handle very complex problems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After</a:t>
            </a:r>
            <a:r>
              <a:rPr lang="en"/>
              <a:t> each layer, we usually pass data through “activation functions”; does anyone know what these are?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Functions that introduce non-linearity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If we didn’t have these, you could think of a neural network as a bunch of matrix multiplication, which make them linear models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However, many problems are non-linear in nature, so activation functions are very important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fact, if a neural network uses non-linearity, it is a universal function approximator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 other words, it can estimate any function, no matter how complex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There are other factors that can improve performance, such as the number of hidden layers, the amount of training data, hyperparameters, etc., but non-linearity is a hard requirement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sp>
        <p:nvSpPr>
          <p:cNvPr id="222" name="Google Shape;22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 in numerous problems, especially very complex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hungry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the problem, but usually we need a lot of training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require a lot of time and/or computational power to train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vector machine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for classification (most </a:t>
            </a:r>
            <a:r>
              <a:rPr lang="en"/>
              <a:t>common</a:t>
            </a:r>
            <a:r>
              <a:rPr lang="en"/>
              <a:t>) and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find the hyperplane with largest margin that separates our 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48" y="1248650"/>
            <a:ext cx="6278525" cy="32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 to overfitting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 on small to medium-sized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Computationally expensive, so not very useful on big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best on binary classification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still be used for multi-class classification or regression, but not as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been used a lot in finance (I’m guessing because finance has a lot of binary classification problems, i.e. buy or sell)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you think </a:t>
            </a:r>
            <a:r>
              <a:rPr lang="en"/>
              <a:t>clustering</a:t>
            </a:r>
            <a:r>
              <a:rPr lang="en"/>
              <a:t> means?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try to find natural groups (or “clusters”) within our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Unsupervised learning (we don’t have labels)</a:t>
            </a:r>
            <a:endParaRPr/>
          </a:p>
        </p:txBody>
      </p:sp>
      <p:pic>
        <p:nvPicPr>
          <p:cNvPr id="247" name="Google Shape;24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138" y="2385575"/>
            <a:ext cx="5427726" cy="22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</a:t>
            </a:r>
            <a:endParaRPr/>
          </a:p>
        </p:txBody>
      </p:sp>
      <p:sp>
        <p:nvSpPr>
          <p:cNvPr id="253" name="Google Shape;25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for clustering (unsupervised learning)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Steps: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Choose k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Choose a number of iterations to run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each iteration: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Randomly select k distinct data points - these are the initial clusters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Initialize the average value for each cluster (they will just be the values of the k distinct points)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While the average value for each cluster changes: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each data point:</a:t>
            </a:r>
            <a:endParaRPr/>
          </a:p>
          <a:p>
            <a:pPr indent="-310832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Measure the distance to each </a:t>
            </a:r>
            <a:r>
              <a:rPr lang="en"/>
              <a:t>cluster mean</a:t>
            </a:r>
            <a:endParaRPr/>
          </a:p>
          <a:p>
            <a:pPr indent="-310832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Assign the point to the nearest cluster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Re-calculate the average value of each cluster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Calculate the variation within each cluster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Update the best clustering </a:t>
            </a:r>
            <a:endParaRPr/>
          </a:p>
          <a:p>
            <a:pPr indent="-310832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is the clustering with the smallest variance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Return the final clustering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</a:t>
            </a:r>
            <a:endParaRPr/>
          </a:p>
        </p:txBody>
      </p:sp>
      <p:sp>
        <p:nvSpPr>
          <p:cNvPr id="259" name="Google Shape;25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Guaranteed to converge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it can converge to a local optimum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to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choose a value for 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Though, there are some methods one can use to automatically find the best value of 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Basically just add an extra outer loop that tries different values of 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Trees</a:t>
            </a:r>
            <a:endParaRPr/>
          </a:p>
        </p:txBody>
      </p:sp>
      <p:sp>
        <p:nvSpPr>
          <p:cNvPr id="265" name="Google Shape;26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tree where nodes represent features and branches represent partitions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information gain</a:t>
            </a:r>
            <a:endParaRPr/>
          </a:p>
        </p:txBody>
      </p:sp>
      <p:pic>
        <p:nvPicPr>
          <p:cNvPr id="266" name="Google Shape;2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650" y="2321175"/>
            <a:ext cx="3956699" cy="24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Trees</a:t>
            </a:r>
            <a:endParaRPr/>
          </a:p>
        </p:txBody>
      </p:sp>
      <p:pic>
        <p:nvPicPr>
          <p:cNvPr id="272" name="Google Shape;2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975" y="1240125"/>
            <a:ext cx="5914052" cy="33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Trees</a:t>
            </a:r>
            <a:endParaRPr/>
          </a:p>
        </p:txBody>
      </p:sp>
      <p:sp>
        <p:nvSpPr>
          <p:cNvPr id="278" name="Google Shape;27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KNN, decision trees are non-parametric (</a:t>
            </a:r>
            <a:r>
              <a:rPr lang="en"/>
              <a:t>don’t make any assumptions about the underlying data distribution)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Additionally, since decision trees look at data on a feature-by-feature basis, they don’t require any data preprocessing (converting categorical data to numeric data and normalizing numeric data)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importances (i.e. which nodes are towards the top of the tree)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 and scalable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they are more prone to overfitting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Additionally, they are greedy (might not result in a global optimum)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Models</a:t>
            </a:r>
            <a:endParaRPr/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Hopefully you have noticed that there are strengths and weaknesses for each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no individual model is perfect, maybe we could combine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Ensemble models take multiple individual models and combine their output to create a single final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forest, XGBoost, and other ensemble tree models combine multiple decision trees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effective and popular, especially XGBoost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ways to combine models, but one common way is just to have the individual models vote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popular ensemble methods are boosting and bagging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290" name="Google Shape;29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way to combine several models (ensemble)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“Boosting” = we gradually boost performance of individual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the number of trained models is less than the number of models we would like to have: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Train a new model on the dataset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track of data points where predictions were incorrect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the dataset, give more weight to the incorrect data 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new data point, aggregate the predictions from every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classification, we use a majority vote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regression, we use an average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both cases, we weight model predictions by how accurate they were during training (so the later models usually receive a larger weight)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Builds models sequentially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pic>
        <p:nvPicPr>
          <p:cNvPr id="296" name="Google Shape;29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150" y="1093750"/>
            <a:ext cx="6391700" cy="358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  <p:sp>
        <p:nvSpPr>
          <p:cNvPr id="302" name="Google Shape;30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way to combine several models (ensemble)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“Bagging” = “bootstrap” + “aggregation”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model: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dataset via bootstrapping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Sample with replacement from original dataset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Train the model on the bootstrap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new data point, aggregate the predictions from every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classification, we use a majority vote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regression, we use an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Builds models in parallel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train faster than boosting, but usually not as accurate as boosting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  <p:pic>
        <p:nvPicPr>
          <p:cNvPr id="308" name="Google Shape;30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000" y="1199725"/>
            <a:ext cx="5734000" cy="33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314" name="Google Shape;31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Optimization algorithms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used when we want to find optimal combinations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Estimate </a:t>
            </a:r>
            <a:r>
              <a:rPr lang="en"/>
              <a:t>optimal</a:t>
            </a:r>
            <a:r>
              <a:rPr lang="en"/>
              <a:t> choices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useful when we want to optimize over something but we can’t really do it with traditional methods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Complex search space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Non-linear relationships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lot of possible combinations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single genome represents one particular combination of values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320" name="Google Shape;320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Basic implementation: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Identify the different variables we would like to combine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Create an array of possible values for each variable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Identify how large each population of genomes should be (N)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Create an initial population of N genomes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In the initial population, each genome just uses a random combination of values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a specified number of iterations: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Create a new empty population (population that will be used in the next iteration)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Calculate the performance (usually just utility) of each genome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the top-two genomes to the new population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For the remaining genomes:</a:t>
            </a:r>
            <a:endParaRPr/>
          </a:p>
          <a:p>
            <a:pPr indent="-304164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Randomly select two parents</a:t>
            </a:r>
            <a:endParaRPr/>
          </a:p>
          <a:p>
            <a:pPr indent="-304164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two new genomes that use the parent’s features, but where the features are randomly swapped</a:t>
            </a:r>
            <a:endParaRPr/>
          </a:p>
          <a:p>
            <a:pPr indent="-304164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Randomly mutate (change) some of the features for the two children</a:t>
            </a:r>
            <a:endParaRPr/>
          </a:p>
          <a:p>
            <a:pPr indent="-304164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the two children to the new population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 the best genome in the population as the combination of values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pic>
        <p:nvPicPr>
          <p:cNvPr id="326" name="Google Shape;3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6299" y="1236225"/>
            <a:ext cx="4951401" cy="327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332" name="Google Shape;33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Knapsack problem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thief is stealing items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Thief has a bag (knapsack) that can hold a maximum weight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item has: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value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weight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Which items should the thief steal?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other words, we’re trying to find the best combination of items that fit in the bag and maximize value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exist algorithms to solve this, but in general it’s an NP-hard problem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can use a genetic algorithm to quickly solve for this and find a good estimate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best combination of hyperparameters for a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Free Lunch</a:t>
            </a:r>
            <a:endParaRPr/>
          </a:p>
        </p:txBody>
      </p:sp>
      <p:sp>
        <p:nvSpPr>
          <p:cNvPr id="338" name="Google Shape;33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model has strengths and weaknesses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Free Lunch Theorem: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Proven theorem that says: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single model will outperform every other model on every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 lot of “it depends” answers to questions in the field of AI, because there are numerous specific details that can affect how certain models/approaches perform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44" name="Google Shape;34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iteration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Due tonight by 11:59 pm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350" name="Google Shape;35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Searching algorithms (deterministic search and optimization search)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picture discussion: AI bias in socially-relevant challenges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Spend some time reading about this topic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prepared with a thought to share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