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14CF4B-3591-4E81-99CE-FBBB250E3DBE}">
  <a:tblStyle styleId="{1814CF4B-3591-4E81-99CE-FBBB250E3D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3f5728c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3f5728c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3f5728ce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3f5728c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63f5728ce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63f5728ce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63f5728ce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63f5728ce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63f5728ce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63f5728ce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63f5728ce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63f5728ce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63f5728ce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63f5728ce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63f5728ce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63f5728ce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3f5728ce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3f5728ce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3f5728ce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3f5728ce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3f5728ce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3f5728ce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63f5728ce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63f5728ce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3f5728ce6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3f5728ce6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63f5728ce6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63f5728ce6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63f5728ce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63f5728ce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f5728ce6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f5728ce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63f5728ce6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63f5728ce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a7639c28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a7639c28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63f5728ce6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63f5728ce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a7639c283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a7639c283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a7639c283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a7639c283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7639c283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7639c283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a7639c283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a7639c283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a7639c283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a7639c283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a7639c283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a7639c283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a7639c283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a7639c283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a77861f09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a77861f09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a77861f0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a77861f0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a77861f09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a77861f09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a77861f09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a77861f09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a77861f09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a77861f09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a77861f09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a77861f09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a77861f09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a77861f09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a77861f09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a77861f09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a77861f09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a77861f09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a77861f09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a77861f09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a77861f09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a77861f09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a77861f09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a77861f09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a77861f092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a77861f09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a77861f09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a77861f09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a77861f09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a77861f09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a77861f09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a77861f09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a77861f09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a77861f09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a77861f09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a77861f09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a77861f09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a77861f09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a77861f09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a77861f09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a77861f092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a77861f092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a77861f092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a77861f09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a77861f09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a77861f09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a77861f09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a77861f09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a77861f09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a77861f09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a77861f09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a77861f09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a77861f092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a77861f092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a77861f092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a77861f092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a77861f092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a77861f092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63f5728ce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63f5728ce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63f5728ce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63f5728ce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34.png"/><Relationship Id="rId6" Type="http://schemas.openxmlformats.org/officeDocument/2006/relationships/image" Target="../media/image2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3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 Networks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conditional probability, we know that P(A, B) = P(A | B) * P(B)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P(A | B) = P(A, B) / P(B)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Multiply both sides by P(B)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we extend this to know that P(A, B, C) is?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P(A | B, C) = P(A, B, C) / P(B, 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Multiply both sides by P(B, 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P(A, B, C) = P(A | B, C) * P(B, 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what is P(B, C)?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P(B, C) = P(B | C) * P(C)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P(A, B, C) = </a:t>
            </a:r>
            <a:r>
              <a:rPr lang="en"/>
              <a:t>P(A | B, C) * P(B | C) * P(C)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 Rule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we just saw is what we call the chain rule for conditional probabilities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formally: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0" y="2317125"/>
            <a:ext cx="9047700" cy="16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for Bayesian Networks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variables help us model uncertainty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applications have several RVs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trying to model the joint distribution can get very complicated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Bayesian networks provide a condensed graphical representation of the joint distribution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 Network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Represents joint distribution over random variables we’re interested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conditional probabilities and the chain rule to accomplish this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acyclic graph (DAG)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Nodes: random 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edges: conditional dependence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Ex: if there is an edge from Y to X, that means that the random variable X depends on the random variable 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node has a conditional probability distribution that represent the probability distribution of the random variable given its parents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 Network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summary, a bayesian network is a graph that represents how random variables influence each other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2418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5943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4284450" y="25242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2418900" y="37264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cxnSp>
        <p:nvCxnSpPr>
          <p:cNvPr id="96" name="Google Shape;96;p19"/>
          <p:cNvCxnSpPr>
            <a:endCxn id="94" idx="1"/>
          </p:cNvCxnSpPr>
          <p:nvPr/>
        </p:nvCxnSpPr>
        <p:spPr>
          <a:xfrm>
            <a:off x="2891771" y="1781870"/>
            <a:ext cx="1476900" cy="826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9"/>
          <p:cNvCxnSpPr>
            <a:stCxn id="93" idx="3"/>
            <a:endCxn id="94" idx="7"/>
          </p:cNvCxnSpPr>
          <p:nvPr/>
        </p:nvCxnSpPr>
        <p:spPr>
          <a:xfrm flipH="1">
            <a:off x="4775321" y="1752430"/>
            <a:ext cx="1252800" cy="85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9"/>
          <p:cNvCxnSpPr>
            <a:stCxn id="94" idx="3"/>
            <a:endCxn id="95" idx="7"/>
          </p:cNvCxnSpPr>
          <p:nvPr/>
        </p:nvCxnSpPr>
        <p:spPr>
          <a:xfrm flipH="1">
            <a:off x="2909771" y="3013030"/>
            <a:ext cx="1458900" cy="79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9"/>
          <p:cNvCxnSpPr>
            <a:stCxn id="92" idx="4"/>
            <a:endCxn id="95" idx="0"/>
          </p:cNvCxnSpPr>
          <p:nvPr/>
        </p:nvCxnSpPr>
        <p:spPr>
          <a:xfrm>
            <a:off x="2706450" y="1836300"/>
            <a:ext cx="0" cy="1890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00" name="Google Shape;100;p19"/>
          <p:cNvGraphicFramePr/>
          <p:nvPr/>
        </p:nvGraphicFramePr>
        <p:xfrm>
          <a:off x="1381800" y="109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4441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1" name="Google Shape;101;p19"/>
          <p:cNvGraphicFramePr/>
          <p:nvPr/>
        </p:nvGraphicFramePr>
        <p:xfrm>
          <a:off x="6702000" y="109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4441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P(B)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2" name="Google Shape;102;p19"/>
          <p:cNvGraphicFramePr/>
          <p:nvPr/>
        </p:nvGraphicFramePr>
        <p:xfrm>
          <a:off x="5140200" y="252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1775"/>
                <a:gridCol w="457975"/>
                <a:gridCol w="843550"/>
              </a:tblGrid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P(A | B, 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3" name="Google Shape;103;p19"/>
          <p:cNvGraphicFramePr/>
          <p:nvPr/>
        </p:nvGraphicFramePr>
        <p:xfrm>
          <a:off x="526800" y="340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1775"/>
                <a:gridCol w="457975"/>
                <a:gridCol w="843550"/>
              </a:tblGrid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P(J | E, A)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Calculate Joint Distribution?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1725"/>
            <a:ext cx="8839202" cy="1620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How to Calculate Joint Distribution?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7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this relate to the chain rule?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1725"/>
            <a:ext cx="8839202" cy="162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0" y="3381775"/>
            <a:ext cx="9047700" cy="16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2418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5943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4284450" y="25242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2418900" y="37264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cxnSp>
        <p:nvCxnSpPr>
          <p:cNvPr id="127" name="Google Shape;127;p22"/>
          <p:cNvCxnSpPr>
            <a:endCxn id="125" idx="1"/>
          </p:cNvCxnSpPr>
          <p:nvPr/>
        </p:nvCxnSpPr>
        <p:spPr>
          <a:xfrm>
            <a:off x="2891771" y="1781870"/>
            <a:ext cx="1476900" cy="826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2"/>
          <p:cNvCxnSpPr>
            <a:stCxn id="124" idx="3"/>
            <a:endCxn id="125" idx="7"/>
          </p:cNvCxnSpPr>
          <p:nvPr/>
        </p:nvCxnSpPr>
        <p:spPr>
          <a:xfrm flipH="1">
            <a:off x="4775321" y="1752430"/>
            <a:ext cx="1252800" cy="85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2"/>
          <p:cNvCxnSpPr>
            <a:stCxn id="125" idx="3"/>
            <a:endCxn id="126" idx="7"/>
          </p:cNvCxnSpPr>
          <p:nvPr/>
        </p:nvCxnSpPr>
        <p:spPr>
          <a:xfrm flipH="1">
            <a:off x="2909771" y="3013030"/>
            <a:ext cx="1458900" cy="79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22"/>
          <p:cNvCxnSpPr>
            <a:stCxn id="123" idx="4"/>
            <a:endCxn id="126" idx="0"/>
          </p:cNvCxnSpPr>
          <p:nvPr/>
        </p:nvCxnSpPr>
        <p:spPr>
          <a:xfrm>
            <a:off x="2706450" y="1836300"/>
            <a:ext cx="0" cy="1890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31" name="Google Shape;131;p22"/>
          <p:cNvGraphicFramePr/>
          <p:nvPr/>
        </p:nvGraphicFramePr>
        <p:xfrm>
          <a:off x="1381800" y="109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4441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2" name="Google Shape;132;p22"/>
          <p:cNvGraphicFramePr/>
          <p:nvPr/>
        </p:nvGraphicFramePr>
        <p:xfrm>
          <a:off x="6702000" y="109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4441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P(B)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3" name="Google Shape;133;p22"/>
          <p:cNvGraphicFramePr/>
          <p:nvPr/>
        </p:nvGraphicFramePr>
        <p:xfrm>
          <a:off x="5140200" y="252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1775"/>
                <a:gridCol w="457975"/>
                <a:gridCol w="843550"/>
              </a:tblGrid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P(A | B, 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4" name="Google Shape;134;p22"/>
          <p:cNvGraphicFramePr/>
          <p:nvPr/>
        </p:nvGraphicFramePr>
        <p:xfrm>
          <a:off x="526800" y="340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1775"/>
                <a:gridCol w="457975"/>
                <a:gridCol w="843550"/>
              </a:tblGrid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P(J | E, A)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5" name="Google Shape;135;p22"/>
          <p:cNvSpPr txBox="1"/>
          <p:nvPr/>
        </p:nvSpPr>
        <p:spPr>
          <a:xfrm>
            <a:off x="3051450" y="971850"/>
            <a:ext cx="28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P(~E, ~B, ~A, J)?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152475"/>
            <a:ext cx="396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P(~E, ~B, ~A, J)?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pieces: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P(~E given its parents)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P(~B given its parents)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P(~A given its parents)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P(J given its parents)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000" y="3710675"/>
            <a:ext cx="4682400" cy="8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2600" y="785700"/>
            <a:ext cx="4495251" cy="2440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</a:t>
            </a:r>
            <a:r>
              <a:rPr lang="en"/>
              <a:t> piece: P(~E given its parents)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E’s parents?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None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P(~E given its parents)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= P(~E)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= 0.9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600" y="785700"/>
            <a:ext cx="4495251" cy="244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000" y="3710675"/>
            <a:ext cx="4682400" cy="8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 piece: </a:t>
            </a:r>
            <a:r>
              <a:rPr lang="en"/>
              <a:t>P(~B given its parents)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B’s parents?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None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P(~B given its parents)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= P(~B)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= 0.95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600" y="785700"/>
            <a:ext cx="4495251" cy="244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000" y="3710675"/>
            <a:ext cx="4682400" cy="8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1152475"/>
            <a:ext cx="429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Third</a:t>
            </a:r>
            <a:r>
              <a:rPr lang="en"/>
              <a:t> piece: P(~A given its parents)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A’s parents?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 and B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Specifically, we’re interested in  ~E and ~B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P(~A given its parents)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= P(~A | ~E, ~B)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= 1 - 0.01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= 0.99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600" y="785700"/>
            <a:ext cx="4495251" cy="244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000" y="3710675"/>
            <a:ext cx="4682400" cy="8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152475"/>
            <a:ext cx="429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Fourth</a:t>
            </a:r>
            <a:r>
              <a:rPr lang="en"/>
              <a:t> piece: P(J given its parents)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J’s parents?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 and A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Specifically, we’re interested in  ~E and ~A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P(J given its parents)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= P(J | ~E, ~A)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= 0.01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600" y="785700"/>
            <a:ext cx="4495251" cy="244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000" y="3710675"/>
            <a:ext cx="4682400" cy="8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311700" y="1152475"/>
            <a:ext cx="396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P(~E, ~B, ~A, J)?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= </a:t>
            </a:r>
            <a:r>
              <a:rPr lang="en"/>
              <a:t>P(~E given its parents) * P(~B given its parents) * P(~A given its parents) * P(J given its parents)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= 0.9 * 0.95 * 0.99 * 0.01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= 0.0084645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000" y="3710675"/>
            <a:ext cx="4682400" cy="8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2600" y="785700"/>
            <a:ext cx="4495251" cy="2440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Notice that we went in a particular order (E, B, J, 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Would the result be different if we went in a different order?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Ex: B, A, J, 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long as we use the equation and use the structure of the network to determine a node’s parents, the order doesn’t matter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also makes sense because P(E, B, J, A) = P(B, A, J, 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we only wanted the joint distribution of E, B, and A (i.e. P(E, B, A)); can we use the network to calculate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Yes, just follow the same process but ignore J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Notice that we have P(X | parents of 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what is known as the Markov Assumption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current state only depends on the previous state, not all of the previous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Ex: P(J | E, B, A) just becomes P(J | E, 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other words, since J just depends on E and A, and we </a:t>
            </a:r>
            <a:r>
              <a:rPr b="1" lang="en"/>
              <a:t>observe</a:t>
            </a:r>
            <a:r>
              <a:rPr lang="en"/>
              <a:t> E and A, we don’t care about the value of B</a:t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000" y="3710675"/>
            <a:ext cx="4682400" cy="8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P(A | </a:t>
            </a:r>
            <a:r>
              <a:rPr lang="en"/>
              <a:t>E, B, J)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the formula for conditional probabilities: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P(A | E, B, J) = P(A, E, B, J) / P(E, B, J)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use the joint calculation for Bayesian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P(A | E, B, J) = P(A, E, B, J) / P(E, B, 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= (P(A given parents) * P(E given parents) * P(B given parents) * P(J given parents)) / (P(E given parents) * P(B given parents) * P(J given parents))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= P(A given parents)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equation applies for observations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a value is unobserved (i.e. there is uncertainty around the value)?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still use this equation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we must account for the uncertainty of the unobserved variable(s)</a:t>
            </a:r>
            <a:endParaRPr/>
          </a:p>
        </p:txBody>
      </p:sp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000" y="3710675"/>
            <a:ext cx="4682400" cy="8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15" name="Google Shape;215;p33"/>
          <p:cNvSpPr/>
          <p:nvPr/>
        </p:nvSpPr>
        <p:spPr>
          <a:xfrm>
            <a:off x="2418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216" name="Google Shape;216;p33"/>
          <p:cNvSpPr/>
          <p:nvPr/>
        </p:nvSpPr>
        <p:spPr>
          <a:xfrm>
            <a:off x="5943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17" name="Google Shape;217;p33"/>
          <p:cNvSpPr/>
          <p:nvPr/>
        </p:nvSpPr>
        <p:spPr>
          <a:xfrm>
            <a:off x="4284450" y="25242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18" name="Google Shape;218;p33"/>
          <p:cNvSpPr/>
          <p:nvPr/>
        </p:nvSpPr>
        <p:spPr>
          <a:xfrm>
            <a:off x="2418900" y="37264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cxnSp>
        <p:nvCxnSpPr>
          <p:cNvPr id="219" name="Google Shape;219;p33"/>
          <p:cNvCxnSpPr>
            <a:endCxn id="217" idx="1"/>
          </p:cNvCxnSpPr>
          <p:nvPr/>
        </p:nvCxnSpPr>
        <p:spPr>
          <a:xfrm>
            <a:off x="2891771" y="1781870"/>
            <a:ext cx="1476900" cy="826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33"/>
          <p:cNvCxnSpPr>
            <a:stCxn id="216" idx="3"/>
            <a:endCxn id="217" idx="7"/>
          </p:cNvCxnSpPr>
          <p:nvPr/>
        </p:nvCxnSpPr>
        <p:spPr>
          <a:xfrm flipH="1">
            <a:off x="4775321" y="1752430"/>
            <a:ext cx="1252800" cy="85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33"/>
          <p:cNvCxnSpPr>
            <a:stCxn id="217" idx="3"/>
            <a:endCxn id="218" idx="7"/>
          </p:cNvCxnSpPr>
          <p:nvPr/>
        </p:nvCxnSpPr>
        <p:spPr>
          <a:xfrm flipH="1">
            <a:off x="2909771" y="3013030"/>
            <a:ext cx="1458900" cy="79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22" name="Google Shape;222;p33"/>
          <p:cNvGraphicFramePr/>
          <p:nvPr/>
        </p:nvGraphicFramePr>
        <p:xfrm>
          <a:off x="1322100" y="109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5170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3" name="Google Shape;223;p33"/>
          <p:cNvGraphicFramePr/>
          <p:nvPr/>
        </p:nvGraphicFramePr>
        <p:xfrm>
          <a:off x="6725300" y="7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5494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P(B)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4" name="Google Shape;224;p33"/>
          <p:cNvGraphicFramePr/>
          <p:nvPr/>
        </p:nvGraphicFramePr>
        <p:xfrm>
          <a:off x="5825550" y="197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1775"/>
                <a:gridCol w="457975"/>
                <a:gridCol w="843550"/>
              </a:tblGrid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P(A | B, 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5" name="Google Shape;225;p33"/>
          <p:cNvGraphicFramePr/>
          <p:nvPr/>
        </p:nvGraphicFramePr>
        <p:xfrm>
          <a:off x="1322100" y="381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4441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P(J)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6" name="Google Shape;226;p33"/>
          <p:cNvSpPr/>
          <p:nvPr/>
        </p:nvSpPr>
        <p:spPr>
          <a:xfrm>
            <a:off x="5943900" y="37264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cxnSp>
        <p:nvCxnSpPr>
          <p:cNvPr id="227" name="Google Shape;227;p33"/>
          <p:cNvCxnSpPr>
            <a:stCxn id="217" idx="5"/>
            <a:endCxn id="226" idx="1"/>
          </p:cNvCxnSpPr>
          <p:nvPr/>
        </p:nvCxnSpPr>
        <p:spPr>
          <a:xfrm>
            <a:off x="4775329" y="3013030"/>
            <a:ext cx="1252800" cy="79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28" name="Google Shape;228;p33"/>
          <p:cNvGraphicFramePr/>
          <p:nvPr/>
        </p:nvGraphicFramePr>
        <p:xfrm>
          <a:off x="4892700" y="381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66425"/>
                <a:gridCol w="466425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P(M)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9" name="Google Shape;229;p33"/>
          <p:cNvSpPr txBox="1"/>
          <p:nvPr/>
        </p:nvSpPr>
        <p:spPr>
          <a:xfrm>
            <a:off x="3148650" y="1032450"/>
            <a:ext cx="26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P(J, M | B, ~E)?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311700" y="1152475"/>
            <a:ext cx="331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P(J, M | B, ~E)?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other words, we observe the values for B and E but are still unsure what A is</a:t>
            </a:r>
            <a:endParaRPr/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200" y="1170125"/>
            <a:ext cx="5210399" cy="3366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311700" y="1152475"/>
            <a:ext cx="331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P(J, M | B, ~E)?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possible values for 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True</a:t>
            </a:r>
            <a:endParaRPr/>
          </a:p>
          <a:p>
            <a:pPr indent="-3175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P(J, M | B, ~E, A) * P(A | B, ~E)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False</a:t>
            </a:r>
            <a:endParaRPr/>
          </a:p>
          <a:p>
            <a:pPr indent="-3175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P(J, M | B, ~E, ~A) * P(~A | B, ~E) </a:t>
            </a:r>
            <a:endParaRPr/>
          </a:p>
        </p:txBody>
      </p:sp>
      <p:pic>
        <p:nvPicPr>
          <p:cNvPr id="243" name="Google Shape;2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200" y="1170125"/>
            <a:ext cx="5210399" cy="3366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49" name="Google Shape;249;p36"/>
          <p:cNvSpPr txBox="1"/>
          <p:nvPr>
            <p:ph idx="1" type="body"/>
          </p:nvPr>
        </p:nvSpPr>
        <p:spPr>
          <a:xfrm>
            <a:off x="311700" y="1152475"/>
            <a:ext cx="34695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is true:</a:t>
            </a:r>
            <a:endParaRPr/>
          </a:p>
        </p:txBody>
      </p:sp>
      <p:pic>
        <p:nvPicPr>
          <p:cNvPr id="250" name="Google Shape;25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200" y="1170125"/>
            <a:ext cx="5210399" cy="3366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250" y="1572675"/>
            <a:ext cx="3156500" cy="4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238" y="2054177"/>
            <a:ext cx="2769176" cy="9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250" y="2963700"/>
            <a:ext cx="4170856" cy="9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250" y="3873214"/>
            <a:ext cx="4170849" cy="112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34100" y="4053062"/>
            <a:ext cx="2650599" cy="7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61" name="Google Shape;261;p37"/>
          <p:cNvSpPr txBox="1"/>
          <p:nvPr>
            <p:ph idx="1" type="body"/>
          </p:nvPr>
        </p:nvSpPr>
        <p:spPr>
          <a:xfrm>
            <a:off x="311700" y="1152475"/>
            <a:ext cx="34695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is false: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process as the previous slide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Finish it as part of the homework</a:t>
            </a:r>
            <a:endParaRPr/>
          </a:p>
        </p:txBody>
      </p:sp>
      <p:pic>
        <p:nvPicPr>
          <p:cNvPr id="262" name="Google Shape;26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200" y="1170125"/>
            <a:ext cx="5210399" cy="3366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68" name="Google Shape;268;p38"/>
          <p:cNvSpPr/>
          <p:nvPr/>
        </p:nvSpPr>
        <p:spPr>
          <a:xfrm>
            <a:off x="2418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269" name="Google Shape;269;p38"/>
          <p:cNvSpPr/>
          <p:nvPr/>
        </p:nvSpPr>
        <p:spPr>
          <a:xfrm>
            <a:off x="5943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70" name="Google Shape;270;p38"/>
          <p:cNvSpPr/>
          <p:nvPr/>
        </p:nvSpPr>
        <p:spPr>
          <a:xfrm>
            <a:off x="4284450" y="25242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71" name="Google Shape;271;p38"/>
          <p:cNvSpPr/>
          <p:nvPr/>
        </p:nvSpPr>
        <p:spPr>
          <a:xfrm>
            <a:off x="2418900" y="37264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cxnSp>
        <p:nvCxnSpPr>
          <p:cNvPr id="272" name="Google Shape;272;p38"/>
          <p:cNvCxnSpPr>
            <a:endCxn id="270" idx="1"/>
          </p:cNvCxnSpPr>
          <p:nvPr/>
        </p:nvCxnSpPr>
        <p:spPr>
          <a:xfrm>
            <a:off x="2891771" y="1781870"/>
            <a:ext cx="1476900" cy="826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8"/>
          <p:cNvCxnSpPr>
            <a:stCxn id="269" idx="3"/>
            <a:endCxn id="270" idx="7"/>
          </p:cNvCxnSpPr>
          <p:nvPr/>
        </p:nvCxnSpPr>
        <p:spPr>
          <a:xfrm flipH="1">
            <a:off x="4775321" y="1752430"/>
            <a:ext cx="1252800" cy="85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38"/>
          <p:cNvCxnSpPr>
            <a:stCxn id="270" idx="3"/>
            <a:endCxn id="271" idx="7"/>
          </p:cNvCxnSpPr>
          <p:nvPr/>
        </p:nvCxnSpPr>
        <p:spPr>
          <a:xfrm flipH="1">
            <a:off x="2909771" y="3013030"/>
            <a:ext cx="1458900" cy="79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75" name="Google Shape;275;p38"/>
          <p:cNvGraphicFramePr/>
          <p:nvPr/>
        </p:nvGraphicFramePr>
        <p:xfrm>
          <a:off x="1322100" y="109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5170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6" name="Google Shape;276;p38"/>
          <p:cNvGraphicFramePr/>
          <p:nvPr/>
        </p:nvGraphicFramePr>
        <p:xfrm>
          <a:off x="6725300" y="7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5494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P(B)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7" name="Google Shape;277;p38"/>
          <p:cNvGraphicFramePr/>
          <p:nvPr/>
        </p:nvGraphicFramePr>
        <p:xfrm>
          <a:off x="5825550" y="197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1775"/>
                <a:gridCol w="457975"/>
                <a:gridCol w="843550"/>
              </a:tblGrid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P(A | B, 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8" name="Google Shape;278;p38"/>
          <p:cNvGraphicFramePr/>
          <p:nvPr/>
        </p:nvGraphicFramePr>
        <p:xfrm>
          <a:off x="1322100" y="381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4441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P(J)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9" name="Google Shape;279;p38"/>
          <p:cNvSpPr/>
          <p:nvPr/>
        </p:nvSpPr>
        <p:spPr>
          <a:xfrm>
            <a:off x="5943900" y="37264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cxnSp>
        <p:nvCxnSpPr>
          <p:cNvPr id="280" name="Google Shape;280;p38"/>
          <p:cNvCxnSpPr>
            <a:stCxn id="270" idx="5"/>
            <a:endCxn id="279" idx="1"/>
          </p:cNvCxnSpPr>
          <p:nvPr/>
        </p:nvCxnSpPr>
        <p:spPr>
          <a:xfrm>
            <a:off x="4775329" y="3013030"/>
            <a:ext cx="1252800" cy="79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81" name="Google Shape;281;p38"/>
          <p:cNvGraphicFramePr/>
          <p:nvPr/>
        </p:nvGraphicFramePr>
        <p:xfrm>
          <a:off x="4892700" y="381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66425"/>
                <a:gridCol w="466425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P(M)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2" name="Google Shape;282;p38"/>
          <p:cNvSpPr txBox="1"/>
          <p:nvPr/>
        </p:nvSpPr>
        <p:spPr>
          <a:xfrm>
            <a:off x="3655650" y="1032450"/>
            <a:ext cx="16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P(A)?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3386800" y="1433550"/>
            <a:ext cx="235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i.e. we don’t observe anything for B and 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289" name="Google Shape;2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200" y="1170125"/>
            <a:ext cx="5210399" cy="336623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 txBox="1"/>
          <p:nvPr/>
        </p:nvSpPr>
        <p:spPr>
          <a:xfrm>
            <a:off x="429300" y="1170125"/>
            <a:ext cx="11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P(A) =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1" name="Google Shape;29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300" y="1631825"/>
            <a:ext cx="2616300" cy="7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300" y="2338575"/>
            <a:ext cx="255806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300" y="2911286"/>
            <a:ext cx="2616300" cy="585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9300" y="3497025"/>
            <a:ext cx="2616300" cy="538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300" name="Google Shape;30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200" y="1170125"/>
            <a:ext cx="5210399" cy="3366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600" y="1249625"/>
            <a:ext cx="3476399" cy="289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600" y="4140450"/>
            <a:ext cx="1848300" cy="77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308" name="Google Shape;30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double check if P(A) is correct</a:t>
            </a:r>
            <a:endParaRPr/>
          </a:p>
        </p:txBody>
      </p:sp>
      <p:pic>
        <p:nvPicPr>
          <p:cNvPr id="309" name="Google Shape;30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050" y="1806300"/>
            <a:ext cx="2647899" cy="32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315" name="Google Shape;315;p42"/>
          <p:cNvSpPr/>
          <p:nvPr/>
        </p:nvSpPr>
        <p:spPr>
          <a:xfrm>
            <a:off x="2418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316" name="Google Shape;316;p42"/>
          <p:cNvSpPr/>
          <p:nvPr/>
        </p:nvSpPr>
        <p:spPr>
          <a:xfrm>
            <a:off x="5943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317" name="Google Shape;317;p42"/>
          <p:cNvSpPr/>
          <p:nvPr/>
        </p:nvSpPr>
        <p:spPr>
          <a:xfrm>
            <a:off x="4284450" y="25242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18" name="Google Shape;318;p42"/>
          <p:cNvSpPr/>
          <p:nvPr/>
        </p:nvSpPr>
        <p:spPr>
          <a:xfrm>
            <a:off x="2418900" y="37264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cxnSp>
        <p:nvCxnSpPr>
          <p:cNvPr id="319" name="Google Shape;319;p42"/>
          <p:cNvCxnSpPr>
            <a:endCxn id="317" idx="1"/>
          </p:cNvCxnSpPr>
          <p:nvPr/>
        </p:nvCxnSpPr>
        <p:spPr>
          <a:xfrm>
            <a:off x="2891771" y="1781870"/>
            <a:ext cx="1476900" cy="826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42"/>
          <p:cNvCxnSpPr>
            <a:stCxn id="316" idx="3"/>
            <a:endCxn id="317" idx="7"/>
          </p:cNvCxnSpPr>
          <p:nvPr/>
        </p:nvCxnSpPr>
        <p:spPr>
          <a:xfrm flipH="1">
            <a:off x="4775321" y="1752430"/>
            <a:ext cx="1252800" cy="85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42"/>
          <p:cNvCxnSpPr>
            <a:stCxn id="317" idx="3"/>
            <a:endCxn id="318" idx="7"/>
          </p:cNvCxnSpPr>
          <p:nvPr/>
        </p:nvCxnSpPr>
        <p:spPr>
          <a:xfrm flipH="1">
            <a:off x="2909771" y="3013030"/>
            <a:ext cx="1458900" cy="79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22" name="Google Shape;322;p42"/>
          <p:cNvGraphicFramePr/>
          <p:nvPr/>
        </p:nvGraphicFramePr>
        <p:xfrm>
          <a:off x="1322100" y="109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5170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3" name="Google Shape;323;p42"/>
          <p:cNvGraphicFramePr/>
          <p:nvPr/>
        </p:nvGraphicFramePr>
        <p:xfrm>
          <a:off x="6725300" y="7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5494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P(B)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4" name="Google Shape;324;p42"/>
          <p:cNvGraphicFramePr/>
          <p:nvPr/>
        </p:nvGraphicFramePr>
        <p:xfrm>
          <a:off x="5825550" y="197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1775"/>
                <a:gridCol w="457975"/>
                <a:gridCol w="843550"/>
              </a:tblGrid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P(A | B, 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5" name="Google Shape;325;p42"/>
          <p:cNvGraphicFramePr/>
          <p:nvPr/>
        </p:nvGraphicFramePr>
        <p:xfrm>
          <a:off x="1322100" y="381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4441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P(J)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6" name="Google Shape;326;p42"/>
          <p:cNvSpPr/>
          <p:nvPr/>
        </p:nvSpPr>
        <p:spPr>
          <a:xfrm>
            <a:off x="5943900" y="37264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cxnSp>
        <p:nvCxnSpPr>
          <p:cNvPr id="327" name="Google Shape;327;p42"/>
          <p:cNvCxnSpPr>
            <a:stCxn id="317" idx="5"/>
            <a:endCxn id="326" idx="1"/>
          </p:cNvCxnSpPr>
          <p:nvPr/>
        </p:nvCxnSpPr>
        <p:spPr>
          <a:xfrm>
            <a:off x="4775329" y="3013030"/>
            <a:ext cx="1252800" cy="79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28" name="Google Shape;328;p42"/>
          <p:cNvGraphicFramePr/>
          <p:nvPr/>
        </p:nvGraphicFramePr>
        <p:xfrm>
          <a:off x="4892700" y="381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66425"/>
                <a:gridCol w="466425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P(M)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9" name="Google Shape;329;p42"/>
          <p:cNvSpPr txBox="1"/>
          <p:nvPr/>
        </p:nvSpPr>
        <p:spPr>
          <a:xfrm>
            <a:off x="3426300" y="1032450"/>
            <a:ext cx="227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P(J | A, M)?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0" name="Google Shape;330;p42"/>
          <p:cNvSpPr txBox="1"/>
          <p:nvPr/>
        </p:nvSpPr>
        <p:spPr>
          <a:xfrm>
            <a:off x="3386800" y="1433550"/>
            <a:ext cx="235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i.e. we observe that the alarm went off and Mary called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336" name="Google Shape;33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200" y="1170125"/>
            <a:ext cx="5210399" cy="3366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3"/>
          <p:cNvSpPr txBox="1"/>
          <p:nvPr/>
        </p:nvSpPr>
        <p:spPr>
          <a:xfrm>
            <a:off x="429300" y="1170125"/>
            <a:ext cx="158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P(J | A, M) =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8" name="Google Shape;338;p43"/>
          <p:cNvSpPr txBox="1"/>
          <p:nvPr/>
        </p:nvSpPr>
        <p:spPr>
          <a:xfrm>
            <a:off x="429300" y="1743725"/>
            <a:ext cx="318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P(J | A) = 0.9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(Markov assumption)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344" name="Google Shape;344;p44"/>
          <p:cNvSpPr/>
          <p:nvPr/>
        </p:nvSpPr>
        <p:spPr>
          <a:xfrm>
            <a:off x="2418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345" name="Google Shape;345;p44"/>
          <p:cNvSpPr/>
          <p:nvPr/>
        </p:nvSpPr>
        <p:spPr>
          <a:xfrm>
            <a:off x="5943900" y="12636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346" name="Google Shape;346;p44"/>
          <p:cNvSpPr/>
          <p:nvPr/>
        </p:nvSpPr>
        <p:spPr>
          <a:xfrm>
            <a:off x="4284450" y="25242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47" name="Google Shape;347;p44"/>
          <p:cNvSpPr/>
          <p:nvPr/>
        </p:nvSpPr>
        <p:spPr>
          <a:xfrm>
            <a:off x="2418900" y="37264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cxnSp>
        <p:nvCxnSpPr>
          <p:cNvPr id="348" name="Google Shape;348;p44"/>
          <p:cNvCxnSpPr>
            <a:endCxn id="346" idx="1"/>
          </p:cNvCxnSpPr>
          <p:nvPr/>
        </p:nvCxnSpPr>
        <p:spPr>
          <a:xfrm>
            <a:off x="2891771" y="1781870"/>
            <a:ext cx="1476900" cy="826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44"/>
          <p:cNvCxnSpPr>
            <a:stCxn id="345" idx="3"/>
            <a:endCxn id="346" idx="7"/>
          </p:cNvCxnSpPr>
          <p:nvPr/>
        </p:nvCxnSpPr>
        <p:spPr>
          <a:xfrm flipH="1">
            <a:off x="4775321" y="1752430"/>
            <a:ext cx="1252800" cy="85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44"/>
          <p:cNvCxnSpPr>
            <a:stCxn id="346" idx="3"/>
            <a:endCxn id="347" idx="7"/>
          </p:cNvCxnSpPr>
          <p:nvPr/>
        </p:nvCxnSpPr>
        <p:spPr>
          <a:xfrm flipH="1">
            <a:off x="2909771" y="3013030"/>
            <a:ext cx="1458900" cy="79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51" name="Google Shape;351;p44"/>
          <p:cNvGraphicFramePr/>
          <p:nvPr/>
        </p:nvGraphicFramePr>
        <p:xfrm>
          <a:off x="1322100" y="109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5170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2" name="Google Shape;352;p44"/>
          <p:cNvGraphicFramePr/>
          <p:nvPr/>
        </p:nvGraphicFramePr>
        <p:xfrm>
          <a:off x="6725300" y="7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5494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P(B)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3" name="Google Shape;353;p44"/>
          <p:cNvGraphicFramePr/>
          <p:nvPr/>
        </p:nvGraphicFramePr>
        <p:xfrm>
          <a:off x="5825550" y="197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1775"/>
                <a:gridCol w="457975"/>
                <a:gridCol w="843550"/>
              </a:tblGrid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P(A | B, E)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4" name="Google Shape;354;p44"/>
          <p:cNvGraphicFramePr/>
          <p:nvPr/>
        </p:nvGraphicFramePr>
        <p:xfrm>
          <a:off x="1322100" y="381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44150"/>
                <a:gridCol w="444150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P(J)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5" name="Google Shape;355;p44"/>
          <p:cNvSpPr/>
          <p:nvPr/>
        </p:nvSpPr>
        <p:spPr>
          <a:xfrm>
            <a:off x="5943900" y="37264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cxnSp>
        <p:nvCxnSpPr>
          <p:cNvPr id="356" name="Google Shape;356;p44"/>
          <p:cNvCxnSpPr>
            <a:stCxn id="346" idx="5"/>
            <a:endCxn id="355" idx="1"/>
          </p:cNvCxnSpPr>
          <p:nvPr/>
        </p:nvCxnSpPr>
        <p:spPr>
          <a:xfrm>
            <a:off x="4775329" y="3013030"/>
            <a:ext cx="1252800" cy="79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57" name="Google Shape;357;p44"/>
          <p:cNvGraphicFramePr/>
          <p:nvPr/>
        </p:nvGraphicFramePr>
        <p:xfrm>
          <a:off x="4892700" y="381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{1814CF4B-3591-4E81-99CE-FBBB250E3DBE}</a:tableStyleId>
              </a:tblPr>
              <a:tblGrid>
                <a:gridCol w="466425"/>
                <a:gridCol w="466425"/>
              </a:tblGrid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P(M)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8" name="Google Shape;358;p44"/>
          <p:cNvSpPr txBox="1"/>
          <p:nvPr/>
        </p:nvSpPr>
        <p:spPr>
          <a:xfrm>
            <a:off x="3572850" y="1032450"/>
            <a:ext cx="19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P(J | M)?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9" name="Google Shape;359;p44"/>
          <p:cNvSpPr txBox="1"/>
          <p:nvPr/>
        </p:nvSpPr>
        <p:spPr>
          <a:xfrm>
            <a:off x="3386800" y="1433550"/>
            <a:ext cx="235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i.e. we only observe that Mary called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365" name="Google Shape;36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200" y="1170125"/>
            <a:ext cx="5210399" cy="3366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300" y="1631825"/>
            <a:ext cx="1478400" cy="11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5"/>
          <p:cNvSpPr txBox="1"/>
          <p:nvPr/>
        </p:nvSpPr>
        <p:spPr>
          <a:xfrm>
            <a:off x="429300" y="1170125"/>
            <a:ext cx="158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P(J | M) =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68" name="Google Shape;36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300" y="2830347"/>
            <a:ext cx="4683549" cy="13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300" y="4190750"/>
            <a:ext cx="1587600" cy="71168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5"/>
          <p:cNvSpPr txBox="1"/>
          <p:nvPr/>
        </p:nvSpPr>
        <p:spPr>
          <a:xfrm>
            <a:off x="2220900" y="4440713"/>
            <a:ext cx="30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Let’s check this in the code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376" name="Google Shape;37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Notice that when we observed both A and M, M had no effect on J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other words, P(J | A, M) = P(J | A) (Markov assumption)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when we only observed M, P(J | M) was not the same as P(J | 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had an effect on 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even though there isn’t an immediate edge between J and M, they were dependant when we hadn’t observed 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Determine Conditional Independence/Dependence</a:t>
            </a:r>
            <a:endParaRPr/>
          </a:p>
        </p:txBody>
      </p:sp>
      <p:sp>
        <p:nvSpPr>
          <p:cNvPr id="382" name="Google Shape;382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water through pipes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will pump the water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are pipes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node has an outlet (if there isn’t one, we imagine there is one)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Observed nodes are block outlets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water can flow from one node to the other, then they are dependent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not, then they are independent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Blockages can either separate or connect nodes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388" name="Google Shape;38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5425" y="1139225"/>
            <a:ext cx="445315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394" name="Google Shape;39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263" y="1129625"/>
            <a:ext cx="446547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00" name="Google Shape;40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100" y="1145825"/>
            <a:ext cx="425580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06" name="Google Shape;40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9975" y="1145825"/>
            <a:ext cx="548406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12" name="Google Shape;41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663" y="1129625"/>
            <a:ext cx="5508683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18" name="Google Shape;41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238" y="1064825"/>
            <a:ext cx="5467515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24" name="Google Shape;42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7375" y="1113425"/>
            <a:ext cx="560924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30" name="Google Shape;43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338" y="1121525"/>
            <a:ext cx="542331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36" name="Google Shape;43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913" y="1097225"/>
            <a:ext cx="456018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42" name="Google Shape;44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538" y="1105325"/>
            <a:ext cx="434291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48" name="Google Shape;44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8738" y="1081025"/>
            <a:ext cx="456653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54" name="Google Shape;45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300" y="1137725"/>
            <a:ext cx="668941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Markov Blanket</a:t>
            </a:r>
            <a:endParaRPr/>
          </a:p>
        </p:txBody>
      </p:sp>
      <p:sp>
        <p:nvSpPr>
          <p:cNvPr id="460" name="Google Shape;460;p60"/>
          <p:cNvSpPr txBox="1"/>
          <p:nvPr>
            <p:ph idx="1" type="body"/>
          </p:nvPr>
        </p:nvSpPr>
        <p:spPr>
          <a:xfrm>
            <a:off x="311700" y="1152475"/>
            <a:ext cx="8520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random variable is conditionally independent of the whole network, given its parents, children, and children’s co-parents</a:t>
            </a:r>
            <a:endParaRPr/>
          </a:p>
        </p:txBody>
      </p:sp>
      <p:pic>
        <p:nvPicPr>
          <p:cNvPr id="461" name="Google Shape;46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9350" y="2039500"/>
            <a:ext cx="3345300" cy="29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Markov Blanket</a:t>
            </a:r>
            <a:endParaRPr/>
          </a:p>
        </p:txBody>
      </p:sp>
      <p:pic>
        <p:nvPicPr>
          <p:cNvPr id="467" name="Google Shape;46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656044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1449" y="1017725"/>
            <a:ext cx="3014875" cy="84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6526" y="1872738"/>
            <a:ext cx="3404725" cy="1398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4813" y="3279025"/>
            <a:ext cx="3608149" cy="14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Markov Blanket</a:t>
            </a:r>
            <a:endParaRPr/>
          </a:p>
        </p:txBody>
      </p:sp>
      <p:pic>
        <p:nvPicPr>
          <p:cNvPr id="476" name="Google Shape;47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656044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6713" y="1170125"/>
            <a:ext cx="3608149" cy="14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3300" y="2593275"/>
            <a:ext cx="5960702" cy="1405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2675" y="3998450"/>
            <a:ext cx="3876224" cy="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Construct a Bayesian Network</a:t>
            </a:r>
            <a:endParaRPr/>
          </a:p>
        </p:txBody>
      </p:sp>
      <p:sp>
        <p:nvSpPr>
          <p:cNvPr id="485" name="Google Shape;485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the random 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will be the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which random variables directly impact other random 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will be the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Determine the conditional probabilities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Principle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Ask an expert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them from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91" name="Google Shape;491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P(A, B, C, D, E) = P(A | B) * P(B) * P(C | B) * P(D | B) * P(E | A, C), what does the Bayesian network look like?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variables: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A, B, C, D,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to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to 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to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to 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 to E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97" name="Google Shape;497;p65"/>
          <p:cNvSpPr txBox="1"/>
          <p:nvPr>
            <p:ph idx="1" type="body"/>
          </p:nvPr>
        </p:nvSpPr>
        <p:spPr>
          <a:xfrm>
            <a:off x="342325" y="1140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P(A, B, C, D, E) = P(A | B) * P(B) * P(C | B) * P(D | B) * P(E | A, 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variables: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A, B, C, D,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to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to 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to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to 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 to E</a:t>
            </a:r>
            <a:endParaRPr/>
          </a:p>
        </p:txBody>
      </p:sp>
      <p:sp>
        <p:nvSpPr>
          <p:cNvPr id="498" name="Google Shape;498;p65"/>
          <p:cNvSpPr/>
          <p:nvPr/>
        </p:nvSpPr>
        <p:spPr>
          <a:xfrm>
            <a:off x="6552075" y="2285400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99" name="Google Shape;499;p65"/>
          <p:cNvSpPr/>
          <p:nvPr/>
        </p:nvSpPr>
        <p:spPr>
          <a:xfrm>
            <a:off x="5696850" y="31725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00" name="Google Shape;500;p65"/>
          <p:cNvSpPr/>
          <p:nvPr/>
        </p:nvSpPr>
        <p:spPr>
          <a:xfrm>
            <a:off x="6552075" y="31725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501" name="Google Shape;501;p65"/>
          <p:cNvSpPr/>
          <p:nvPr/>
        </p:nvSpPr>
        <p:spPr>
          <a:xfrm>
            <a:off x="7407300" y="317257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502" name="Google Shape;502;p65"/>
          <p:cNvSpPr/>
          <p:nvPr/>
        </p:nvSpPr>
        <p:spPr>
          <a:xfrm>
            <a:off x="6136025" y="4058425"/>
            <a:ext cx="575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503" name="Google Shape;503;p65"/>
          <p:cNvCxnSpPr>
            <a:stCxn id="498" idx="3"/>
            <a:endCxn id="499" idx="0"/>
          </p:cNvCxnSpPr>
          <p:nvPr/>
        </p:nvCxnSpPr>
        <p:spPr>
          <a:xfrm flipH="1">
            <a:off x="5984396" y="2774230"/>
            <a:ext cx="651900" cy="398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65"/>
          <p:cNvCxnSpPr>
            <a:stCxn id="498" idx="5"/>
            <a:endCxn id="501" idx="0"/>
          </p:cNvCxnSpPr>
          <p:nvPr/>
        </p:nvCxnSpPr>
        <p:spPr>
          <a:xfrm>
            <a:off x="7042954" y="2774230"/>
            <a:ext cx="651900" cy="398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65"/>
          <p:cNvCxnSpPr>
            <a:stCxn id="498" idx="4"/>
            <a:endCxn id="500" idx="0"/>
          </p:cNvCxnSpPr>
          <p:nvPr/>
        </p:nvCxnSpPr>
        <p:spPr>
          <a:xfrm>
            <a:off x="6839625" y="2858100"/>
            <a:ext cx="0" cy="314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65"/>
          <p:cNvCxnSpPr>
            <a:stCxn id="500" idx="4"/>
            <a:endCxn id="502" idx="7"/>
          </p:cNvCxnSpPr>
          <p:nvPr/>
        </p:nvCxnSpPr>
        <p:spPr>
          <a:xfrm flipH="1">
            <a:off x="6626925" y="3745275"/>
            <a:ext cx="212700" cy="396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65"/>
          <p:cNvCxnSpPr>
            <a:stCxn id="499" idx="4"/>
            <a:endCxn id="502" idx="1"/>
          </p:cNvCxnSpPr>
          <p:nvPr/>
        </p:nvCxnSpPr>
        <p:spPr>
          <a:xfrm>
            <a:off x="5984400" y="3745275"/>
            <a:ext cx="235800" cy="396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Use Bayesian Networks For?</a:t>
            </a:r>
            <a:endParaRPr/>
          </a:p>
        </p:txBody>
      </p:sp>
      <p:sp>
        <p:nvSpPr>
          <p:cNvPr id="513" name="Google Shape;513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perform inference with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Inference: use a model to make predictions or draw conclusions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Doctor recommends cancer treatment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construct a Bayesian network of all the numerous factors that might affect a patient’s probability of having cancer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Much more complex and realistic than what we previously saw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the observations of different random variables for any particular patient, can have good reasoning on what to do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</a:t>
            </a:r>
            <a:endParaRPr/>
          </a:p>
        </p:txBody>
      </p:sp>
      <p:sp>
        <p:nvSpPr>
          <p:cNvPr id="519" name="Google Shape;519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Exact inference can be difficult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calculate a lot of these probabilities we have to sum over every possible value for a particular random variable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Intractable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Approximate inference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do we estimate probabilities in real life?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Observe and count how often the events we care about occur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sometimes this might not work well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What if the events are too infrequent?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Ex: earthquakes, burglaries, alarms going off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use computers for sampling/simulation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Different approaches, but we won’t cover them in this class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a Bayesian Network vs. Some Other Model? </a:t>
            </a:r>
            <a:endParaRPr/>
          </a:p>
        </p:txBody>
      </p:sp>
      <p:sp>
        <p:nvSpPr>
          <p:cNvPr id="525" name="Google Shape;525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Probably a variety of reasons, but some that I thought of: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Domains where interpretability is important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Domains where a Bayesian way of thinking is </a:t>
            </a:r>
            <a:r>
              <a:rPr lang="en"/>
              <a:t>valuable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i.e. domains where there is a lot of “prior” knowledge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Domains where we might want to tweak the network structure every so often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531" name="Google Shape;531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Bayes’ Rule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Joint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Bayesian network (due Wednesday)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537" name="Google Shape;537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Bayesian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Bayes filter (day after due to holiday schedule)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