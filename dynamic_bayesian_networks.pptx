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426d636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426d636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4325f82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64325f8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4325f82c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4325f82c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64325f82c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64325f82c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4325f82c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64325f82c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64325f82c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64325f82c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64325f82c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64325f82c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64325f82c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64325f82c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64325f82c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64325f82c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64325f82ca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64325f82ca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4325f82c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4325f82c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4325f82c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4325f82c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4325f82c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4325f82c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4325f82c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4325f82c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64325f82c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64325f82c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64325f82c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64325f82c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4325f82c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4325f82c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4325f82c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64325f82c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64325f82ca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64325f82c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64325f82c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64325f82c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4325f82c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4325f82c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6953492798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6953492798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Bayesian Networks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 470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Ethan Pedersen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Markov Process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3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Stochastic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Iterate through states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Uncertainty when transitioning from one state to the next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Ex: random walk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Imagine a drunk person leaving a bar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think of each physical step they take as a time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each time step, there is uncertainty as to where they will go next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might keep going straight, stagger to the left or right,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we have a set of states that differ over time, and the future only depends on the current state (not the previous 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does “the future only depends on the current state” sound like?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Markov assumption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we think of this as “observing” the current state, then this is similar to a Bayesian network, except now the network is changing over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Let’s use probability to reason about COVID</a:t>
            </a:r>
            <a:r>
              <a:rPr lang="en"/>
              <a:t>-19 spread in our community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variables?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people who currently have the virus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people with other illnesses (I)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people with symptoms (S)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people who get tested (T)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positive/negative tests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Number of deaths from the virus (D)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good people’s habits are (H)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distancing, masks, etc.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713" y="1129625"/>
            <a:ext cx="5218582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7100"/>
            <a:ext cx="8839204" cy="291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Bayesian Network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help us model Markov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complex model because we can model the relationship between numerous random 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ideas: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structure is the same at each time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at any particular time is a “state”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have a “transition model” that determines the probability of transitioning from one state to the next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At each time step, we can (at least partially) observe the current state of the environment through sensors -&gt; “sensor model”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Ex: Navigating through Washington DC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us to perform </a:t>
            </a:r>
            <a:r>
              <a:rPr lang="en"/>
              <a:t>probabilistic</a:t>
            </a:r>
            <a:r>
              <a:rPr lang="en"/>
              <a:t> reasoning about random variables over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Partially-Observable Stochastic Process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the state of the environment as a set of random variables (could be a Bayesian network)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changes over time, following some stochastic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the output of our sensors as a random variable that is influence by the current state of the environment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Sensors give us information about the state, but probably not exact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represent our belief about what state we’re in as a probability distribution over every possible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So, this is still a Markov process, we just can’t directly observe the state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Notation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2175"/>
            <a:ext cx="8839203" cy="1959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00" y="1200024"/>
            <a:ext cx="8223002" cy="320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00" y="1163575"/>
            <a:ext cx="7631399" cy="281893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/>
          <p:nvPr/>
        </p:nvSpPr>
        <p:spPr>
          <a:xfrm>
            <a:off x="749700" y="4128375"/>
            <a:ext cx="70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Once we know/observe X_2, does X_3 depend on X_0 and/or X_1?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4091454" y="1507054"/>
            <a:ext cx="721800" cy="683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12" name="Google Shape;112;p22"/>
          <p:cNvCxnSpPr>
            <a:stCxn id="110" idx="0"/>
            <a:endCxn id="111" idx="4"/>
          </p:cNvCxnSpPr>
          <p:nvPr/>
        </p:nvCxnSpPr>
        <p:spPr>
          <a:xfrm flipH="1" rot="10800000">
            <a:off x="4276200" y="2190075"/>
            <a:ext cx="176100" cy="1938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22"/>
          <p:cNvCxnSpPr>
            <a:stCxn id="110" idx="0"/>
          </p:cNvCxnSpPr>
          <p:nvPr/>
        </p:nvCxnSpPr>
        <p:spPr>
          <a:xfrm flipH="1" rot="10800000">
            <a:off x="4276200" y="2237775"/>
            <a:ext cx="1282200" cy="1890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1491650" y="4128375"/>
            <a:ext cx="574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 - Markov assumption (this is still a Markov process)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300" y="1163575"/>
            <a:ext cx="7631399" cy="281893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/>
          <p:nvPr/>
        </p:nvSpPr>
        <p:spPr>
          <a:xfrm>
            <a:off x="4091454" y="1507054"/>
            <a:ext cx="721800" cy="6831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122" name="Google Shape;122;p23"/>
          <p:cNvCxnSpPr>
            <a:endCxn id="121" idx="4"/>
          </p:cNvCxnSpPr>
          <p:nvPr/>
        </p:nvCxnSpPr>
        <p:spPr>
          <a:xfrm flipH="1" rot="10800000">
            <a:off x="4276254" y="2190154"/>
            <a:ext cx="176100" cy="19383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3"/>
          <p:cNvCxnSpPr/>
          <p:nvPr/>
        </p:nvCxnSpPr>
        <p:spPr>
          <a:xfrm flipH="1" rot="10800000">
            <a:off x="4276200" y="2237775"/>
            <a:ext cx="1282200" cy="1890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there are 2 key pieces to this: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We’re stochastically transitioning from one state to the next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Transition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Still a Markov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Once we’re in a state, we observe some partial information/evidence about the state from our sensors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Sensor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9425"/>
            <a:ext cx="8839200" cy="100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758458"/>
            <a:ext cx="8839198" cy="109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security guard at a shopping mall loves his job so much that he never goes home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day, there can either be rain or no rain outside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the security guard never leaves the mall, he cannot directly observe the true state of the environment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However, on any given day, he can observe whether the majority of patrons bring an umbrella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gives an estimate as to whether it is raining outside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725" y="1072925"/>
            <a:ext cx="634055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/>
          <p:nvPr/>
        </p:nvSpPr>
        <p:spPr>
          <a:xfrm>
            <a:off x="3280500" y="1206900"/>
            <a:ext cx="2138400" cy="121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7792200" y="1017725"/>
            <a:ext cx="108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this?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1" name="Google Shape;151;p27"/>
          <p:cNvCxnSpPr>
            <a:stCxn id="150" idx="1"/>
            <a:endCxn id="152" idx="0"/>
          </p:cNvCxnSpPr>
          <p:nvPr/>
        </p:nvCxnSpPr>
        <p:spPr>
          <a:xfrm flipH="1">
            <a:off x="6673200" y="1387175"/>
            <a:ext cx="1119000" cy="1411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7"/>
          <p:cNvSpPr txBox="1"/>
          <p:nvPr/>
        </p:nvSpPr>
        <p:spPr>
          <a:xfrm>
            <a:off x="7792200" y="1814375"/>
            <a:ext cx="12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Sensor model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72000" y="2798225"/>
            <a:ext cx="108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is this?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72000" y="3594875"/>
            <a:ext cx="129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Transition</a:t>
            </a:r>
            <a:r>
              <a:rPr b="1" lang="en" sz="1800">
                <a:solidFill>
                  <a:schemeClr val="dk2"/>
                </a:solidFill>
              </a:rPr>
              <a:t> model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5603875" y="2798225"/>
            <a:ext cx="2138400" cy="121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7"/>
          <p:cNvCxnSpPr>
            <a:endCxn id="149" idx="2"/>
          </p:cNvCxnSpPr>
          <p:nvPr/>
        </p:nvCxnSpPr>
        <p:spPr>
          <a:xfrm flipH="1" rot="10800000">
            <a:off x="1190700" y="1814400"/>
            <a:ext cx="2089800" cy="1344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0625"/>
            <a:ext cx="8839200" cy="3539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Inference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past observations, </a:t>
            </a:r>
            <a:r>
              <a:rPr lang="en"/>
              <a:t>determine belief about the current state (probability distribution over all possible 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We’ll discuss this more next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Bayes filter lab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past observations, predict future distribution over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Explanations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Given the current state, determine the most likely sequence of events that resulted in this state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With Notation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inference task does the equation represent?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Prediction</a:t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050" y="2327275"/>
            <a:ext cx="68199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With Notation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inference task does the equation represent?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likely explanation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 rotWithShape="1">
          <a:blip r:embed="rId3">
            <a:alphaModFix/>
          </a:blip>
          <a:srcRect b="0" l="0" r="0" t="13171"/>
          <a:stretch/>
        </p:blipFill>
        <p:spPr>
          <a:xfrm>
            <a:off x="1733550" y="2397550"/>
            <a:ext cx="5676900" cy="9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With Notation</a:t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inference task does the equation represent?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Filtering</a:t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725" y="2346325"/>
            <a:ext cx="2876550" cy="102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Bayesian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Due Wednesday by 11:59 pm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Time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Tomorrow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Bayes filter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Skim the linked pdf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</a:t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10% of your grade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Opens Thursday at 12:05 am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Due March 8 by 11:59 pm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PDF file on LS contains the exam questions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i="1" lang="en" u="sng"/>
              <a:t>IGNORE QUESTION 15</a:t>
            </a:r>
            <a:endParaRPr b="1" i="1" u="sng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Answer the questions from the file on a separate piece of paper (or write them down digitally, etc.)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Once you have your answers, take the quiz on 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You will enter your answers in the quiz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You will only have 45 minutes (this is why it’s important to answer everything before taking the quiz)</a:t>
            </a:r>
            <a:endParaRPr/>
          </a:p>
          <a:p>
            <a:pPr indent="-310832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b="1" i="1" lang="en" u="sng"/>
              <a:t>YOU ONLY GET ONE CHANCE, NO REDOS</a:t>
            </a:r>
            <a:endParaRPr b="1" i="1" u="sng"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exam is open everything, except Jared and I will not give any answers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We can help clarify, if needed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