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2d6bacf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a2d6bacf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2d6bacfe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2d6bacf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6423f98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a6423f98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2d6bacfe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a2d6bacf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a2d6bacfe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a2d6bacfe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2d6bacfe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2d6bacfe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2d6bacfe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a2d6bacfe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2d6bacfe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a2d6bacfe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2d6bacfe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2d6bacfe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2d6bacfe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2d6bacfe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2d6bacfe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a2d6bacfe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a2d6bacfe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a2d6bacfe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2d6bacfe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a2d6bacfe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a2d6bacfe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a2d6bacfe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62128fe6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662128fe6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62128fe6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62128fe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62128fe6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62128fe6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662128fe6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662128fe6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a2d6bacfe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a2d6bacfe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2d6bacfe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a2d6bacfe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a6423f982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a6423f98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a6423f982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a6423f982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a2d6bacfe4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a2d6bacfe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2d6bacfe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a2d6bacfe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a2d6bacf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a2d6bacf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10" Type="http://schemas.openxmlformats.org/officeDocument/2006/relationships/image" Target="../media/image26.png"/><Relationship Id="rId9" Type="http://schemas.openxmlformats.org/officeDocument/2006/relationships/image" Target="../media/image20.png"/><Relationship Id="rId5" Type="http://schemas.openxmlformats.org/officeDocument/2006/relationships/image" Target="../media/image4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Fields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Planning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CECAC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CECAC3"/>
                </a:solidFill>
              </a:rPr>
              <a:t>Process of determining a sequence of actions for a robot to move from a start location to a goal location while avoiding obstacles</a:t>
            </a:r>
            <a:endParaRPr>
              <a:solidFill>
                <a:srgbClr val="CECAC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CECAC3"/>
                </a:solidFill>
              </a:rPr>
              <a:t>Essential for autonomous robots and drones to navigate through dynamic environments</a:t>
            </a:r>
            <a:endParaRPr>
              <a:solidFill>
                <a:srgbClr val="CECAC3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300" y="2717675"/>
            <a:ext cx="5601401" cy="20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Fields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CECAC3"/>
              </a:buClr>
              <a:buSzPts val="1800"/>
              <a:buChar char="●"/>
            </a:pPr>
            <a:r>
              <a:rPr lang="en">
                <a:solidFill>
                  <a:srgbClr val="CECAC3"/>
                </a:solidFill>
              </a:rPr>
              <a:t>Inspired by physics</a:t>
            </a:r>
            <a:endParaRPr>
              <a:solidFill>
                <a:srgbClr val="CECAC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400"/>
              <a:buChar char="○"/>
            </a:pPr>
            <a:r>
              <a:rPr lang="en">
                <a:solidFill>
                  <a:srgbClr val="CECAC3"/>
                </a:solidFill>
              </a:rPr>
              <a:t>Represent a way to guide a robot using attractive and repulsive forces</a:t>
            </a:r>
            <a:endParaRPr>
              <a:solidFill>
                <a:srgbClr val="CECAC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400"/>
              <a:buChar char="○"/>
            </a:pPr>
            <a:r>
              <a:rPr lang="en">
                <a:solidFill>
                  <a:srgbClr val="CECAC3"/>
                </a:solidFill>
              </a:rPr>
              <a:t>Minimize a cost function to find an optimal path based on attractive and repulsive forces</a:t>
            </a:r>
            <a:endParaRPr>
              <a:solidFill>
                <a:srgbClr val="CECAC3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1963" y="2167175"/>
            <a:ext cx="3060074" cy="286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Reflex vs. Utility Agents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potential fields to reach a goal while avoiding obstacles is an example of a </a:t>
            </a:r>
            <a:r>
              <a:rPr b="1" lang="en"/>
              <a:t>reflex</a:t>
            </a:r>
            <a:r>
              <a:rPr lang="en"/>
              <a:t> 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Reflex agents: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Pre-planning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Respond to environment percepts via a set of rules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be thought of as a policy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Utility agents: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 to optimize a utility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Ex: Doctor recommending cancer treatment (from last time)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 Space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CECAC3"/>
                </a:solidFill>
              </a:rPr>
              <a:t>Represents all possible positions and orientations of the robot</a:t>
            </a:r>
            <a:endParaRPr>
              <a:solidFill>
                <a:srgbClr val="CECAC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CECAC3"/>
                </a:solidFill>
              </a:rPr>
              <a:t>Divided into free space and obstacle space</a:t>
            </a:r>
            <a:endParaRPr>
              <a:solidFill>
                <a:srgbClr val="CECAC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1963" y="1932275"/>
            <a:ext cx="3060074" cy="286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Field Function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Maps elements in the configuration space to vectors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V</a:t>
            </a:r>
            <a:r>
              <a:rPr lang="en" sz="1800"/>
              <a:t>ectors of (x, y) position coordinates to direction vectors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mapped every position to a vector, we would get: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975" y="2264725"/>
            <a:ext cx="2876050" cy="28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Forces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Attractive and repulsive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Attractive: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elements like recharge stations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Repulsive: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Obstacles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Walls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Explosive mines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1573" y="1017725"/>
            <a:ext cx="3769500" cy="373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700" y="2116275"/>
            <a:ext cx="2764631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3575" y="2116275"/>
            <a:ext cx="36385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/>
          <p:nvPr/>
        </p:nvSpPr>
        <p:spPr>
          <a:xfrm>
            <a:off x="3751050" y="2307075"/>
            <a:ext cx="760800" cy="38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Attractive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3">
            <a:alphaModFix/>
          </a:blip>
          <a:srcRect b="10440" l="2104" r="4794" t="11991"/>
          <a:stretch/>
        </p:blipFill>
        <p:spPr>
          <a:xfrm>
            <a:off x="1950263" y="1017725"/>
            <a:ext cx="5480475" cy="8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11991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Distance: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2075250"/>
            <a:ext cx="44085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Theta (angle between position and goal)</a:t>
            </a:r>
            <a:r>
              <a:rPr lang="en"/>
              <a:t>:</a:t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4">
            <a:alphaModFix/>
          </a:blip>
          <a:srcRect b="4497" l="6356" r="8093" t="6097"/>
          <a:stretch/>
        </p:blipFill>
        <p:spPr>
          <a:xfrm>
            <a:off x="1049550" y="2571750"/>
            <a:ext cx="2932800" cy="24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 rotWithShape="1">
          <a:blip r:embed="rId5">
            <a:alphaModFix/>
          </a:blip>
          <a:srcRect b="13537" l="7209" r="8473" t="4763"/>
          <a:stretch/>
        </p:blipFill>
        <p:spPr>
          <a:xfrm>
            <a:off x="4976850" y="2527950"/>
            <a:ext cx="3298175" cy="240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/>
          <p:nvPr/>
        </p:nvSpPr>
        <p:spPr>
          <a:xfrm>
            <a:off x="4028850" y="3426525"/>
            <a:ext cx="948000" cy="47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Attractive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10440" l="2104" r="4794" t="11991"/>
          <a:stretch/>
        </p:blipFill>
        <p:spPr>
          <a:xfrm>
            <a:off x="1950263" y="1017725"/>
            <a:ext cx="5480475" cy="8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11991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Distance: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2075250"/>
            <a:ext cx="44085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Theta (angle between position and goal):</a:t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4">
            <a:alphaModFix/>
          </a:blip>
          <a:srcRect b="9857" l="0" r="4003" t="15576"/>
          <a:stretch/>
        </p:blipFill>
        <p:spPr>
          <a:xfrm>
            <a:off x="2816425" y="2922925"/>
            <a:ext cx="3511150" cy="8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Attractive (continued)</a:t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250" y="1196300"/>
            <a:ext cx="17526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 rotWithShape="1">
          <a:blip r:embed="rId4">
            <a:alphaModFix/>
          </a:blip>
          <a:srcRect b="14285" l="0" r="0" t="20063"/>
          <a:stretch/>
        </p:blipFill>
        <p:spPr>
          <a:xfrm>
            <a:off x="4665125" y="1273850"/>
            <a:ext cx="3124200" cy="5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50" y="2386550"/>
            <a:ext cx="32766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775" y="3869136"/>
            <a:ext cx="24955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 rotWithShape="1">
          <a:blip r:embed="rId7">
            <a:alphaModFix/>
          </a:blip>
          <a:srcRect b="13156" l="0" r="0" t="7729"/>
          <a:stretch/>
        </p:blipFill>
        <p:spPr>
          <a:xfrm>
            <a:off x="4005975" y="2117575"/>
            <a:ext cx="43053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25025" y="2737300"/>
            <a:ext cx="42672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 rotWithShape="1">
          <a:blip r:embed="rId9">
            <a:alphaModFix/>
          </a:blip>
          <a:srcRect b="12023" l="0" r="0" t="10258"/>
          <a:stretch/>
        </p:blipFill>
        <p:spPr>
          <a:xfrm>
            <a:off x="4627025" y="3691375"/>
            <a:ext cx="3200400" cy="5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 rotWithShape="1">
          <a:blip r:embed="rId10">
            <a:alphaModFix/>
          </a:blip>
          <a:srcRect b="9302" l="0" r="0" t="9024"/>
          <a:stretch/>
        </p:blipFill>
        <p:spPr>
          <a:xfrm>
            <a:off x="4702525" y="4331825"/>
            <a:ext cx="2912210" cy="5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Repulsive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 rotWithShape="1">
          <a:blip r:embed="rId3">
            <a:alphaModFix/>
          </a:blip>
          <a:srcRect b="8105" l="2360" r="4702" t="10844"/>
          <a:stretch/>
        </p:blipFill>
        <p:spPr>
          <a:xfrm>
            <a:off x="1836700" y="1451600"/>
            <a:ext cx="5470599" cy="84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 rotWithShape="1">
          <a:blip r:embed="rId4">
            <a:alphaModFix/>
          </a:blip>
          <a:srcRect b="7119" l="2412" r="1847" t="5946"/>
          <a:stretch/>
        </p:blipFill>
        <p:spPr>
          <a:xfrm>
            <a:off x="2913050" y="2734700"/>
            <a:ext cx="3337650" cy="79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Repulsive (continued)</a:t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250" y="1196300"/>
            <a:ext cx="17526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50" y="2611363"/>
            <a:ext cx="32766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775" y="4007411"/>
            <a:ext cx="24955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5"/>
          <p:cNvPicPr preferRelativeResize="0"/>
          <p:nvPr/>
        </p:nvPicPr>
        <p:blipFill rotWithShape="1">
          <a:blip r:embed="rId6">
            <a:alphaModFix/>
          </a:blip>
          <a:srcRect b="14283" l="0" r="0" t="16712"/>
          <a:stretch/>
        </p:blipFill>
        <p:spPr>
          <a:xfrm>
            <a:off x="4084975" y="1017725"/>
            <a:ext cx="4572000" cy="5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 rotWithShape="1">
          <a:blip r:embed="rId7">
            <a:alphaModFix/>
          </a:blip>
          <a:srcRect b="12193" l="0" r="0" t="14481"/>
          <a:stretch/>
        </p:blipFill>
        <p:spPr>
          <a:xfrm>
            <a:off x="4142125" y="1569825"/>
            <a:ext cx="4457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5"/>
          <p:cNvPicPr preferRelativeResize="0"/>
          <p:nvPr/>
        </p:nvPicPr>
        <p:blipFill rotWithShape="1">
          <a:blip r:embed="rId8">
            <a:alphaModFix/>
          </a:blip>
          <a:srcRect b="4397" l="0" r="0" t="14761"/>
          <a:stretch/>
        </p:blipFill>
        <p:spPr>
          <a:xfrm>
            <a:off x="3694450" y="2425388"/>
            <a:ext cx="5353050" cy="52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51600" y="2949000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 rotWithShape="1">
          <a:blip r:embed="rId10">
            <a:alphaModFix/>
          </a:blip>
          <a:srcRect b="0" l="0" r="0" t="11582"/>
          <a:stretch/>
        </p:blipFill>
        <p:spPr>
          <a:xfrm>
            <a:off x="4894600" y="4054425"/>
            <a:ext cx="295275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Forces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 the attractive and repulsive forces</a:t>
            </a:r>
            <a:endParaRPr/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125" y="2203450"/>
            <a:ext cx="33337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5650" y="1725175"/>
            <a:ext cx="3552700" cy="333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311700" y="1152475"/>
            <a:ext cx="8520600" cy="33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CECAC3"/>
              </a:buClr>
              <a:buSzPts val="1800"/>
              <a:buChar char="●"/>
            </a:pPr>
            <a:r>
              <a:rPr lang="en">
                <a:solidFill>
                  <a:srgbClr val="CECAC3"/>
                </a:solidFill>
              </a:rPr>
              <a:t>Initialize:</a:t>
            </a:r>
            <a:endParaRPr>
              <a:solidFill>
                <a:srgbClr val="CECAC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400"/>
              <a:buChar char="○"/>
            </a:pPr>
            <a:r>
              <a:rPr lang="en">
                <a:solidFill>
                  <a:srgbClr val="CECAC3"/>
                </a:solidFill>
              </a:rPr>
              <a:t>Set initial and goal positions</a:t>
            </a:r>
            <a:endParaRPr>
              <a:solidFill>
                <a:srgbClr val="CECAC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400"/>
              <a:buChar char="○"/>
            </a:pPr>
            <a:r>
              <a:rPr lang="en">
                <a:solidFill>
                  <a:srgbClr val="CECAC3"/>
                </a:solidFill>
              </a:rPr>
              <a:t>Define obstacle positions</a:t>
            </a:r>
            <a:endParaRPr>
              <a:solidFill>
                <a:srgbClr val="CECAC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800"/>
              <a:buChar char="●"/>
            </a:pPr>
            <a:r>
              <a:rPr lang="en">
                <a:solidFill>
                  <a:srgbClr val="CECAC3"/>
                </a:solidFill>
              </a:rPr>
              <a:t>Update Potential Fields:</a:t>
            </a:r>
            <a:endParaRPr>
              <a:solidFill>
                <a:srgbClr val="CECAC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400"/>
              <a:buChar char="○"/>
            </a:pPr>
            <a:r>
              <a:rPr lang="en">
                <a:solidFill>
                  <a:srgbClr val="CECAC3"/>
                </a:solidFill>
              </a:rPr>
              <a:t>Calculate attractive and repulsive potentials</a:t>
            </a:r>
            <a:endParaRPr>
              <a:solidFill>
                <a:srgbClr val="CECAC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800"/>
              <a:buChar char="●"/>
            </a:pPr>
            <a:r>
              <a:rPr lang="en">
                <a:solidFill>
                  <a:srgbClr val="CECAC3"/>
                </a:solidFill>
              </a:rPr>
              <a:t>Compute Total Force:</a:t>
            </a:r>
            <a:endParaRPr>
              <a:solidFill>
                <a:srgbClr val="CECAC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400"/>
              <a:buChar char="○"/>
            </a:pPr>
            <a:r>
              <a:rPr lang="en">
                <a:solidFill>
                  <a:srgbClr val="CECAC3"/>
                </a:solidFill>
              </a:rPr>
              <a:t>Sum attractive and repulsive forces</a:t>
            </a:r>
            <a:endParaRPr>
              <a:solidFill>
                <a:srgbClr val="CECAC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800"/>
              <a:buChar char="●"/>
            </a:pPr>
            <a:r>
              <a:rPr lang="en">
                <a:solidFill>
                  <a:srgbClr val="CECAC3"/>
                </a:solidFill>
              </a:rPr>
              <a:t>Update Robot's Position:</a:t>
            </a:r>
            <a:endParaRPr>
              <a:solidFill>
                <a:srgbClr val="CECAC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400"/>
              <a:buChar char="○"/>
            </a:pPr>
            <a:r>
              <a:rPr lang="en">
                <a:solidFill>
                  <a:srgbClr val="CECAC3"/>
                </a:solidFill>
              </a:rPr>
              <a:t>Move the robot in the direction of the total force</a:t>
            </a:r>
            <a:endParaRPr>
              <a:solidFill>
                <a:srgbClr val="CECAC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800"/>
              <a:buChar char="●"/>
            </a:pPr>
            <a:r>
              <a:rPr lang="en">
                <a:solidFill>
                  <a:srgbClr val="CECAC3"/>
                </a:solidFill>
              </a:rPr>
              <a:t>Repeat:</a:t>
            </a:r>
            <a:endParaRPr>
              <a:solidFill>
                <a:srgbClr val="CECAC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ECAC3"/>
              </a:buClr>
              <a:buSzPts val="1400"/>
              <a:buChar char="○"/>
            </a:pPr>
            <a:r>
              <a:rPr lang="en">
                <a:solidFill>
                  <a:srgbClr val="CECAC3"/>
                </a:solidFill>
              </a:rPr>
              <a:t>Iterate until the robot reaches the goal or a predetermined condition is met</a:t>
            </a:r>
            <a:endParaRPr/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604" y="918975"/>
            <a:ext cx="2777696" cy="150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</a:t>
            </a:r>
            <a:r>
              <a:rPr lang="en"/>
              <a:t> Potential Field</a:t>
            </a:r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8513" y="1017725"/>
            <a:ext cx="380698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Perpendicular Potential Field</a:t>
            </a: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8038" y="1017725"/>
            <a:ext cx="382793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Tangential Potential Field</a:t>
            </a:r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4475" y="1017725"/>
            <a:ext cx="383504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Potential Field</a:t>
            </a:r>
            <a:endParaRPr/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512" y="1017725"/>
            <a:ext cx="3862965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Relatively simple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to </a:t>
            </a:r>
            <a:r>
              <a:rPr lang="en"/>
              <a:t>implement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effective in static environments</a:t>
            </a:r>
            <a:endParaRPr/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599" y="2453250"/>
            <a:ext cx="3654427" cy="24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Repulsive forces might prevent robot from reaching goal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Ex: Goal is in between a narrow alleyway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Might get stuck in local minima</a:t>
            </a:r>
            <a:endParaRPr/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599" y="2453250"/>
            <a:ext cx="3654427" cy="24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Assumptions When Using a Reflex Agent</a:t>
            </a:r>
            <a:endParaRPr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Fully observable environment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Deterministic environment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if we decide to move 90 degrees to the right but we end up moving 85 degrees?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Single-step decisions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need to worry about long-term consequences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“Myopic”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learning/adaptation required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act quickly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When to Use a Reflex Agent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rgbClr val="D6D3CD"/>
              </a:buClr>
              <a:buSzPts val="1800"/>
              <a:buChar char="●"/>
            </a:pPr>
            <a:r>
              <a:rPr lang="en">
                <a:solidFill>
                  <a:srgbClr val="D6D3CD"/>
                </a:solidFill>
              </a:rPr>
              <a:t>The environment is fully observable</a:t>
            </a:r>
            <a:endParaRPr>
              <a:solidFill>
                <a:srgbClr val="D6D3C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6D3CD"/>
              </a:buClr>
              <a:buSzPts val="1800"/>
              <a:buChar char="●"/>
            </a:pPr>
            <a:r>
              <a:rPr lang="en">
                <a:solidFill>
                  <a:srgbClr val="D6D3CD"/>
                </a:solidFill>
              </a:rPr>
              <a:t>The environment is deterministic</a:t>
            </a:r>
            <a:endParaRPr>
              <a:solidFill>
                <a:srgbClr val="D6D3C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6D3CD"/>
              </a:buClr>
              <a:buSzPts val="1800"/>
              <a:buChar char="●"/>
            </a:pPr>
            <a:r>
              <a:rPr lang="en">
                <a:solidFill>
                  <a:srgbClr val="D6D3CD"/>
                </a:solidFill>
              </a:rPr>
              <a:t>There is little time for deliberation (i.e. we must act quickly/instantaneously)</a:t>
            </a:r>
            <a:endParaRPr>
              <a:solidFill>
                <a:srgbClr val="D6D3C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6D3CD"/>
              </a:buClr>
              <a:buSzPts val="1800"/>
              <a:buChar char="●"/>
            </a:pPr>
            <a:r>
              <a:rPr lang="en">
                <a:solidFill>
                  <a:srgbClr val="D6D3CD"/>
                </a:solidFill>
              </a:rPr>
              <a:t>No learning or adaptation is required</a:t>
            </a:r>
            <a:endParaRPr>
              <a:solidFill>
                <a:srgbClr val="D6D3CD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Demo</a:t>
            </a:r>
            <a:endParaRPr/>
          </a:p>
        </p:txBody>
      </p:sp>
      <p:pic>
        <p:nvPicPr>
          <p:cNvPr id="228" name="Google Shape;2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1975" y="1491075"/>
            <a:ext cx="2740049" cy="335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 lab due Friday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work with other people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Submit brief writeup (instructions on Learning Suite)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spend more than 3 to 4 hours on it (unless you want to)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240" name="Google Shape;24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Game playing with the minimax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Skim the linked Wikipedia article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