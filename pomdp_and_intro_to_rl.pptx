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6d4b8cf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6d4b8cf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6d4b8cf7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6d4b8cf7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6d4b8cf7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6d4b8cf7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6d4b8cf7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6d4b8cf7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6d4b8cf7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6d4b8cf7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6d6cd1cca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6d6cd1cca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6d4b8cf7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6d4b8cf7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6d4b8cf7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6d4b8cf7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6d6cd1cc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6d6cd1cc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6d6cd1cc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6d6cd1cc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6d6cd1cca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6d6cd1cc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6d6cd1cca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6d6cd1cca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6e27872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6e27872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6e27872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6e27872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6e27872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6e27872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6e27872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66e27872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6e27872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66e27872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7762fde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7762fde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6e278726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6e278726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6e27872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66e27872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6e27872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66e27872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6e278726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66e27872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6e27872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66e27872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6e27872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66e27872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66e27872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66e27872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6d6cd1cca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66d6cd1cca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6d6cd1cca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66d6cd1cca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POMDPs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Markov Decision Process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Stochastic sequential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of states 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of actions for each state s in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A(s)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Transition model P(s’ | s,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reaching state s’ after performing action a in state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this look familiar?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Bayes Filter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Reward function for specifying the reward for each state s in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MDP = (S, A, R, P)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Bellman Equation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75" y="1521825"/>
            <a:ext cx="78676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2330375" y="1882300"/>
            <a:ext cx="903300" cy="661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585925" y="1737500"/>
            <a:ext cx="4818600" cy="11445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625" y="3295725"/>
            <a:ext cx="397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First, we get an immediate reward for entering state 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929675" y="3295725"/>
            <a:ext cx="390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Then, we get a discounted future reward by following the optimal actions in any future states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2" name="Google Shape;72;p15"/>
          <p:cNvCxnSpPr>
            <a:endCxn id="68" idx="4"/>
          </p:cNvCxnSpPr>
          <p:nvPr/>
        </p:nvCxnSpPr>
        <p:spPr>
          <a:xfrm flipH="1" rot="10800000">
            <a:off x="2254625" y="2544100"/>
            <a:ext cx="527400" cy="765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5"/>
          <p:cNvCxnSpPr>
            <a:endCxn id="69" idx="4"/>
          </p:cNvCxnSpPr>
          <p:nvPr/>
        </p:nvCxnSpPr>
        <p:spPr>
          <a:xfrm rot="10800000">
            <a:off x="5995225" y="2882000"/>
            <a:ext cx="203100" cy="434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Value Iteration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some small value of epsilon (ex: 0.001)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Initialize the utility (U(s)) arbitrarily (usually something like 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the maximum U(s) change is larger than epsilon: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 the utility values: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9763" y="2529700"/>
            <a:ext cx="6564476" cy="12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3288775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 the maximum change in U(s)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POMDP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Partially-observable Markov decision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simple terms, it’s an MDP where we don’t know the exact state we’re in (MDP with an extra layer of uncertainty)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we get to make observations about where we might be at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does this sound like?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Regular MDP: (S, A, R, 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POMDP: (S, A, R, P, Z, 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S, A, R, P are the same as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Z: set of observations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O: observation model P(z | s, 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seeing observation z if we’re in state s and take action 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Crying baby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 = {hungry, full}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= {feed, ignore}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 = {crying, quiet}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1414275" y="2364925"/>
            <a:ext cx="661800" cy="6618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3298825" y="2364925"/>
            <a:ext cx="661800" cy="6618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7067925" y="2364925"/>
            <a:ext cx="661800" cy="6618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5183375" y="2364925"/>
            <a:ext cx="661800" cy="661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03" name="Google Shape;103;p19"/>
          <p:cNvCxnSpPr>
            <a:stCxn id="99" idx="5"/>
            <a:endCxn id="100" idx="3"/>
          </p:cNvCxnSpPr>
          <p:nvPr/>
        </p:nvCxnSpPr>
        <p:spPr>
          <a:xfrm>
            <a:off x="1979157" y="2929807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9"/>
          <p:cNvCxnSpPr>
            <a:stCxn id="100" idx="1"/>
            <a:endCxn id="99" idx="7"/>
          </p:cNvCxnSpPr>
          <p:nvPr/>
        </p:nvCxnSpPr>
        <p:spPr>
          <a:xfrm rot="10800000">
            <a:off x="1979143" y="2461843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9"/>
          <p:cNvCxnSpPr>
            <a:stCxn id="99" idx="4"/>
            <a:endCxn id="99" idx="2"/>
          </p:cNvCxnSpPr>
          <p:nvPr/>
        </p:nvCxnSpPr>
        <p:spPr>
          <a:xfrm flipH="1" rot="5400000">
            <a:off x="1414275" y="2695825"/>
            <a:ext cx="330900" cy="330900"/>
          </a:xfrm>
          <a:prstGeom prst="curvedConnector4">
            <a:avLst>
              <a:gd fmla="val -71963" name="adj1"/>
              <a:gd fmla="val 171963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>
            <a:stCxn id="101" idx="6"/>
            <a:endCxn id="101" idx="4"/>
          </p:cNvCxnSpPr>
          <p:nvPr/>
        </p:nvCxnSpPr>
        <p:spPr>
          <a:xfrm flipH="1">
            <a:off x="7398825" y="2695825"/>
            <a:ext cx="330900" cy="330900"/>
          </a:xfrm>
          <a:prstGeom prst="curvedConnector4">
            <a:avLst>
              <a:gd fmla="val -71963" name="adj1"/>
              <a:gd fmla="val 171963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9"/>
          <p:cNvCxnSpPr/>
          <p:nvPr/>
        </p:nvCxnSpPr>
        <p:spPr>
          <a:xfrm rot="10800000">
            <a:off x="1745175" y="2929800"/>
            <a:ext cx="0" cy="124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9"/>
          <p:cNvCxnSpPr/>
          <p:nvPr/>
        </p:nvCxnSpPr>
        <p:spPr>
          <a:xfrm rot="10800000">
            <a:off x="7398825" y="2918350"/>
            <a:ext cx="0" cy="124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9"/>
          <p:cNvCxnSpPr>
            <a:stCxn id="100" idx="5"/>
            <a:endCxn id="102" idx="3"/>
          </p:cNvCxnSpPr>
          <p:nvPr/>
        </p:nvCxnSpPr>
        <p:spPr>
          <a:xfrm>
            <a:off x="3863707" y="2929807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9"/>
          <p:cNvCxnSpPr>
            <a:stCxn id="102" idx="5"/>
            <a:endCxn id="101" idx="3"/>
          </p:cNvCxnSpPr>
          <p:nvPr/>
        </p:nvCxnSpPr>
        <p:spPr>
          <a:xfrm>
            <a:off x="5748257" y="2929807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9"/>
          <p:cNvCxnSpPr>
            <a:stCxn id="102" idx="1"/>
            <a:endCxn id="100" idx="7"/>
          </p:cNvCxnSpPr>
          <p:nvPr/>
        </p:nvCxnSpPr>
        <p:spPr>
          <a:xfrm rot="10800000">
            <a:off x="3863693" y="2461843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9"/>
          <p:cNvCxnSpPr>
            <a:stCxn id="101" idx="1"/>
            <a:endCxn id="102" idx="7"/>
          </p:cNvCxnSpPr>
          <p:nvPr/>
        </p:nvCxnSpPr>
        <p:spPr>
          <a:xfrm rot="10800000">
            <a:off x="5748243" y="2461843"/>
            <a:ext cx="1416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9"/>
          <p:cNvSpPr txBox="1"/>
          <p:nvPr/>
        </p:nvSpPr>
        <p:spPr>
          <a:xfrm>
            <a:off x="6256600" y="292980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⅓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372050" y="200015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⅓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5" name="Google Shape;115;p19"/>
          <p:cNvCxnSpPr>
            <a:endCxn id="99" idx="4"/>
          </p:cNvCxnSpPr>
          <p:nvPr/>
        </p:nvCxnSpPr>
        <p:spPr>
          <a:xfrm rot="10800000">
            <a:off x="1745175" y="3026725"/>
            <a:ext cx="3784500" cy="27600"/>
          </a:xfrm>
          <a:prstGeom prst="curvedConnector2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9"/>
          <p:cNvSpPr txBox="1"/>
          <p:nvPr/>
        </p:nvSpPr>
        <p:spPr>
          <a:xfrm>
            <a:off x="3429775" y="3054325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⅓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344900" y="2461850"/>
            <a:ext cx="4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10</a:t>
            </a:r>
            <a:r>
              <a:rPr lang="en" sz="1800">
                <a:solidFill>
                  <a:srgbClr val="38761D"/>
                </a:solidFill>
              </a:rPr>
              <a:t> 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229450" y="2000150"/>
            <a:ext cx="4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10 </a:t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Belief State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regular MDP, we want to find an optimal policy that maps states to actions in order to maximize expected reward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POMDP, we no longer know the exact state we’re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So, instead of mapping from states to actions, we want to map from belief states to 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Belief state: b(s) = probability of being in state 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 choose actions and make observations, our belief states will change (like what we saw in filtering)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Specifically, we want to use b, a, and z to calculate b’ (new belief state)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Mathematically, b’(s’) = P(s’ | b, a, z)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b’(s’)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b’(s’) = P(s’ | b, a, z), but how do we actually calculate P(s’ | b, a, z)?</a:t>
            </a:r>
            <a:endParaRPr/>
          </a:p>
        </p:txBody>
      </p:sp>
      <p:pic>
        <p:nvPicPr>
          <p:cNvPr id="131" name="Google Shape;131;p21" title="[89,89,89,&quot;https://www.codecogs.com/eqnedit.php?latex=%5Ceta%20%5Csum_%7Bs%7D%20P(s'%20%7C%20s%2C%20a)%20P(s)%20P(z%20%7C%20s'%2C%20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775" y="1890225"/>
            <a:ext cx="4716451" cy="8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2095925" y="1972125"/>
            <a:ext cx="448500" cy="461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3027425" y="1854700"/>
            <a:ext cx="1688700" cy="60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4634625" y="1813325"/>
            <a:ext cx="2391000" cy="6825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160025" y="3192275"/>
            <a:ext cx="25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Normalization constant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2509700" y="1751275"/>
            <a:ext cx="517800" cy="1013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1510250" y="3854900"/>
            <a:ext cx="251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Check every possible state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499800" y="3192275"/>
            <a:ext cx="19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Transition 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5706850" y="3854900"/>
            <a:ext cx="194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 level of uncertainty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0" name="Google Shape;140;p21"/>
          <p:cNvCxnSpPr>
            <a:endCxn id="132" idx="4"/>
          </p:cNvCxnSpPr>
          <p:nvPr/>
        </p:nvCxnSpPr>
        <p:spPr>
          <a:xfrm flipH="1" rot="10800000">
            <a:off x="1668575" y="2433825"/>
            <a:ext cx="651600" cy="792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1"/>
          <p:cNvCxnSpPr>
            <a:stCxn id="137" idx="0"/>
            <a:endCxn id="136" idx="4"/>
          </p:cNvCxnSpPr>
          <p:nvPr/>
        </p:nvCxnSpPr>
        <p:spPr>
          <a:xfrm rot="10800000">
            <a:off x="2768600" y="2765000"/>
            <a:ext cx="0" cy="1089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1"/>
          <p:cNvCxnSpPr>
            <a:endCxn id="133" idx="4"/>
          </p:cNvCxnSpPr>
          <p:nvPr/>
        </p:nvCxnSpPr>
        <p:spPr>
          <a:xfrm rot="10800000">
            <a:off x="3871775" y="2462800"/>
            <a:ext cx="285900" cy="777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1"/>
          <p:cNvCxnSpPr>
            <a:endCxn id="134" idx="4"/>
          </p:cNvCxnSpPr>
          <p:nvPr/>
        </p:nvCxnSpPr>
        <p:spPr>
          <a:xfrm rot="10800000">
            <a:off x="5830125" y="2495825"/>
            <a:ext cx="402600" cy="1351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b’(s’)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b’(s’) = P(s’ | b, a, z), but how do we actually calculate P(s’ | b, a, z)?</a:t>
            </a:r>
            <a:endParaRPr/>
          </a:p>
        </p:txBody>
      </p:sp>
      <p:pic>
        <p:nvPicPr>
          <p:cNvPr id="150" name="Google Shape;150;p22" title="[89,89,89,&quot;https://www.codecogs.com/eqnedit.php?latex=%5Ceta%20%5Csum_%7Bs%7D%20P(s'%20%7C%20s%2C%20a)%20P(s)%20P(z%20%7C%20s'%2C%20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775" y="1890225"/>
            <a:ext cx="4716451" cy="8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2095925" y="1972125"/>
            <a:ext cx="448500" cy="461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027425" y="1854700"/>
            <a:ext cx="1688700" cy="608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4634625" y="1813325"/>
            <a:ext cx="812400" cy="6825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5447025" y="1813325"/>
            <a:ext cx="1585500" cy="6825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2509700" y="1751275"/>
            <a:ext cx="517800" cy="1013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160025" y="3192275"/>
            <a:ext cx="25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Normalization constant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510250" y="3854900"/>
            <a:ext cx="251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Check every possible state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3499800" y="3192275"/>
            <a:ext cx="19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Transition model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flipH="1" rot="10800000">
            <a:off x="1668575" y="2433825"/>
            <a:ext cx="651600" cy="792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2"/>
          <p:cNvCxnSpPr>
            <a:stCxn id="157" idx="0"/>
          </p:cNvCxnSpPr>
          <p:nvPr/>
        </p:nvCxnSpPr>
        <p:spPr>
          <a:xfrm rot="10800000">
            <a:off x="2768600" y="2765000"/>
            <a:ext cx="0" cy="1089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2"/>
          <p:cNvCxnSpPr/>
          <p:nvPr/>
        </p:nvCxnSpPr>
        <p:spPr>
          <a:xfrm rot="10800000">
            <a:off x="3871650" y="2462650"/>
            <a:ext cx="285900" cy="777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2"/>
          <p:cNvSpPr txBox="1"/>
          <p:nvPr/>
        </p:nvSpPr>
        <p:spPr>
          <a:xfrm>
            <a:off x="5706850" y="3854900"/>
            <a:ext cx="168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b(s) (previous belief)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6727200" y="3192275"/>
            <a:ext cx="210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Observation model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4" name="Google Shape;164;p22"/>
          <p:cNvCxnSpPr>
            <a:endCxn id="153" idx="4"/>
          </p:cNvCxnSpPr>
          <p:nvPr/>
        </p:nvCxnSpPr>
        <p:spPr>
          <a:xfrm rot="10800000">
            <a:off x="5040825" y="2495825"/>
            <a:ext cx="881700" cy="1337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2"/>
          <p:cNvCxnSpPr>
            <a:endCxn id="154" idx="4"/>
          </p:cNvCxnSpPr>
          <p:nvPr/>
        </p:nvCxnSpPr>
        <p:spPr>
          <a:xfrm rot="10800000">
            <a:off x="6239775" y="2495825"/>
            <a:ext cx="944700" cy="737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b’(s’)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b’(s’) = P(s’ | b, a, z), but how do we actually calculate P(s’ | b, a, z)?</a:t>
            </a:r>
            <a:endParaRPr/>
          </a:p>
        </p:txBody>
      </p:sp>
      <p:pic>
        <p:nvPicPr>
          <p:cNvPr id="172" name="Google Shape;172;p23" title="[89,89,89,&quot;https://www.codecogs.com/eqnedit.php?latex=%5Ceta%20%5Csum_%7Bs%7D%20P(s'%20%7C%20s%2C%20a)%20P(s)%20P(z%20%7C%20s'%2C%20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775" y="1890225"/>
            <a:ext cx="4716451" cy="8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1771925" y="2971650"/>
            <a:ext cx="3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4" name="Google Shape;174;p23" title="[89,89,89,&quot;https://www.codecogs.com/eqnedit.php?latex=%5Ceta%20P(z%20%7C%20s'%2C%20a)%20%5Csum_%7Bs%7D%20P(s'%20%7C%20s%2C%20a)%20b(s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3775" y="2923350"/>
            <a:ext cx="4716448" cy="85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instead of states like we had with regular MDPs, we now are dealing with belief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What’s a problem with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an infinite amount of belief states (because probabilities can be any number between 0 and 1, i.e. uncountably infinite number of belief states)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So, if we have an infinite number of states, how do we run something like value iteration?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won’t explore these for this class, but here are a few approaches that try to estimate the best policy: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assume that the state with the highest b(s) is the current state we’re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our distribution of beliefs to select a state, assume that’s the state we’re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our beliefs and Q values from value iteration to calculate the expected utility of each action (algorithm 1 on value iteration lab)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Problem: actions might differ depending on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Neural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Input: vector of probabilities for each state (belief vector)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Output: action I should take or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Output: vector of q values for each action -&gt; pick the argmax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Piecewise linear and convex value iteration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Several others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Reinforcement Learning</a:t>
            </a:r>
            <a:endParaRPr/>
          </a:p>
        </p:txBody>
      </p:sp>
      <p:sp>
        <p:nvSpPr>
          <p:cNvPr id="192" name="Google Shape;19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reinforcement learning (RL)?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rewards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terminology of Psychology, we say reinforcements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 target outputs are not given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Reward is given either immediately or some amount of time steps after an action is chosen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Learns a mapping from states to actions by trial-and-error interactions with an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this mapping?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Policy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for RL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traditional supervised learning, we use several examples to train a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labels for our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We could use supervised learning to train a model to play chess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a key problem with this?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space of all possible states is about 10 to the 40th power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Our model will come across states it has never seen before and not know what to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provides a better solution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RL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 we model environments for a reinforcement learning problem?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MDP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assume the agent can observe the state it’s currently in, so </a:t>
            </a:r>
            <a:r>
              <a:rPr i="1" lang="en"/>
              <a:t>not</a:t>
            </a:r>
            <a:r>
              <a:rPr lang="en"/>
              <a:t> a POMDP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However, while RL doesn’t directly handle partially-observable states, we can still use it to approximate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Differs from solving an MDP (what we’ve discussed so far in class):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Agent usually doesn’t know the transition model or reward function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There’s one caveat that we’ll talk about next time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other words, the agent isn’t given an MDP to solve, it’s in the MDP and must learn an optimal policy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Rewards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Rewards</a:t>
            </a:r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receives rewards for actions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Rewards can be 0 or very small (actions in intermediate 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Rewards are usually larger for terminal states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self-driving car reaching its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would like to learn the best policy to maximize discounted cumulative reward: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rewards, where future rewards are discounted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Non-zero intermediate rewards can make learning easier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Pong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all we have are terminal rewards (rewards received for reaching a terminal state), then learning is usually more difficult: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Chess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Called “sparse rewards”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701" y="1325425"/>
            <a:ext cx="5346600" cy="33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Assignment Problem</a:t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have sparse rewards, it becomes difficult to recognize which action(s) in a sequence of actions actually led to the reward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“Sample inefficient”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means that each data sample (in this case, sequences of rewards) doesn’t tell us much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 consequence, we need to play a lot longer in order to learn something useful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</a:t>
            </a:r>
            <a:endParaRPr/>
          </a:p>
        </p:txBody>
      </p:sp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311700" y="1152475"/>
            <a:ext cx="8520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policy?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Mapping from state to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terms of RL, this will basically be the same thing, except now our policy will give us probabilities for actions: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3" title="[89,89,89,&quot;https://www.codecogs.com/eqnedit.php?latex=%5Cpi(s%2C%20a)%20%3D%20P(a%20%7C%20s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575" y="2574325"/>
            <a:ext cx="3418401" cy="5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311700" y="3256075"/>
            <a:ext cx="85206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Exploration vs. exploitation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Exploration vs. Exploitation</a:t>
            </a:r>
            <a:endParaRPr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RL (and a lot of machine learning problems), there exists this idea of exploration vs. exploitation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 (hint: we briefly discussed it when we went over MCTS)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simple terms, it’s the idea that if we continually exploit our existing knowledge, we might miss out on better opportunities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should periodically explore other options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might lead to better outcomes (rare, but why we try it)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might lead to worse outcomes (more likely)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the weekend and you want to go out to eat somewhere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There’s a restaurant you know you like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There’s a restaurant you’ve heard about but have never tried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“Exploit” your knowledge of the </a:t>
            </a:r>
            <a:r>
              <a:rPr lang="en"/>
              <a:t>restaurant</a:t>
            </a:r>
            <a:r>
              <a:rPr lang="en"/>
              <a:t> you like and guarantee you’ll have a positive experience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“Explore” the other </a:t>
            </a:r>
            <a:r>
              <a:rPr lang="en"/>
              <a:t>restaurant</a:t>
            </a:r>
            <a:r>
              <a:rPr lang="en"/>
              <a:t> with the possibility of receiving a better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However, you might have a worse experience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Function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311700" y="1152475"/>
            <a:ext cx="85206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that tells us the value of being in state s if we follow our policy: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311700" y="2399375"/>
            <a:ext cx="85206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plain English: how much my discounted cumulative reward will be if I start in state s and execute policy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there an expected value?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policy now contains randomness (exploit vs. explore)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6" title="[89,89,89,&quot;https://www.codecogs.com/eqnedit.php?latex=V_%7B%5Cpi%7D(s)%20%3D%20%5Cmathbb%7BE%7D(%5Csum_t%20%5Cgamma%5Et%20R(s_t)%20%7C%20s_0%20%3D%20s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700" y="1738500"/>
            <a:ext cx="3925381" cy="6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RL</a:t>
            </a:r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There’s a caveat that I mentioned earlier, and we’ll talk about it next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Model-free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talk about these next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Learning</a:t>
            </a:r>
            <a:endParaRPr/>
          </a:p>
        </p:txBody>
      </p:sp>
      <p:sp>
        <p:nvSpPr>
          <p:cNvPr id="268" name="Google Shape;26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Q learning?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several RL approaches, we try to learn the value function and then use that to update our policy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 learning involves Q values, and Q values are viewed as a richer representation than just regular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Q value?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Q(s, a) is the quality of taking </a:t>
            </a:r>
            <a:r>
              <a:rPr lang="en"/>
              <a:t>action</a:t>
            </a:r>
            <a:r>
              <a:rPr lang="en"/>
              <a:t> a in state 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V(s) is the value of being in a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So, with Q values, we’re more granular because we’re dealing with individual actions and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discuss this more next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iteration lab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80" name="Google Shape;28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on reinforcement learning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