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a20c80b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a20c80b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a20c80b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a20c80b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a20c80b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6a20c80b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a2c62d2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a2c62d2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2c62d2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2c62d2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a2c62d29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a2c62d29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a2c62d29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a2c62d29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a2c62d29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6a2c62d29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a2c62d29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a2c62d29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a2c62d29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6a2c62d29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6a2c62d29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6a2c62d29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a2c62d29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6a2c62d29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6a2c62d29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6a2c62d29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a2c62d29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6a2c62d29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a2c62d29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a2c62d29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a2c62d29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a2c62d29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a2c62d292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a2c62d292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a2c62d29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a2c62d29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a2c62d29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a2c62d29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a2c62d29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6a2c62d29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a2c62d29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6a2c62d29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a2c62d29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6a2c62d29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6a2c62d29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6a2c62d29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6a2c62d292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6a2c62d29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6a2c62d292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6a2c62d29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6a2c62d292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6a2c62d292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6a2c62d292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6a2c62d292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6a2c62d292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6a2c62d292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6a2c62d292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6a2c62d292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6a2c62d292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6a2c62d292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6a2c62d292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6a2c62d292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6a2c62d292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6a2c62d292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6a2c62d292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6a2c62d292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6a2c62d292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6a2c62d292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6a2c62d292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6a2c62d29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6a2c62d292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6a2c62d292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6a2c62d292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6a2c62d292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6a2c62d292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6a2c62d292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6a2c62d292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6a2c62d292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6a2c62d292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6a2c62d292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6a2c62d292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6a2c62d292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6a2c62d292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6a2c62d292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6a2c62d292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6a2c62d292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6a2c62d292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6a2c62d292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6a2c62d292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6a2c62d292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6a2c62d292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6a2c62d292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6a2c62d292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6a2c62d292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6a2c62d292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6a2c62d292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6a2c62d292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6a2c62d292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6a2c62d292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6a2c62d292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6a2c62d292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26a2c62d292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6a2c62d292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6a2c62d292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6a2c62d292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6a2c62d292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6a2c62d292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6a2c62d292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6a2c62d292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6a2c62d292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6a2c62d292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6a2c62d292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6a2c62d292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6a2c62d292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6a2c62d292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6a2c62d292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6a2c62d292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6a2c62d292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6a2c62d292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6a2c62d292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bdbf7152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bdbf7152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bdbf7152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bdbf7152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bdbf71529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bdbf71529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bdbf71529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bdbf71529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bdbf71529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bdbf71529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bdbf71529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bdbf71529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bdbf71529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bdbf71529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bdbf71529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bdbf71529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bdbf71529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bdbf71529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bdbf71529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bdbf71529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bdbf71529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2bdbf71529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bdbf71529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bdbf71529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bdbf71529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bdbf71529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bdbf71529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bdbf71529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2bdbf71529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bdbf71529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bdbf71529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bdbf71529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bdbf71529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bdbf71529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bdbf715293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bdbf71529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bdbf71529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bdbf71529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bdbf715293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bdbf715293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bdbf715293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bdbf71529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bdbf715293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bdbf71529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Search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get to a destination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problems dealing with route planning, but other applications exist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We’ve talked about related principles, so a lot of this will look/sound familiar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100" y="1017725"/>
            <a:ext cx="4229804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>
            <a:stCxn id="69" idx="3"/>
          </p:cNvCxnSpPr>
          <p:nvPr/>
        </p:nvCxnSpPr>
        <p:spPr>
          <a:xfrm>
            <a:off x="1749600" y="3462750"/>
            <a:ext cx="2446200" cy="43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5"/>
          <p:cNvSpPr txBox="1"/>
          <p:nvPr/>
        </p:nvSpPr>
        <p:spPr>
          <a:xfrm>
            <a:off x="405000" y="3231900"/>
            <a:ext cx="134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We’re here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6917400" y="1620000"/>
            <a:ext cx="195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do we get to Heber City?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1" name="Google Shape;71;p15"/>
          <p:cNvCxnSpPr>
            <a:stCxn id="70" idx="1"/>
          </p:cNvCxnSpPr>
          <p:nvPr/>
        </p:nvCxnSpPr>
        <p:spPr>
          <a:xfrm rot="10800000">
            <a:off x="5767200" y="1944150"/>
            <a:ext cx="1150200" cy="45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Goal-based: agent must select a sequence of actions to reach a goal state (usually a destination)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find an answer?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know which answer is the best?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900" y="1121525"/>
            <a:ext cx="3072673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900" y="1121525"/>
            <a:ext cx="319755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Main Types of Search Problems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Deterministic 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randomness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Nondeterministic 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Randomness - need to deal with it (usually through probability)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Won’t discuss it, but feel free to look into it if you’re curious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 of Deterministic Search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sequence of actions that reach goal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Environment: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Observable (the agent has a map and can see where it’s located; one of the reasons it’s common for navigation tasks)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Discrete (finite number of actions to take from each state)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Deterministic (agent knows exactly what will happen when an action is taken)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a Search Problem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of known actions an agent can take at any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Knowledge of how actions lead to new states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this sound familiar?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Transition model (Bayes filter)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way to check if a state is a goal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cost function for taking actions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 we’re now dealing with cost (instead of utility), so we will focus on minimization instead of maximization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is natural/common for search problems because we usually deal with path lengths (and want to find the shortest path to a goal)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assume that the cost c of any action is greater than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 is it necessary to assume that cost is larger than 0?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Avoid paths with infinite length (especially something like a loop)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a path becomes arbitrarily long, its cost also becomes arbitrarily large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Driving in Romania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162" y="1113425"/>
            <a:ext cx="5941673" cy="3527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/>
        </p:nvSpPr>
        <p:spPr>
          <a:xfrm>
            <a:off x="7796250" y="1385100"/>
            <a:ext cx="11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Actions?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7630200" y="2093850"/>
            <a:ext cx="145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Transitions?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7711200" y="2802600"/>
            <a:ext cx="12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Goal test?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7630200" y="3511350"/>
            <a:ext cx="145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Action cost?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0" y="1976400"/>
            <a:ext cx="167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Goal: drive from Arad to Bucharest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0" name="Google Shape;120;p22"/>
          <p:cNvCxnSpPr>
            <a:stCxn id="119" idx="3"/>
          </p:cNvCxnSpPr>
          <p:nvPr/>
        </p:nvCxnSpPr>
        <p:spPr>
          <a:xfrm flipH="1" rot="10800000">
            <a:off x="1676700" y="2195100"/>
            <a:ext cx="405000" cy="289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2"/>
          <p:cNvCxnSpPr>
            <a:stCxn id="119" idx="3"/>
          </p:cNvCxnSpPr>
          <p:nvPr/>
        </p:nvCxnSpPr>
        <p:spPr>
          <a:xfrm>
            <a:off x="1676700" y="2484300"/>
            <a:ext cx="3450600" cy="126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Solutions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looking for a solution to a search problem, an agent should: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Look for solutions to the problem (a solution is better than nothing)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track of path cost (ideally, we would like an optimal solution)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Optimal solution: solution with the smallest path cost of all other possible solutions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Depending on the problem: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might not be a solution, or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might be multiple optimal solutions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what we saw with game playing algorithms (minimax, alpha-beta pruning, MCTS, etc.), a common approach is to model a search problem as a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Nodes: states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Edges: actions from one state that lead to another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solution is a path connecting the initial node (represents the initial state) to a goal node (represent the goal state)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Solution cost: sum of the edges in the path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we can have multiple nodes that represent the same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because there might be multiple paths that go through the same state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3700" y="1213025"/>
            <a:ext cx="4956599" cy="35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174" y="1104975"/>
            <a:ext cx="4473650" cy="36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130275" y="1701450"/>
            <a:ext cx="2328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 solution (maybe the goal is on an island, etc.)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 the Tree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similar to what we discussed with game trees, it is usually not feasible to build a complete representation of the state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Google maps did this, it would probably take hours, days, or maybe even years to get a route to your destination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problem solver should construct a solution by exploring a small portion of the graph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Performance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Completeness: will the approach find a solution (if one exists)?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Optimality: will the approach find the optimal solution?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complexity: how long?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Space complexity: how much memory?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Factors that can influence these metrics: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Branching factor: b (maximum number of successors of any node)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Depth of the solution: d (number of steps down the tree to find the closest goal)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path length: m (longest path in the tree)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Process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Choose node we haven’t checked yet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See if it is a goal, if yes, we are done, return path to this state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If not, look at all actions we can do from this state, and add the resulting states to our set of unexplored states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FF"/>
                </a:highlight>
              </a:rPr>
              <a:t>The set of unexplored states is often either called the “fringe” or “frontier”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FF"/>
                </a:highlight>
              </a:rPr>
              <a:t>An element of the fringe is a leaf node in the tree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FF"/>
                </a:highlight>
              </a:rPr>
              <a:t>Common data structures:</a:t>
            </a:r>
            <a:endParaRPr>
              <a:highlight>
                <a:srgbClr val="FFFFFF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highlight>
                  <a:srgbClr val="FFFFFF"/>
                </a:highlight>
              </a:rPr>
              <a:t>FIFO: Breadth-first search</a:t>
            </a:r>
            <a:endParaRPr>
              <a:highlight>
                <a:srgbClr val="FFFFFF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highlight>
                  <a:srgbClr val="FFFFFF"/>
                </a:highlight>
              </a:rPr>
              <a:t>LIFO: Depth-first search</a:t>
            </a:r>
            <a:endParaRPr>
              <a:highlight>
                <a:srgbClr val="FFFFFF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highlight>
                  <a:srgbClr val="FFFFFF"/>
                </a:highlight>
              </a:rPr>
              <a:t>Priority queue: nodes with lowest cost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Repeat until you find the goal or run out of states to check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Note: this is a simple approach because we are not taking cost into consideration (we’re just trying to find a path)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revisit the driving in Romania example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use FIFO (breadth-first search)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6" name="Google Shape;176;p31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1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[A]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84" name="Google Shape;184;p32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85" name="Google Shape;185;p32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86" name="Google Shape;186;p32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87" name="Google Shape;187;p32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188" name="Google Shape;188;p32"/>
          <p:cNvCxnSpPr>
            <a:stCxn id="184" idx="3"/>
            <a:endCxn id="185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32"/>
          <p:cNvCxnSpPr>
            <a:stCxn id="184" idx="4"/>
            <a:endCxn id="186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32"/>
          <p:cNvCxnSpPr>
            <a:stCxn id="184" idx="5"/>
            <a:endCxn id="187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2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[T, S, Z]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98" name="Google Shape;198;p33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200" name="Google Shape;200;p33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01" name="Google Shape;201;p33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202" name="Google Shape;202;p33"/>
          <p:cNvCxnSpPr>
            <a:stCxn id="198" idx="3"/>
            <a:endCxn id="199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33"/>
          <p:cNvCxnSpPr>
            <a:stCxn id="198" idx="4"/>
            <a:endCxn id="200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33"/>
          <p:cNvCxnSpPr>
            <a:stCxn id="198" idx="5"/>
            <a:endCxn id="201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33"/>
          <p:cNvSpPr/>
          <p:nvPr/>
        </p:nvSpPr>
        <p:spPr>
          <a:xfrm>
            <a:off x="14001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cxnSp>
        <p:nvCxnSpPr>
          <p:cNvPr id="206" name="Google Shape;206;p33"/>
          <p:cNvCxnSpPr>
            <a:stCxn id="199" idx="3"/>
            <a:endCxn id="205" idx="0"/>
          </p:cNvCxnSpPr>
          <p:nvPr/>
        </p:nvCxnSpPr>
        <p:spPr>
          <a:xfrm flipH="1">
            <a:off x="1677221" y="2579355"/>
            <a:ext cx="1501200" cy="251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7" name="Google Shape;20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3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[S, Z, L]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14" name="Google Shape;214;p34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15" name="Google Shape;215;p34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216" name="Google Shape;216;p34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17" name="Google Shape;217;p34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218" name="Google Shape;218;p34"/>
          <p:cNvCxnSpPr>
            <a:stCxn id="214" idx="3"/>
            <a:endCxn id="215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4"/>
          <p:cNvCxnSpPr>
            <a:stCxn id="214" idx="4"/>
            <a:endCxn id="216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4"/>
          <p:cNvCxnSpPr>
            <a:stCxn id="214" idx="5"/>
            <a:endCxn id="217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34"/>
          <p:cNvSpPr/>
          <p:nvPr/>
        </p:nvSpPr>
        <p:spPr>
          <a:xfrm>
            <a:off x="14001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cxnSp>
        <p:nvCxnSpPr>
          <p:cNvPr id="222" name="Google Shape;222;p34"/>
          <p:cNvCxnSpPr>
            <a:stCxn id="215" idx="3"/>
            <a:endCxn id="221" idx="0"/>
          </p:cNvCxnSpPr>
          <p:nvPr/>
        </p:nvCxnSpPr>
        <p:spPr>
          <a:xfrm flipH="1">
            <a:off x="1677221" y="2579355"/>
            <a:ext cx="1501200" cy="251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34"/>
          <p:cNvSpPr/>
          <p:nvPr/>
        </p:nvSpPr>
        <p:spPr>
          <a:xfrm>
            <a:off x="3459638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24" name="Google Shape;224;p34"/>
          <p:cNvSpPr/>
          <p:nvPr/>
        </p:nvSpPr>
        <p:spPr>
          <a:xfrm>
            <a:off x="4294950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225" name="Google Shape;225;p34"/>
          <p:cNvSpPr/>
          <p:nvPr/>
        </p:nvSpPr>
        <p:spPr>
          <a:xfrm>
            <a:off x="51302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26" name="Google Shape;226;p34"/>
          <p:cNvCxnSpPr>
            <a:stCxn id="216" idx="4"/>
            <a:endCxn id="224" idx="0"/>
          </p:cNvCxnSpPr>
          <p:nvPr/>
        </p:nvCxnSpPr>
        <p:spPr>
          <a:xfrm>
            <a:off x="4572000" y="2634625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34"/>
          <p:cNvCxnSpPr>
            <a:stCxn id="216" idx="3"/>
            <a:endCxn id="223" idx="0"/>
          </p:cNvCxnSpPr>
          <p:nvPr/>
        </p:nvCxnSpPr>
        <p:spPr>
          <a:xfrm flipH="1">
            <a:off x="3736796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34"/>
          <p:cNvCxnSpPr>
            <a:stCxn id="216" idx="5"/>
            <a:endCxn id="225" idx="0"/>
          </p:cNvCxnSpPr>
          <p:nvPr/>
        </p:nvCxnSpPr>
        <p:spPr>
          <a:xfrm>
            <a:off x="4767904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9" name="Google Shape;2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4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[Z, L, O, R, F]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36" name="Google Shape;236;p35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37" name="Google Shape;237;p35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238" name="Google Shape;238;p35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39" name="Google Shape;239;p35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240" name="Google Shape;240;p35"/>
          <p:cNvCxnSpPr>
            <a:stCxn id="236" idx="3"/>
            <a:endCxn id="237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35"/>
          <p:cNvCxnSpPr>
            <a:stCxn id="236" idx="4"/>
            <a:endCxn id="238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35"/>
          <p:cNvCxnSpPr>
            <a:stCxn id="236" idx="5"/>
            <a:endCxn id="239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35"/>
          <p:cNvSpPr/>
          <p:nvPr/>
        </p:nvSpPr>
        <p:spPr>
          <a:xfrm>
            <a:off x="14001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cxnSp>
        <p:nvCxnSpPr>
          <p:cNvPr id="244" name="Google Shape;244;p35"/>
          <p:cNvCxnSpPr>
            <a:stCxn id="237" idx="3"/>
            <a:endCxn id="243" idx="0"/>
          </p:cNvCxnSpPr>
          <p:nvPr/>
        </p:nvCxnSpPr>
        <p:spPr>
          <a:xfrm flipH="1">
            <a:off x="1677221" y="2579355"/>
            <a:ext cx="1501200" cy="251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35"/>
          <p:cNvSpPr/>
          <p:nvPr/>
        </p:nvSpPr>
        <p:spPr>
          <a:xfrm>
            <a:off x="3459638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4294950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247" name="Google Shape;247;p35"/>
          <p:cNvSpPr/>
          <p:nvPr/>
        </p:nvSpPr>
        <p:spPr>
          <a:xfrm>
            <a:off x="51302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48" name="Google Shape;248;p35"/>
          <p:cNvCxnSpPr>
            <a:stCxn id="238" idx="4"/>
            <a:endCxn id="246" idx="0"/>
          </p:cNvCxnSpPr>
          <p:nvPr/>
        </p:nvCxnSpPr>
        <p:spPr>
          <a:xfrm>
            <a:off x="4572000" y="2634625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35"/>
          <p:cNvCxnSpPr>
            <a:stCxn id="238" idx="3"/>
            <a:endCxn id="245" idx="0"/>
          </p:cNvCxnSpPr>
          <p:nvPr/>
        </p:nvCxnSpPr>
        <p:spPr>
          <a:xfrm flipH="1">
            <a:off x="3736796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35"/>
          <p:cNvCxnSpPr>
            <a:stCxn id="238" idx="5"/>
            <a:endCxn id="247" idx="0"/>
          </p:cNvCxnSpPr>
          <p:nvPr/>
        </p:nvCxnSpPr>
        <p:spPr>
          <a:xfrm>
            <a:off x="4767904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35"/>
          <p:cNvSpPr/>
          <p:nvPr/>
        </p:nvSpPr>
        <p:spPr>
          <a:xfrm>
            <a:off x="7189738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252" name="Google Shape;252;p35"/>
          <p:cNvCxnSpPr>
            <a:stCxn id="239" idx="5"/>
            <a:endCxn id="251" idx="0"/>
          </p:cNvCxnSpPr>
          <p:nvPr/>
        </p:nvCxnSpPr>
        <p:spPr>
          <a:xfrm>
            <a:off x="5965579" y="2550755"/>
            <a:ext cx="1501200" cy="250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3" name="Google Shape;2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[L, O, R, F, O]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60" name="Google Shape;260;p36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61" name="Google Shape;261;p36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262" name="Google Shape;262;p36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63" name="Google Shape;263;p36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264" name="Google Shape;264;p36"/>
          <p:cNvCxnSpPr>
            <a:stCxn id="260" idx="3"/>
            <a:endCxn id="261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36"/>
          <p:cNvCxnSpPr>
            <a:stCxn id="260" idx="4"/>
            <a:endCxn id="262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36"/>
          <p:cNvCxnSpPr>
            <a:stCxn id="260" idx="5"/>
            <a:endCxn id="263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36"/>
          <p:cNvSpPr/>
          <p:nvPr/>
        </p:nvSpPr>
        <p:spPr>
          <a:xfrm>
            <a:off x="14001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cxnSp>
        <p:nvCxnSpPr>
          <p:cNvPr id="268" name="Google Shape;268;p36"/>
          <p:cNvCxnSpPr>
            <a:stCxn id="261" idx="3"/>
            <a:endCxn id="267" idx="0"/>
          </p:cNvCxnSpPr>
          <p:nvPr/>
        </p:nvCxnSpPr>
        <p:spPr>
          <a:xfrm flipH="1">
            <a:off x="1677221" y="2579355"/>
            <a:ext cx="1501200" cy="251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36"/>
          <p:cNvSpPr/>
          <p:nvPr/>
        </p:nvSpPr>
        <p:spPr>
          <a:xfrm>
            <a:off x="3459638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70" name="Google Shape;270;p36"/>
          <p:cNvSpPr/>
          <p:nvPr/>
        </p:nvSpPr>
        <p:spPr>
          <a:xfrm>
            <a:off x="4294950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271" name="Google Shape;271;p36"/>
          <p:cNvSpPr/>
          <p:nvPr/>
        </p:nvSpPr>
        <p:spPr>
          <a:xfrm>
            <a:off x="51302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72" name="Google Shape;272;p36"/>
          <p:cNvCxnSpPr>
            <a:stCxn id="262" idx="4"/>
            <a:endCxn id="270" idx="0"/>
          </p:cNvCxnSpPr>
          <p:nvPr/>
        </p:nvCxnSpPr>
        <p:spPr>
          <a:xfrm>
            <a:off x="4572000" y="2634625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6"/>
          <p:cNvCxnSpPr>
            <a:stCxn id="262" idx="3"/>
            <a:endCxn id="269" idx="0"/>
          </p:cNvCxnSpPr>
          <p:nvPr/>
        </p:nvCxnSpPr>
        <p:spPr>
          <a:xfrm flipH="1">
            <a:off x="3736796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6"/>
          <p:cNvCxnSpPr>
            <a:stCxn id="262" idx="5"/>
            <a:endCxn id="271" idx="0"/>
          </p:cNvCxnSpPr>
          <p:nvPr/>
        </p:nvCxnSpPr>
        <p:spPr>
          <a:xfrm>
            <a:off x="4767904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36"/>
          <p:cNvSpPr/>
          <p:nvPr/>
        </p:nvSpPr>
        <p:spPr>
          <a:xfrm>
            <a:off x="7189738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276" name="Google Shape;276;p36"/>
          <p:cNvCxnSpPr>
            <a:stCxn id="263" idx="5"/>
            <a:endCxn id="275" idx="0"/>
          </p:cNvCxnSpPr>
          <p:nvPr/>
        </p:nvCxnSpPr>
        <p:spPr>
          <a:xfrm>
            <a:off x="5965579" y="2550755"/>
            <a:ext cx="1501200" cy="250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6"/>
          <p:cNvSpPr/>
          <p:nvPr/>
        </p:nvSpPr>
        <p:spPr>
          <a:xfrm>
            <a:off x="1400150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278" name="Google Shape;278;p36"/>
          <p:cNvCxnSpPr>
            <a:stCxn id="267" idx="4"/>
            <a:endCxn id="277" idx="0"/>
          </p:cNvCxnSpPr>
          <p:nvPr/>
        </p:nvCxnSpPr>
        <p:spPr>
          <a:xfrm>
            <a:off x="1677200" y="3403725"/>
            <a:ext cx="0" cy="275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9" name="Google Shape;2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6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[O, R, F, O, M]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86" name="Google Shape;286;p37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87" name="Google Shape;287;p37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288" name="Google Shape;288;p37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290" name="Google Shape;290;p37"/>
          <p:cNvCxnSpPr>
            <a:stCxn id="286" idx="3"/>
            <a:endCxn id="287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7"/>
          <p:cNvCxnSpPr>
            <a:stCxn id="286" idx="4"/>
            <a:endCxn id="288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37"/>
          <p:cNvCxnSpPr>
            <a:stCxn id="286" idx="5"/>
            <a:endCxn id="289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37"/>
          <p:cNvSpPr/>
          <p:nvPr/>
        </p:nvSpPr>
        <p:spPr>
          <a:xfrm>
            <a:off x="14001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cxnSp>
        <p:nvCxnSpPr>
          <p:cNvPr id="294" name="Google Shape;294;p37"/>
          <p:cNvCxnSpPr>
            <a:stCxn id="287" idx="3"/>
            <a:endCxn id="293" idx="0"/>
          </p:cNvCxnSpPr>
          <p:nvPr/>
        </p:nvCxnSpPr>
        <p:spPr>
          <a:xfrm flipH="1">
            <a:off x="1677221" y="2579355"/>
            <a:ext cx="1501200" cy="251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37"/>
          <p:cNvSpPr/>
          <p:nvPr/>
        </p:nvSpPr>
        <p:spPr>
          <a:xfrm>
            <a:off x="3459638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96" name="Google Shape;296;p37"/>
          <p:cNvSpPr/>
          <p:nvPr/>
        </p:nvSpPr>
        <p:spPr>
          <a:xfrm>
            <a:off x="4294950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297" name="Google Shape;297;p37"/>
          <p:cNvSpPr/>
          <p:nvPr/>
        </p:nvSpPr>
        <p:spPr>
          <a:xfrm>
            <a:off x="51302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98" name="Google Shape;298;p37"/>
          <p:cNvCxnSpPr>
            <a:stCxn id="288" idx="4"/>
            <a:endCxn id="296" idx="0"/>
          </p:cNvCxnSpPr>
          <p:nvPr/>
        </p:nvCxnSpPr>
        <p:spPr>
          <a:xfrm>
            <a:off x="4572000" y="2634625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7"/>
          <p:cNvCxnSpPr>
            <a:stCxn id="288" idx="3"/>
            <a:endCxn id="295" idx="0"/>
          </p:cNvCxnSpPr>
          <p:nvPr/>
        </p:nvCxnSpPr>
        <p:spPr>
          <a:xfrm flipH="1">
            <a:off x="3736796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7"/>
          <p:cNvCxnSpPr>
            <a:stCxn id="288" idx="5"/>
            <a:endCxn id="297" idx="0"/>
          </p:cNvCxnSpPr>
          <p:nvPr/>
        </p:nvCxnSpPr>
        <p:spPr>
          <a:xfrm>
            <a:off x="4767904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37"/>
          <p:cNvSpPr/>
          <p:nvPr/>
        </p:nvSpPr>
        <p:spPr>
          <a:xfrm>
            <a:off x="7189738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302" name="Google Shape;302;p37"/>
          <p:cNvCxnSpPr>
            <a:stCxn id="289" idx="5"/>
            <a:endCxn id="301" idx="0"/>
          </p:cNvCxnSpPr>
          <p:nvPr/>
        </p:nvCxnSpPr>
        <p:spPr>
          <a:xfrm>
            <a:off x="5965579" y="2550755"/>
            <a:ext cx="1501200" cy="250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37"/>
          <p:cNvSpPr/>
          <p:nvPr/>
        </p:nvSpPr>
        <p:spPr>
          <a:xfrm>
            <a:off x="1400150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304" name="Google Shape;304;p37"/>
          <p:cNvCxnSpPr>
            <a:stCxn id="293" idx="4"/>
            <a:endCxn id="303" idx="0"/>
          </p:cNvCxnSpPr>
          <p:nvPr/>
        </p:nvCxnSpPr>
        <p:spPr>
          <a:xfrm>
            <a:off x="1677200" y="3403725"/>
            <a:ext cx="0" cy="275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5" name="Google Shape;3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/>
          <p:nvPr/>
        </p:nvSpPr>
        <p:spPr>
          <a:xfrm>
            <a:off x="2543175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307" name="Google Shape;307;p37"/>
          <p:cNvCxnSpPr>
            <a:stCxn id="295" idx="3"/>
            <a:endCxn id="306" idx="0"/>
          </p:cNvCxnSpPr>
          <p:nvPr/>
        </p:nvCxnSpPr>
        <p:spPr>
          <a:xfrm flipH="1">
            <a:off x="2820184" y="3319855"/>
            <a:ext cx="720600" cy="359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37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[R, F, O, M, Z]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14" name="Google Shape;314;p38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15" name="Google Shape;315;p38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316" name="Google Shape;316;p38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17" name="Google Shape;317;p38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318" name="Google Shape;318;p38"/>
          <p:cNvCxnSpPr>
            <a:stCxn id="314" idx="3"/>
            <a:endCxn id="315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8"/>
          <p:cNvCxnSpPr>
            <a:stCxn id="314" idx="4"/>
            <a:endCxn id="316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38"/>
          <p:cNvCxnSpPr>
            <a:stCxn id="314" idx="5"/>
            <a:endCxn id="317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38"/>
          <p:cNvSpPr/>
          <p:nvPr/>
        </p:nvSpPr>
        <p:spPr>
          <a:xfrm>
            <a:off x="14001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cxnSp>
        <p:nvCxnSpPr>
          <p:cNvPr id="322" name="Google Shape;322;p38"/>
          <p:cNvCxnSpPr>
            <a:stCxn id="315" idx="3"/>
            <a:endCxn id="321" idx="0"/>
          </p:cNvCxnSpPr>
          <p:nvPr/>
        </p:nvCxnSpPr>
        <p:spPr>
          <a:xfrm flipH="1">
            <a:off x="1677221" y="2579355"/>
            <a:ext cx="1501200" cy="251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38"/>
          <p:cNvSpPr/>
          <p:nvPr/>
        </p:nvSpPr>
        <p:spPr>
          <a:xfrm>
            <a:off x="3459638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324" name="Google Shape;324;p38"/>
          <p:cNvSpPr/>
          <p:nvPr/>
        </p:nvSpPr>
        <p:spPr>
          <a:xfrm>
            <a:off x="4294950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325" name="Google Shape;325;p38"/>
          <p:cNvSpPr/>
          <p:nvPr/>
        </p:nvSpPr>
        <p:spPr>
          <a:xfrm>
            <a:off x="51302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26" name="Google Shape;326;p38"/>
          <p:cNvCxnSpPr>
            <a:stCxn id="316" idx="4"/>
            <a:endCxn id="324" idx="0"/>
          </p:cNvCxnSpPr>
          <p:nvPr/>
        </p:nvCxnSpPr>
        <p:spPr>
          <a:xfrm>
            <a:off x="4572000" y="2634625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38"/>
          <p:cNvCxnSpPr>
            <a:stCxn id="316" idx="3"/>
            <a:endCxn id="323" idx="0"/>
          </p:cNvCxnSpPr>
          <p:nvPr/>
        </p:nvCxnSpPr>
        <p:spPr>
          <a:xfrm flipH="1">
            <a:off x="3736796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38"/>
          <p:cNvCxnSpPr>
            <a:stCxn id="316" idx="5"/>
            <a:endCxn id="325" idx="0"/>
          </p:cNvCxnSpPr>
          <p:nvPr/>
        </p:nvCxnSpPr>
        <p:spPr>
          <a:xfrm>
            <a:off x="4767904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8"/>
          <p:cNvSpPr/>
          <p:nvPr/>
        </p:nvSpPr>
        <p:spPr>
          <a:xfrm>
            <a:off x="7189738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330" name="Google Shape;330;p38"/>
          <p:cNvCxnSpPr>
            <a:stCxn id="317" idx="5"/>
            <a:endCxn id="329" idx="0"/>
          </p:cNvCxnSpPr>
          <p:nvPr/>
        </p:nvCxnSpPr>
        <p:spPr>
          <a:xfrm>
            <a:off x="5965579" y="2550755"/>
            <a:ext cx="1501200" cy="250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38"/>
          <p:cNvSpPr/>
          <p:nvPr/>
        </p:nvSpPr>
        <p:spPr>
          <a:xfrm>
            <a:off x="1400150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332" name="Google Shape;332;p38"/>
          <p:cNvCxnSpPr>
            <a:stCxn id="321" idx="4"/>
            <a:endCxn id="331" idx="0"/>
          </p:cNvCxnSpPr>
          <p:nvPr/>
        </p:nvCxnSpPr>
        <p:spPr>
          <a:xfrm>
            <a:off x="1677200" y="3403725"/>
            <a:ext cx="0" cy="275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3" name="Google Shape;33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/>
          <p:nvPr/>
        </p:nvSpPr>
        <p:spPr>
          <a:xfrm>
            <a:off x="2543175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335" name="Google Shape;335;p38"/>
          <p:cNvCxnSpPr>
            <a:stCxn id="323" idx="3"/>
            <a:endCxn id="334" idx="0"/>
          </p:cNvCxnSpPr>
          <p:nvPr/>
        </p:nvCxnSpPr>
        <p:spPr>
          <a:xfrm flipH="1">
            <a:off x="2820184" y="3319855"/>
            <a:ext cx="720600" cy="359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38"/>
          <p:cNvSpPr/>
          <p:nvPr/>
        </p:nvSpPr>
        <p:spPr>
          <a:xfrm>
            <a:off x="3459650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  <p:sp>
        <p:nvSpPr>
          <p:cNvPr id="337" name="Google Shape;337;p38"/>
          <p:cNvSpPr/>
          <p:nvPr/>
        </p:nvSpPr>
        <p:spPr>
          <a:xfrm>
            <a:off x="4294950" y="3678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338" name="Google Shape;338;p38"/>
          <p:cNvCxnSpPr>
            <a:stCxn id="324" idx="3"/>
            <a:endCxn id="336" idx="0"/>
          </p:cNvCxnSpPr>
          <p:nvPr/>
        </p:nvCxnSpPr>
        <p:spPr>
          <a:xfrm flipH="1">
            <a:off x="3736796" y="3290155"/>
            <a:ext cx="639300" cy="389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38"/>
          <p:cNvCxnSpPr>
            <a:stCxn id="324" idx="4"/>
            <a:endCxn id="337" idx="0"/>
          </p:cNvCxnSpPr>
          <p:nvPr/>
        </p:nvCxnSpPr>
        <p:spPr>
          <a:xfrm>
            <a:off x="4572000" y="33740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38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[F, O, M, Z, P, C]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46" name="Google Shape;346;p39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47" name="Google Shape;347;p39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348" name="Google Shape;348;p39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49" name="Google Shape;349;p39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350" name="Google Shape;350;p39"/>
          <p:cNvCxnSpPr>
            <a:stCxn id="346" idx="3"/>
            <a:endCxn id="347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39"/>
          <p:cNvCxnSpPr>
            <a:stCxn id="346" idx="4"/>
            <a:endCxn id="348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39"/>
          <p:cNvCxnSpPr>
            <a:stCxn id="346" idx="5"/>
            <a:endCxn id="349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39"/>
          <p:cNvSpPr/>
          <p:nvPr/>
        </p:nvSpPr>
        <p:spPr>
          <a:xfrm>
            <a:off x="14001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cxnSp>
        <p:nvCxnSpPr>
          <p:cNvPr id="354" name="Google Shape;354;p39"/>
          <p:cNvCxnSpPr>
            <a:stCxn id="347" idx="3"/>
            <a:endCxn id="353" idx="0"/>
          </p:cNvCxnSpPr>
          <p:nvPr/>
        </p:nvCxnSpPr>
        <p:spPr>
          <a:xfrm flipH="1">
            <a:off x="1677221" y="2579355"/>
            <a:ext cx="1501200" cy="251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" name="Google Shape;355;p39"/>
          <p:cNvSpPr/>
          <p:nvPr/>
        </p:nvSpPr>
        <p:spPr>
          <a:xfrm>
            <a:off x="3459638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356" name="Google Shape;356;p39"/>
          <p:cNvSpPr/>
          <p:nvPr/>
        </p:nvSpPr>
        <p:spPr>
          <a:xfrm>
            <a:off x="4294950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357" name="Google Shape;357;p39"/>
          <p:cNvSpPr/>
          <p:nvPr/>
        </p:nvSpPr>
        <p:spPr>
          <a:xfrm>
            <a:off x="51302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58" name="Google Shape;358;p39"/>
          <p:cNvCxnSpPr>
            <a:stCxn id="348" idx="4"/>
            <a:endCxn id="356" idx="0"/>
          </p:cNvCxnSpPr>
          <p:nvPr/>
        </p:nvCxnSpPr>
        <p:spPr>
          <a:xfrm>
            <a:off x="4572000" y="2634625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39"/>
          <p:cNvCxnSpPr>
            <a:stCxn id="348" idx="3"/>
            <a:endCxn id="355" idx="0"/>
          </p:cNvCxnSpPr>
          <p:nvPr/>
        </p:nvCxnSpPr>
        <p:spPr>
          <a:xfrm flipH="1">
            <a:off x="3736796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39"/>
          <p:cNvCxnSpPr>
            <a:stCxn id="348" idx="5"/>
            <a:endCxn id="357" idx="0"/>
          </p:cNvCxnSpPr>
          <p:nvPr/>
        </p:nvCxnSpPr>
        <p:spPr>
          <a:xfrm>
            <a:off x="4767904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" name="Google Shape;361;p39"/>
          <p:cNvSpPr/>
          <p:nvPr/>
        </p:nvSpPr>
        <p:spPr>
          <a:xfrm>
            <a:off x="7189738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362" name="Google Shape;362;p39"/>
          <p:cNvCxnSpPr>
            <a:stCxn id="349" idx="5"/>
            <a:endCxn id="361" idx="0"/>
          </p:cNvCxnSpPr>
          <p:nvPr/>
        </p:nvCxnSpPr>
        <p:spPr>
          <a:xfrm>
            <a:off x="5965579" y="2550755"/>
            <a:ext cx="1501200" cy="250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39"/>
          <p:cNvSpPr/>
          <p:nvPr/>
        </p:nvSpPr>
        <p:spPr>
          <a:xfrm>
            <a:off x="1400150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364" name="Google Shape;364;p39"/>
          <p:cNvCxnSpPr>
            <a:stCxn id="353" idx="4"/>
            <a:endCxn id="363" idx="0"/>
          </p:cNvCxnSpPr>
          <p:nvPr/>
        </p:nvCxnSpPr>
        <p:spPr>
          <a:xfrm>
            <a:off x="1677200" y="3403725"/>
            <a:ext cx="0" cy="275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65" name="Google Shape;3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9"/>
          <p:cNvSpPr/>
          <p:nvPr/>
        </p:nvSpPr>
        <p:spPr>
          <a:xfrm>
            <a:off x="2543175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367" name="Google Shape;367;p39"/>
          <p:cNvCxnSpPr>
            <a:stCxn id="355" idx="3"/>
            <a:endCxn id="366" idx="0"/>
          </p:cNvCxnSpPr>
          <p:nvPr/>
        </p:nvCxnSpPr>
        <p:spPr>
          <a:xfrm flipH="1">
            <a:off x="2820184" y="3319855"/>
            <a:ext cx="720600" cy="359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" name="Google Shape;368;p39"/>
          <p:cNvSpPr/>
          <p:nvPr/>
        </p:nvSpPr>
        <p:spPr>
          <a:xfrm>
            <a:off x="3459650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  <p:sp>
        <p:nvSpPr>
          <p:cNvPr id="369" name="Google Shape;369;p39"/>
          <p:cNvSpPr/>
          <p:nvPr/>
        </p:nvSpPr>
        <p:spPr>
          <a:xfrm>
            <a:off x="4294950" y="3678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370" name="Google Shape;370;p39"/>
          <p:cNvCxnSpPr>
            <a:stCxn id="356" idx="3"/>
            <a:endCxn id="368" idx="0"/>
          </p:cNvCxnSpPr>
          <p:nvPr/>
        </p:nvCxnSpPr>
        <p:spPr>
          <a:xfrm flipH="1">
            <a:off x="3736796" y="3290155"/>
            <a:ext cx="639300" cy="389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39"/>
          <p:cNvCxnSpPr>
            <a:stCxn id="356" idx="4"/>
            <a:endCxn id="369" idx="0"/>
          </p:cNvCxnSpPr>
          <p:nvPr/>
        </p:nvCxnSpPr>
        <p:spPr>
          <a:xfrm>
            <a:off x="4572000" y="33740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39"/>
          <p:cNvSpPr/>
          <p:nvPr/>
        </p:nvSpPr>
        <p:spPr>
          <a:xfrm>
            <a:off x="5130250" y="36788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73" name="Google Shape;373;p39"/>
          <p:cNvCxnSpPr>
            <a:stCxn id="357" idx="4"/>
            <a:endCxn id="372" idx="0"/>
          </p:cNvCxnSpPr>
          <p:nvPr/>
        </p:nvCxnSpPr>
        <p:spPr>
          <a:xfrm>
            <a:off x="5407300" y="3403725"/>
            <a:ext cx="0" cy="27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39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[O, M, Z, P, C, B]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80" name="Google Shape;380;p40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81" name="Google Shape;381;p40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382" name="Google Shape;382;p40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83" name="Google Shape;383;p40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384" name="Google Shape;384;p40"/>
          <p:cNvCxnSpPr>
            <a:stCxn id="380" idx="3"/>
            <a:endCxn id="381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40"/>
          <p:cNvCxnSpPr>
            <a:stCxn id="380" idx="4"/>
            <a:endCxn id="382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40"/>
          <p:cNvCxnSpPr>
            <a:stCxn id="380" idx="5"/>
            <a:endCxn id="383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40"/>
          <p:cNvSpPr/>
          <p:nvPr/>
        </p:nvSpPr>
        <p:spPr>
          <a:xfrm>
            <a:off x="14001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cxnSp>
        <p:nvCxnSpPr>
          <p:cNvPr id="388" name="Google Shape;388;p40"/>
          <p:cNvCxnSpPr>
            <a:stCxn id="381" idx="3"/>
            <a:endCxn id="387" idx="0"/>
          </p:cNvCxnSpPr>
          <p:nvPr/>
        </p:nvCxnSpPr>
        <p:spPr>
          <a:xfrm flipH="1">
            <a:off x="1677221" y="2579355"/>
            <a:ext cx="1501200" cy="251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40"/>
          <p:cNvSpPr/>
          <p:nvPr/>
        </p:nvSpPr>
        <p:spPr>
          <a:xfrm>
            <a:off x="3459638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390" name="Google Shape;390;p40"/>
          <p:cNvSpPr/>
          <p:nvPr/>
        </p:nvSpPr>
        <p:spPr>
          <a:xfrm>
            <a:off x="4294950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391" name="Google Shape;391;p40"/>
          <p:cNvSpPr/>
          <p:nvPr/>
        </p:nvSpPr>
        <p:spPr>
          <a:xfrm>
            <a:off x="5130250" y="28310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92" name="Google Shape;392;p40"/>
          <p:cNvCxnSpPr>
            <a:stCxn id="382" idx="4"/>
            <a:endCxn id="390" idx="0"/>
          </p:cNvCxnSpPr>
          <p:nvPr/>
        </p:nvCxnSpPr>
        <p:spPr>
          <a:xfrm>
            <a:off x="4572000" y="2634625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40"/>
          <p:cNvCxnSpPr>
            <a:stCxn id="382" idx="3"/>
            <a:endCxn id="389" idx="0"/>
          </p:cNvCxnSpPr>
          <p:nvPr/>
        </p:nvCxnSpPr>
        <p:spPr>
          <a:xfrm flipH="1">
            <a:off x="3736796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40"/>
          <p:cNvCxnSpPr>
            <a:stCxn id="382" idx="5"/>
            <a:endCxn id="391" idx="0"/>
          </p:cNvCxnSpPr>
          <p:nvPr/>
        </p:nvCxnSpPr>
        <p:spPr>
          <a:xfrm>
            <a:off x="4767904" y="2550755"/>
            <a:ext cx="639300" cy="280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40"/>
          <p:cNvSpPr/>
          <p:nvPr/>
        </p:nvSpPr>
        <p:spPr>
          <a:xfrm>
            <a:off x="7189738" y="28013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396" name="Google Shape;396;p40"/>
          <p:cNvCxnSpPr>
            <a:stCxn id="383" idx="5"/>
            <a:endCxn id="395" idx="0"/>
          </p:cNvCxnSpPr>
          <p:nvPr/>
        </p:nvCxnSpPr>
        <p:spPr>
          <a:xfrm>
            <a:off x="5965579" y="2550755"/>
            <a:ext cx="1501200" cy="250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40"/>
          <p:cNvSpPr/>
          <p:nvPr/>
        </p:nvSpPr>
        <p:spPr>
          <a:xfrm>
            <a:off x="1400150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398" name="Google Shape;398;p40"/>
          <p:cNvCxnSpPr>
            <a:stCxn id="387" idx="4"/>
            <a:endCxn id="397" idx="0"/>
          </p:cNvCxnSpPr>
          <p:nvPr/>
        </p:nvCxnSpPr>
        <p:spPr>
          <a:xfrm>
            <a:off x="1677200" y="3403725"/>
            <a:ext cx="0" cy="275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99" name="Google Shape;39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0"/>
          <p:cNvSpPr/>
          <p:nvPr/>
        </p:nvSpPr>
        <p:spPr>
          <a:xfrm>
            <a:off x="2543175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401" name="Google Shape;401;p40"/>
          <p:cNvCxnSpPr>
            <a:stCxn id="389" idx="3"/>
            <a:endCxn id="400" idx="0"/>
          </p:cNvCxnSpPr>
          <p:nvPr/>
        </p:nvCxnSpPr>
        <p:spPr>
          <a:xfrm flipH="1">
            <a:off x="2820184" y="3319855"/>
            <a:ext cx="720600" cy="359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40"/>
          <p:cNvSpPr/>
          <p:nvPr/>
        </p:nvSpPr>
        <p:spPr>
          <a:xfrm>
            <a:off x="3459650" y="36791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  <p:sp>
        <p:nvSpPr>
          <p:cNvPr id="403" name="Google Shape;403;p40"/>
          <p:cNvSpPr/>
          <p:nvPr/>
        </p:nvSpPr>
        <p:spPr>
          <a:xfrm>
            <a:off x="4294950" y="3678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404" name="Google Shape;404;p40"/>
          <p:cNvCxnSpPr>
            <a:stCxn id="390" idx="3"/>
            <a:endCxn id="402" idx="0"/>
          </p:cNvCxnSpPr>
          <p:nvPr/>
        </p:nvCxnSpPr>
        <p:spPr>
          <a:xfrm flipH="1">
            <a:off x="3736796" y="3290155"/>
            <a:ext cx="639300" cy="389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40"/>
          <p:cNvCxnSpPr>
            <a:stCxn id="390" idx="4"/>
            <a:endCxn id="403" idx="0"/>
          </p:cNvCxnSpPr>
          <p:nvPr/>
        </p:nvCxnSpPr>
        <p:spPr>
          <a:xfrm>
            <a:off x="4572000" y="33740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40"/>
          <p:cNvSpPr/>
          <p:nvPr/>
        </p:nvSpPr>
        <p:spPr>
          <a:xfrm>
            <a:off x="5130250" y="36788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407" name="Google Shape;407;p40"/>
          <p:cNvCxnSpPr>
            <a:stCxn id="391" idx="4"/>
            <a:endCxn id="406" idx="0"/>
          </p:cNvCxnSpPr>
          <p:nvPr/>
        </p:nvCxnSpPr>
        <p:spPr>
          <a:xfrm>
            <a:off x="5407300" y="3403725"/>
            <a:ext cx="0" cy="275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of Example</a:t>
            </a:r>
            <a:endParaRPr/>
          </a:p>
        </p:txBody>
      </p:sp>
      <p:sp>
        <p:nvSpPr>
          <p:cNvPr id="413" name="Google Shape;41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used breadth-first search and assumed all actions have the same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Completeness?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Yes, as long as b is finite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Optimality?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Yes, since we’re just traversing the tree level by level and we assume each action has the same cost, the first solution path we find will be optimal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complexity: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+ b^2 + b^3 + … + b^d = O(b^(d + 1))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Space complexity: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time complexity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node must stay in memory because it’s either in the fringe or the ancestor of a fringe node (it’s in the tree)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of Example</a:t>
            </a:r>
            <a:endParaRPr/>
          </a:p>
        </p:txBody>
      </p:sp>
      <p:sp>
        <p:nvSpPr>
          <p:cNvPr id="419" name="Google Shape;41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Probably the biggest downside to breadth-first search is memory:</a:t>
            </a:r>
            <a:endParaRPr/>
          </a:p>
        </p:txBody>
      </p:sp>
      <p:pic>
        <p:nvPicPr>
          <p:cNvPr id="420" name="Google Shape;42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462" y="1742575"/>
            <a:ext cx="6303074" cy="29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Depth-First Search</a:t>
            </a:r>
            <a:endParaRPr/>
          </a:p>
        </p:txBody>
      </p:sp>
      <p:sp>
        <p:nvSpPr>
          <p:cNvPr id="426" name="Google Shape;42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still assume that every action has the same cost, how do things change with depth-first search?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also assume that we iterate from right to left (otherwise the example will take too long)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32" name="Google Shape;432;p44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pic>
        <p:nvPicPr>
          <p:cNvPr id="433" name="Google Shape;43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4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[A]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40" name="Google Shape;440;p45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41" name="Google Shape;441;p45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442" name="Google Shape;442;p45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443" name="Google Shape;443;p45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444" name="Google Shape;444;p45"/>
          <p:cNvCxnSpPr>
            <a:stCxn id="440" idx="3"/>
            <a:endCxn id="441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45"/>
          <p:cNvCxnSpPr>
            <a:stCxn id="440" idx="4"/>
            <a:endCxn id="442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45"/>
          <p:cNvCxnSpPr>
            <a:stCxn id="440" idx="5"/>
            <a:endCxn id="443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7" name="Google Shape;4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5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[Z, S, T]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54" name="Google Shape;454;p46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55" name="Google Shape;455;p46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456" name="Google Shape;456;p46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457" name="Google Shape;457;p46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458" name="Google Shape;458;p46"/>
          <p:cNvCxnSpPr>
            <a:stCxn id="454" idx="3"/>
            <a:endCxn id="455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46"/>
          <p:cNvCxnSpPr>
            <a:stCxn id="454" idx="4"/>
            <a:endCxn id="456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46"/>
          <p:cNvCxnSpPr>
            <a:stCxn id="454" idx="5"/>
            <a:endCxn id="457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61" name="Google Shape;46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6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[O, S, T]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3" name="Google Shape;463;p46"/>
          <p:cNvSpPr/>
          <p:nvPr/>
        </p:nvSpPr>
        <p:spPr>
          <a:xfrm>
            <a:off x="5492625" y="2918350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464" name="Google Shape;464;p46"/>
          <p:cNvCxnSpPr>
            <a:stCxn id="457" idx="4"/>
            <a:endCxn id="463" idx="0"/>
          </p:cNvCxnSpPr>
          <p:nvPr/>
        </p:nvCxnSpPr>
        <p:spPr>
          <a:xfrm>
            <a:off x="5769675" y="2634625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70" name="Google Shape;470;p47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71" name="Google Shape;471;p47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472" name="Google Shape;472;p47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473" name="Google Shape;473;p47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474" name="Google Shape;474;p47"/>
          <p:cNvCxnSpPr>
            <a:stCxn id="470" idx="3"/>
            <a:endCxn id="471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47"/>
          <p:cNvCxnSpPr>
            <a:stCxn id="470" idx="4"/>
            <a:endCxn id="472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47"/>
          <p:cNvCxnSpPr>
            <a:stCxn id="470" idx="5"/>
            <a:endCxn id="473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77" name="Google Shape;4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7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[S, S, T]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9" name="Google Shape;479;p47"/>
          <p:cNvSpPr/>
          <p:nvPr/>
        </p:nvSpPr>
        <p:spPr>
          <a:xfrm>
            <a:off x="5492625" y="2918350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480" name="Google Shape;480;p47"/>
          <p:cNvCxnSpPr>
            <a:stCxn id="473" idx="4"/>
            <a:endCxn id="479" idx="0"/>
          </p:cNvCxnSpPr>
          <p:nvPr/>
        </p:nvCxnSpPr>
        <p:spPr>
          <a:xfrm>
            <a:off x="5769675" y="2634625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1" name="Google Shape;481;p47"/>
          <p:cNvSpPr/>
          <p:nvPr/>
        </p:nvSpPr>
        <p:spPr>
          <a:xfrm>
            <a:off x="54926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482" name="Google Shape;482;p47"/>
          <p:cNvCxnSpPr/>
          <p:nvPr/>
        </p:nvCxnSpPr>
        <p:spPr>
          <a:xfrm>
            <a:off x="5769675" y="3491050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88" name="Google Shape;488;p48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89" name="Google Shape;489;p48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490" name="Google Shape;490;p48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491" name="Google Shape;491;p48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492" name="Google Shape;492;p48"/>
          <p:cNvCxnSpPr>
            <a:stCxn id="488" idx="3"/>
            <a:endCxn id="489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48"/>
          <p:cNvCxnSpPr>
            <a:stCxn id="488" idx="4"/>
            <a:endCxn id="490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p48"/>
          <p:cNvCxnSpPr>
            <a:stCxn id="488" idx="5"/>
            <a:endCxn id="491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5" name="Google Shape;49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8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[F, R, S, T]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5492625" y="2918350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498" name="Google Shape;498;p48"/>
          <p:cNvCxnSpPr>
            <a:stCxn id="491" idx="4"/>
            <a:endCxn id="497" idx="0"/>
          </p:cNvCxnSpPr>
          <p:nvPr/>
        </p:nvCxnSpPr>
        <p:spPr>
          <a:xfrm>
            <a:off x="5769675" y="2634625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48"/>
          <p:cNvSpPr/>
          <p:nvPr/>
        </p:nvSpPr>
        <p:spPr>
          <a:xfrm>
            <a:off x="54926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500" name="Google Shape;500;p48"/>
          <p:cNvCxnSpPr/>
          <p:nvPr/>
        </p:nvCxnSpPr>
        <p:spPr>
          <a:xfrm>
            <a:off x="5769675" y="3491050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1" name="Google Shape;501;p48"/>
          <p:cNvSpPr/>
          <p:nvPr/>
        </p:nvSpPr>
        <p:spPr>
          <a:xfrm>
            <a:off x="4423200" y="3239725"/>
            <a:ext cx="554100" cy="5727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02" name="Google Shape;502;p48"/>
          <p:cNvSpPr/>
          <p:nvPr/>
        </p:nvSpPr>
        <p:spPr>
          <a:xfrm>
            <a:off x="4423200" y="41541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503" name="Google Shape;503;p48"/>
          <p:cNvSpPr/>
          <p:nvPr/>
        </p:nvSpPr>
        <p:spPr>
          <a:xfrm>
            <a:off x="64799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04" name="Google Shape;504;p48"/>
          <p:cNvCxnSpPr>
            <a:stCxn id="499" idx="6"/>
            <a:endCxn id="503" idx="2"/>
          </p:cNvCxnSpPr>
          <p:nvPr/>
        </p:nvCxnSpPr>
        <p:spPr>
          <a:xfrm>
            <a:off x="6046725" y="4061125"/>
            <a:ext cx="43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48"/>
          <p:cNvCxnSpPr>
            <a:stCxn id="499" idx="3"/>
            <a:endCxn id="502" idx="6"/>
          </p:cNvCxnSpPr>
          <p:nvPr/>
        </p:nvCxnSpPr>
        <p:spPr>
          <a:xfrm flipH="1">
            <a:off x="4977371" y="4263605"/>
            <a:ext cx="596400" cy="177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48"/>
          <p:cNvCxnSpPr>
            <a:stCxn id="499" idx="1"/>
            <a:endCxn id="501" idx="6"/>
          </p:cNvCxnSpPr>
          <p:nvPr/>
        </p:nvCxnSpPr>
        <p:spPr>
          <a:xfrm rot="10800000">
            <a:off x="4977371" y="3525945"/>
            <a:ext cx="596400" cy="332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512" name="Google Shape;512;p49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13" name="Google Shape;513;p49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514" name="Google Shape;514;p49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515" name="Google Shape;515;p49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516" name="Google Shape;516;p49"/>
          <p:cNvCxnSpPr>
            <a:stCxn id="512" idx="3"/>
            <a:endCxn id="513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49"/>
          <p:cNvCxnSpPr>
            <a:stCxn id="512" idx="4"/>
            <a:endCxn id="514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49"/>
          <p:cNvCxnSpPr>
            <a:stCxn id="512" idx="5"/>
            <a:endCxn id="515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19" name="Google Shape;51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9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[B, R, S, T]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1" name="Google Shape;521;p49"/>
          <p:cNvSpPr/>
          <p:nvPr/>
        </p:nvSpPr>
        <p:spPr>
          <a:xfrm>
            <a:off x="5492625" y="2918350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522" name="Google Shape;522;p49"/>
          <p:cNvCxnSpPr>
            <a:stCxn id="515" idx="4"/>
            <a:endCxn id="521" idx="0"/>
          </p:cNvCxnSpPr>
          <p:nvPr/>
        </p:nvCxnSpPr>
        <p:spPr>
          <a:xfrm>
            <a:off x="5769675" y="2634625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3" name="Google Shape;523;p49"/>
          <p:cNvSpPr/>
          <p:nvPr/>
        </p:nvSpPr>
        <p:spPr>
          <a:xfrm>
            <a:off x="54926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524" name="Google Shape;524;p49"/>
          <p:cNvCxnSpPr/>
          <p:nvPr/>
        </p:nvCxnSpPr>
        <p:spPr>
          <a:xfrm>
            <a:off x="5769675" y="3491050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49"/>
          <p:cNvSpPr/>
          <p:nvPr/>
        </p:nvSpPr>
        <p:spPr>
          <a:xfrm>
            <a:off x="4423200" y="3239725"/>
            <a:ext cx="554100" cy="5727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26" name="Google Shape;526;p49"/>
          <p:cNvSpPr/>
          <p:nvPr/>
        </p:nvSpPr>
        <p:spPr>
          <a:xfrm>
            <a:off x="4423200" y="41541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527" name="Google Shape;527;p49"/>
          <p:cNvSpPr/>
          <p:nvPr/>
        </p:nvSpPr>
        <p:spPr>
          <a:xfrm>
            <a:off x="64799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28" name="Google Shape;528;p49"/>
          <p:cNvCxnSpPr>
            <a:stCxn id="523" idx="6"/>
            <a:endCxn id="527" idx="2"/>
          </p:cNvCxnSpPr>
          <p:nvPr/>
        </p:nvCxnSpPr>
        <p:spPr>
          <a:xfrm>
            <a:off x="6046725" y="4061125"/>
            <a:ext cx="43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9" name="Google Shape;529;p49"/>
          <p:cNvCxnSpPr>
            <a:stCxn id="523" idx="3"/>
            <a:endCxn id="526" idx="6"/>
          </p:cNvCxnSpPr>
          <p:nvPr/>
        </p:nvCxnSpPr>
        <p:spPr>
          <a:xfrm flipH="1">
            <a:off x="4977371" y="4263605"/>
            <a:ext cx="596400" cy="177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0" name="Google Shape;530;p49"/>
          <p:cNvCxnSpPr>
            <a:stCxn id="523" idx="1"/>
            <a:endCxn id="525" idx="6"/>
          </p:cNvCxnSpPr>
          <p:nvPr/>
        </p:nvCxnSpPr>
        <p:spPr>
          <a:xfrm rot="10800000">
            <a:off x="4977371" y="3525945"/>
            <a:ext cx="596400" cy="332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1" name="Google Shape;531;p49"/>
          <p:cNvSpPr/>
          <p:nvPr/>
        </p:nvSpPr>
        <p:spPr>
          <a:xfrm>
            <a:off x="74672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32" name="Google Shape;532;p49"/>
          <p:cNvCxnSpPr/>
          <p:nvPr/>
        </p:nvCxnSpPr>
        <p:spPr>
          <a:xfrm>
            <a:off x="7034025" y="4061125"/>
            <a:ext cx="43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538" name="Google Shape;538;p50"/>
          <p:cNvSpPr/>
          <p:nvPr/>
        </p:nvSpPr>
        <p:spPr>
          <a:xfrm>
            <a:off x="4294950" y="11844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39" name="Google Shape;539;p50"/>
          <p:cNvSpPr/>
          <p:nvPr/>
        </p:nvSpPr>
        <p:spPr>
          <a:xfrm>
            <a:off x="3097275" y="20905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540" name="Google Shape;540;p50"/>
          <p:cNvSpPr/>
          <p:nvPr/>
        </p:nvSpPr>
        <p:spPr>
          <a:xfrm>
            <a:off x="4294950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541" name="Google Shape;541;p50"/>
          <p:cNvSpPr/>
          <p:nvPr/>
        </p:nvSpPr>
        <p:spPr>
          <a:xfrm>
            <a:off x="5492625" y="20619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cxnSp>
        <p:nvCxnSpPr>
          <p:cNvPr id="542" name="Google Shape;542;p50"/>
          <p:cNvCxnSpPr>
            <a:stCxn id="538" idx="3"/>
            <a:endCxn id="539" idx="0"/>
          </p:cNvCxnSpPr>
          <p:nvPr/>
        </p:nvCxnSpPr>
        <p:spPr>
          <a:xfrm flipH="1">
            <a:off x="3374396" y="1673255"/>
            <a:ext cx="1001700" cy="41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50"/>
          <p:cNvCxnSpPr>
            <a:stCxn id="538" idx="4"/>
            <a:endCxn id="540" idx="0"/>
          </p:cNvCxnSpPr>
          <p:nvPr/>
        </p:nvCxnSpPr>
        <p:spPr>
          <a:xfrm>
            <a:off x="4572000" y="175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50"/>
          <p:cNvCxnSpPr>
            <a:stCxn id="538" idx="5"/>
            <a:endCxn id="541" idx="0"/>
          </p:cNvCxnSpPr>
          <p:nvPr/>
        </p:nvCxnSpPr>
        <p:spPr>
          <a:xfrm>
            <a:off x="4767904" y="1673255"/>
            <a:ext cx="1001700" cy="38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45" name="Google Shape;54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0"/>
          <p:cNvSpPr/>
          <p:nvPr/>
        </p:nvSpPr>
        <p:spPr>
          <a:xfrm>
            <a:off x="5492625" y="2918350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547" name="Google Shape;547;p50"/>
          <p:cNvCxnSpPr>
            <a:stCxn id="541" idx="4"/>
            <a:endCxn id="546" idx="0"/>
          </p:cNvCxnSpPr>
          <p:nvPr/>
        </p:nvCxnSpPr>
        <p:spPr>
          <a:xfrm>
            <a:off x="5769675" y="2634625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8" name="Google Shape;548;p50"/>
          <p:cNvSpPr/>
          <p:nvPr/>
        </p:nvSpPr>
        <p:spPr>
          <a:xfrm>
            <a:off x="54926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549" name="Google Shape;549;p50"/>
          <p:cNvCxnSpPr/>
          <p:nvPr/>
        </p:nvCxnSpPr>
        <p:spPr>
          <a:xfrm>
            <a:off x="5769675" y="3491050"/>
            <a:ext cx="0" cy="283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0" name="Google Shape;550;p50"/>
          <p:cNvSpPr/>
          <p:nvPr/>
        </p:nvSpPr>
        <p:spPr>
          <a:xfrm>
            <a:off x="4423200" y="3239725"/>
            <a:ext cx="554100" cy="5727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51" name="Google Shape;551;p50"/>
          <p:cNvSpPr/>
          <p:nvPr/>
        </p:nvSpPr>
        <p:spPr>
          <a:xfrm>
            <a:off x="4423200" y="415412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552" name="Google Shape;552;p50"/>
          <p:cNvSpPr/>
          <p:nvPr/>
        </p:nvSpPr>
        <p:spPr>
          <a:xfrm>
            <a:off x="64799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53" name="Google Shape;553;p50"/>
          <p:cNvCxnSpPr>
            <a:stCxn id="548" idx="6"/>
            <a:endCxn id="552" idx="2"/>
          </p:cNvCxnSpPr>
          <p:nvPr/>
        </p:nvCxnSpPr>
        <p:spPr>
          <a:xfrm>
            <a:off x="6046725" y="4061125"/>
            <a:ext cx="433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50"/>
          <p:cNvCxnSpPr>
            <a:stCxn id="548" idx="3"/>
            <a:endCxn id="551" idx="6"/>
          </p:cNvCxnSpPr>
          <p:nvPr/>
        </p:nvCxnSpPr>
        <p:spPr>
          <a:xfrm flipH="1">
            <a:off x="4977371" y="4263605"/>
            <a:ext cx="596400" cy="177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5" name="Google Shape;555;p50"/>
          <p:cNvCxnSpPr>
            <a:stCxn id="548" idx="1"/>
            <a:endCxn id="550" idx="6"/>
          </p:cNvCxnSpPr>
          <p:nvPr/>
        </p:nvCxnSpPr>
        <p:spPr>
          <a:xfrm rot="10800000">
            <a:off x="4977371" y="3525945"/>
            <a:ext cx="596400" cy="332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6" name="Google Shape;556;p50"/>
          <p:cNvSpPr/>
          <p:nvPr/>
        </p:nvSpPr>
        <p:spPr>
          <a:xfrm>
            <a:off x="7467225" y="3774775"/>
            <a:ext cx="554100" cy="572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57" name="Google Shape;557;p50"/>
          <p:cNvCxnSpPr/>
          <p:nvPr/>
        </p:nvCxnSpPr>
        <p:spPr>
          <a:xfrm>
            <a:off x="7034025" y="4061125"/>
            <a:ext cx="433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of Example</a:t>
            </a:r>
            <a:endParaRPr/>
          </a:p>
        </p:txBody>
      </p:sp>
      <p:sp>
        <p:nvSpPr>
          <p:cNvPr id="563" name="Google Shape;563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used depth-first search and assumed all actions have the same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Completeness?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No, s</a:t>
            </a:r>
            <a:r>
              <a:rPr lang="en"/>
              <a:t>ince it goes deep </a:t>
            </a:r>
            <a:r>
              <a:rPr lang="en"/>
              <a:t>it can go down infinite paths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Move to the left forever, always thinking that maybe one more step to the left will lead to a goal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Optimality?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No, again because it goes deep (there could be a shallower path somewhere else in the tree)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complexity: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O(b^m) in the worst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Space complexity: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O(bm)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of Example</a:t>
            </a:r>
            <a:endParaRPr/>
          </a:p>
        </p:txBody>
      </p:sp>
      <p:sp>
        <p:nvSpPr>
          <p:cNvPr id="569" name="Google Shape;56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while depth-first search does not guarantee an optimal solution, or even a single solution, it’s memory is much better than breadth-first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turns out that depth-first search is the basis of many popular algorithms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But, how do we improve it?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Limited Search</a:t>
            </a:r>
            <a:endParaRPr/>
          </a:p>
        </p:txBody>
      </p:sp>
      <p:sp>
        <p:nvSpPr>
          <p:cNvPr id="575" name="Google Shape;575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set a depth limit of 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complexity: O(b^L)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Space complexity: O(bL)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set 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general, it’s difficult to come up with a good depth limit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it’s too small, we probably won’t find a 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it’s too large, we’ll probably find a suboptimal solution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</a:t>
            </a:r>
            <a:endParaRPr/>
          </a:p>
        </p:txBody>
      </p:sp>
      <p:sp>
        <p:nvSpPr>
          <p:cNvPr id="581" name="Google Shape;581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Intuition</a:t>
            </a:r>
            <a:r>
              <a:rPr lang="en"/>
              <a:t>: what if we gradually increase the depth limit until we find a solution?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This seems wasteful because every time we increase the depth limit we have to recalculate things we’ve seen before (we generate new trees, but with larger depths)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However: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Most nodes in a tree with a near-constant branching factor are in the bottom level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Because of this, it turns out that iterative deepening is actually faster than BFS since it doesn’t generate nodes at the d + 1 level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Completeness?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Yes, because it will eventually search the tree at the depth of a solution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Optimality?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Yes, because we assume that all actions have the same cost, so if there was a shorter solution path it would have found it earlier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Time complexity: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O(b^d) in the worst case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Space complexity: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O(bd)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Functions</a:t>
            </a:r>
            <a:endParaRPr/>
          </a:p>
        </p:txBody>
      </p:sp>
      <p:sp>
        <p:nvSpPr>
          <p:cNvPr id="587" name="Google Shape;587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far, we’ve assumed that actions have the same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this obviously is a big simplification and likely won’t work well in the real world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Notation: let the evaluation function of a node be f(n)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value of anode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Notation: let the cost of a node be g(n)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f(n) = g(n)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We’ll now use a priority queue to order nodes by their g values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Cost Search</a:t>
            </a:r>
            <a:endParaRPr/>
          </a:p>
        </p:txBody>
      </p:sp>
      <p:sp>
        <p:nvSpPr>
          <p:cNvPr id="593" name="Google Shape;59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Fringe is a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Always select the node with the lowest g(n)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599" name="Google Shape;59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7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01" name="Google Shape;601;p57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[A]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607" name="Google Shape;60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58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09" name="Google Shape;609;p58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[Z, T, S]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0" name="Google Shape;610;p58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611" name="Google Shape;611;p58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612" name="Google Shape;612;p58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613" name="Google Shape;613;p58"/>
          <p:cNvCxnSpPr>
            <a:stCxn id="608" idx="3"/>
            <a:endCxn id="610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58"/>
          <p:cNvCxnSpPr>
            <a:stCxn id="608" idx="4"/>
            <a:endCxn id="611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58"/>
          <p:cNvCxnSpPr>
            <a:stCxn id="608" idx="5"/>
            <a:endCxn id="612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621" name="Google Shape;62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9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23" name="Google Shape;623;p59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[T, S, O]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4" name="Google Shape;624;p59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625" name="Google Shape;625;p59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626" name="Google Shape;626;p59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627" name="Google Shape;627;p59"/>
          <p:cNvCxnSpPr>
            <a:stCxn id="622" idx="3"/>
            <a:endCxn id="624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59"/>
          <p:cNvCxnSpPr>
            <a:stCxn id="622" idx="4"/>
            <a:endCxn id="625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59"/>
          <p:cNvCxnSpPr>
            <a:stCxn id="622" idx="5"/>
            <a:endCxn id="626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59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631" name="Google Shape;631;p59"/>
          <p:cNvCxnSpPr>
            <a:stCxn id="626" idx="5"/>
            <a:endCxn id="630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637" name="Google Shape;63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60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39" name="Google Shape;639;p60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[S, O, L]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0" name="Google Shape;640;p60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641" name="Google Shape;641;p60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642" name="Google Shape;642;p60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643" name="Google Shape;643;p60"/>
          <p:cNvCxnSpPr>
            <a:stCxn id="638" idx="3"/>
            <a:endCxn id="640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60"/>
          <p:cNvCxnSpPr>
            <a:stCxn id="638" idx="4"/>
            <a:endCxn id="641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p60"/>
          <p:cNvCxnSpPr>
            <a:stCxn id="638" idx="5"/>
            <a:endCxn id="642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6" name="Google Shape;646;p60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647" name="Google Shape;647;p60"/>
          <p:cNvCxnSpPr>
            <a:stCxn id="642" idx="5"/>
            <a:endCxn id="646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8" name="Google Shape;648;p60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649" name="Google Shape;649;p60"/>
          <p:cNvCxnSpPr>
            <a:stCxn id="640" idx="3"/>
            <a:endCxn id="648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655" name="Google Shape;65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1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57" name="Google Shape;657;p61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[O, R, L, F, O]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8" name="Google Shape;658;p61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659" name="Google Shape;659;p61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660" name="Google Shape;660;p61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661" name="Google Shape;661;p61"/>
          <p:cNvCxnSpPr>
            <a:stCxn id="656" idx="3"/>
            <a:endCxn id="658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2" name="Google Shape;662;p61"/>
          <p:cNvCxnSpPr>
            <a:stCxn id="656" idx="4"/>
            <a:endCxn id="659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61"/>
          <p:cNvCxnSpPr>
            <a:stCxn id="656" idx="5"/>
            <a:endCxn id="660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4" name="Google Shape;664;p61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665" name="Google Shape;665;p61"/>
          <p:cNvCxnSpPr>
            <a:stCxn id="660" idx="5"/>
            <a:endCxn id="664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6" name="Google Shape;666;p61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667" name="Google Shape;667;p61"/>
          <p:cNvCxnSpPr>
            <a:stCxn id="658" idx="3"/>
            <a:endCxn id="666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8" name="Google Shape;668;p61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669" name="Google Shape;669;p61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670" name="Google Shape;670;p61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671" name="Google Shape;671;p61"/>
          <p:cNvCxnSpPr>
            <a:stCxn id="659" idx="3"/>
            <a:endCxn id="668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2" name="Google Shape;672;p61"/>
          <p:cNvCxnSpPr>
            <a:stCxn id="659" idx="4"/>
            <a:endCxn id="669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3" name="Google Shape;673;p61"/>
          <p:cNvCxnSpPr>
            <a:stCxn id="659" idx="5"/>
            <a:endCxn id="670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679" name="Google Shape;67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2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81" name="Google Shape;681;p62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[R, L, F, O]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2" name="Google Shape;682;p62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683" name="Google Shape;683;p62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684" name="Google Shape;684;p62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685" name="Google Shape;685;p62"/>
          <p:cNvCxnSpPr>
            <a:stCxn id="680" idx="3"/>
            <a:endCxn id="682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62"/>
          <p:cNvCxnSpPr>
            <a:stCxn id="680" idx="4"/>
            <a:endCxn id="683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62"/>
          <p:cNvCxnSpPr>
            <a:stCxn id="680" idx="5"/>
            <a:endCxn id="684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8" name="Google Shape;688;p62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689" name="Google Shape;689;p62"/>
          <p:cNvCxnSpPr>
            <a:stCxn id="684" idx="5"/>
            <a:endCxn id="688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0" name="Google Shape;690;p62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691" name="Google Shape;691;p62"/>
          <p:cNvCxnSpPr>
            <a:stCxn id="682" idx="3"/>
            <a:endCxn id="690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2" name="Google Shape;692;p62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693" name="Google Shape;693;p62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694" name="Google Shape;694;p62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695" name="Google Shape;695;p62"/>
          <p:cNvCxnSpPr>
            <a:stCxn id="683" idx="3"/>
            <a:endCxn id="692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62"/>
          <p:cNvCxnSpPr>
            <a:stCxn id="683" idx="4"/>
            <a:endCxn id="693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62"/>
          <p:cNvCxnSpPr>
            <a:stCxn id="683" idx="5"/>
            <a:endCxn id="694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703" name="Google Shape;70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3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705" name="Google Shape;705;p63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[L, F, O, P, C]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6" name="Google Shape;706;p63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707" name="Google Shape;707;p63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708" name="Google Shape;708;p63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709" name="Google Shape;709;p63"/>
          <p:cNvCxnSpPr>
            <a:stCxn id="704" idx="3"/>
            <a:endCxn id="706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0" name="Google Shape;710;p63"/>
          <p:cNvCxnSpPr>
            <a:stCxn id="704" idx="4"/>
            <a:endCxn id="707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63"/>
          <p:cNvCxnSpPr>
            <a:stCxn id="704" idx="5"/>
            <a:endCxn id="708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2" name="Google Shape;712;p63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713" name="Google Shape;713;p63"/>
          <p:cNvCxnSpPr>
            <a:stCxn id="708" idx="5"/>
            <a:endCxn id="712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4" name="Google Shape;714;p63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715" name="Google Shape;715;p63"/>
          <p:cNvCxnSpPr>
            <a:stCxn id="706" idx="3"/>
            <a:endCxn id="714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6" name="Google Shape;716;p63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717" name="Google Shape;717;p63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718" name="Google Shape;718;p63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719" name="Google Shape;719;p63"/>
          <p:cNvCxnSpPr>
            <a:stCxn id="707" idx="3"/>
            <a:endCxn id="716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0" name="Google Shape;720;p63"/>
          <p:cNvCxnSpPr>
            <a:stCxn id="707" idx="4"/>
            <a:endCxn id="717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63"/>
          <p:cNvCxnSpPr>
            <a:stCxn id="707" idx="5"/>
            <a:endCxn id="718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2" name="Google Shape;722;p63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723" name="Google Shape;723;p63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724" name="Google Shape;724;p63"/>
          <p:cNvCxnSpPr>
            <a:stCxn id="717" idx="3"/>
            <a:endCxn id="722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5" name="Google Shape;725;p63"/>
          <p:cNvCxnSpPr>
            <a:stCxn id="717" idx="5"/>
            <a:endCxn id="723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731" name="Google Shape;73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64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733" name="Google Shape;733;p64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[F, O, M, P, C]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4" name="Google Shape;734;p64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735" name="Google Shape;735;p64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736" name="Google Shape;736;p64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737" name="Google Shape;737;p64"/>
          <p:cNvCxnSpPr>
            <a:stCxn id="732" idx="3"/>
            <a:endCxn id="734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64"/>
          <p:cNvCxnSpPr>
            <a:stCxn id="732" idx="4"/>
            <a:endCxn id="735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9" name="Google Shape;739;p64"/>
          <p:cNvCxnSpPr>
            <a:stCxn id="732" idx="5"/>
            <a:endCxn id="736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0" name="Google Shape;740;p64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741" name="Google Shape;741;p64"/>
          <p:cNvCxnSpPr>
            <a:stCxn id="736" idx="5"/>
            <a:endCxn id="740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2" name="Google Shape;742;p64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743" name="Google Shape;743;p64"/>
          <p:cNvCxnSpPr>
            <a:stCxn id="734" idx="3"/>
            <a:endCxn id="742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4" name="Google Shape;744;p64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745" name="Google Shape;745;p64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746" name="Google Shape;746;p64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747" name="Google Shape;747;p64"/>
          <p:cNvCxnSpPr>
            <a:stCxn id="735" idx="3"/>
            <a:endCxn id="744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64"/>
          <p:cNvCxnSpPr>
            <a:stCxn id="735" idx="4"/>
            <a:endCxn id="745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64"/>
          <p:cNvCxnSpPr>
            <a:stCxn id="735" idx="5"/>
            <a:endCxn id="746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64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751" name="Google Shape;751;p64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752" name="Google Shape;752;p64"/>
          <p:cNvCxnSpPr>
            <a:stCxn id="745" idx="3"/>
            <a:endCxn id="750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3" name="Google Shape;753;p64"/>
          <p:cNvCxnSpPr>
            <a:stCxn id="745" idx="5"/>
            <a:endCxn id="751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4" name="Google Shape;754;p64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755" name="Google Shape;755;p64"/>
          <p:cNvCxnSpPr>
            <a:stCxn id="742" idx="3"/>
            <a:endCxn id="754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761" name="Google Shape;76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65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763" name="Google Shape;763;p65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[O, M, P, C, B]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4" name="Google Shape;764;p65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765" name="Google Shape;765;p65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766" name="Google Shape;766;p65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767" name="Google Shape;767;p65"/>
          <p:cNvCxnSpPr>
            <a:stCxn id="762" idx="3"/>
            <a:endCxn id="764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65"/>
          <p:cNvCxnSpPr>
            <a:stCxn id="762" idx="4"/>
            <a:endCxn id="765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65"/>
          <p:cNvCxnSpPr>
            <a:stCxn id="762" idx="5"/>
            <a:endCxn id="766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0" name="Google Shape;770;p65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771" name="Google Shape;771;p65"/>
          <p:cNvCxnSpPr>
            <a:stCxn id="766" idx="5"/>
            <a:endCxn id="770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2" name="Google Shape;772;p65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773" name="Google Shape;773;p65"/>
          <p:cNvCxnSpPr>
            <a:stCxn id="764" idx="3"/>
            <a:endCxn id="772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4" name="Google Shape;774;p65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775" name="Google Shape;775;p65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776" name="Google Shape;776;p65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777" name="Google Shape;777;p65"/>
          <p:cNvCxnSpPr>
            <a:stCxn id="765" idx="3"/>
            <a:endCxn id="774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65"/>
          <p:cNvCxnSpPr>
            <a:stCxn id="765" idx="4"/>
            <a:endCxn id="775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9" name="Google Shape;779;p65"/>
          <p:cNvCxnSpPr>
            <a:stCxn id="765" idx="5"/>
            <a:endCxn id="776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0" name="Google Shape;780;p65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781" name="Google Shape;781;p65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782" name="Google Shape;782;p65"/>
          <p:cNvCxnSpPr>
            <a:stCxn id="775" idx="3"/>
            <a:endCxn id="780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" name="Google Shape;783;p65"/>
          <p:cNvCxnSpPr>
            <a:stCxn id="775" idx="5"/>
            <a:endCxn id="781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4" name="Google Shape;784;p65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785" name="Google Shape;785;p65"/>
          <p:cNvCxnSpPr>
            <a:stCxn id="772" idx="3"/>
            <a:endCxn id="784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6" name="Google Shape;786;p65"/>
          <p:cNvSpPr/>
          <p:nvPr/>
        </p:nvSpPr>
        <p:spPr>
          <a:xfrm>
            <a:off x="56145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450</a:t>
            </a:r>
            <a:endParaRPr/>
          </a:p>
        </p:txBody>
      </p:sp>
      <p:cxnSp>
        <p:nvCxnSpPr>
          <p:cNvPr id="787" name="Google Shape;787;p65"/>
          <p:cNvCxnSpPr>
            <a:stCxn id="776" idx="5"/>
            <a:endCxn id="786" idx="0"/>
          </p:cNvCxnSpPr>
          <p:nvPr/>
        </p:nvCxnSpPr>
        <p:spPr>
          <a:xfrm>
            <a:off x="5621078" y="3370133"/>
            <a:ext cx="3372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793" name="Google Shape;79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6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795" name="Google Shape;795;p66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[M, P, C, B]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6" name="Google Shape;796;p66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797" name="Google Shape;797;p66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798" name="Google Shape;798;p66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799" name="Google Shape;799;p66"/>
          <p:cNvCxnSpPr>
            <a:stCxn id="794" idx="3"/>
            <a:endCxn id="796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0" name="Google Shape;800;p66"/>
          <p:cNvCxnSpPr>
            <a:stCxn id="794" idx="4"/>
            <a:endCxn id="797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66"/>
          <p:cNvCxnSpPr>
            <a:stCxn id="794" idx="5"/>
            <a:endCxn id="798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66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803" name="Google Shape;803;p66"/>
          <p:cNvCxnSpPr>
            <a:stCxn id="798" idx="5"/>
            <a:endCxn id="802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4" name="Google Shape;804;p66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805" name="Google Shape;805;p66"/>
          <p:cNvCxnSpPr>
            <a:stCxn id="796" idx="3"/>
            <a:endCxn id="804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6" name="Google Shape;806;p66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807" name="Google Shape;807;p66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808" name="Google Shape;808;p66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809" name="Google Shape;809;p66"/>
          <p:cNvCxnSpPr>
            <a:stCxn id="797" idx="3"/>
            <a:endCxn id="806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0" name="Google Shape;810;p66"/>
          <p:cNvCxnSpPr>
            <a:stCxn id="797" idx="4"/>
            <a:endCxn id="807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66"/>
          <p:cNvCxnSpPr>
            <a:stCxn id="797" idx="5"/>
            <a:endCxn id="808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2" name="Google Shape;812;p66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813" name="Google Shape;813;p66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814" name="Google Shape;814;p66"/>
          <p:cNvCxnSpPr>
            <a:stCxn id="807" idx="3"/>
            <a:endCxn id="812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5" name="Google Shape;815;p66"/>
          <p:cNvCxnSpPr>
            <a:stCxn id="807" idx="5"/>
            <a:endCxn id="813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6" name="Google Shape;816;p66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817" name="Google Shape;817;p66"/>
          <p:cNvCxnSpPr>
            <a:stCxn id="804" idx="3"/>
            <a:endCxn id="816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8" name="Google Shape;818;p66"/>
          <p:cNvSpPr/>
          <p:nvPr/>
        </p:nvSpPr>
        <p:spPr>
          <a:xfrm>
            <a:off x="56145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450</a:t>
            </a:r>
            <a:endParaRPr/>
          </a:p>
        </p:txBody>
      </p:sp>
      <p:cxnSp>
        <p:nvCxnSpPr>
          <p:cNvPr id="819" name="Google Shape;819;p66"/>
          <p:cNvCxnSpPr>
            <a:stCxn id="808" idx="5"/>
            <a:endCxn id="818" idx="0"/>
          </p:cNvCxnSpPr>
          <p:nvPr/>
        </p:nvCxnSpPr>
        <p:spPr>
          <a:xfrm>
            <a:off x="5621078" y="3370133"/>
            <a:ext cx="3372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825" name="Google Shape;82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67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827" name="Google Shape;827;p67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[P, C, D, B]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8" name="Google Shape;828;p67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829" name="Google Shape;829;p67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830" name="Google Shape;830;p67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831" name="Google Shape;831;p67"/>
          <p:cNvCxnSpPr>
            <a:stCxn id="826" idx="3"/>
            <a:endCxn id="828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67"/>
          <p:cNvCxnSpPr>
            <a:stCxn id="826" idx="4"/>
            <a:endCxn id="829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67"/>
          <p:cNvCxnSpPr>
            <a:stCxn id="826" idx="5"/>
            <a:endCxn id="830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4" name="Google Shape;834;p67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835" name="Google Shape;835;p67"/>
          <p:cNvCxnSpPr>
            <a:stCxn id="830" idx="5"/>
            <a:endCxn id="834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" name="Google Shape;836;p67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837" name="Google Shape;837;p67"/>
          <p:cNvCxnSpPr>
            <a:stCxn id="828" idx="3"/>
            <a:endCxn id="836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8" name="Google Shape;838;p67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839" name="Google Shape;839;p67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840" name="Google Shape;840;p67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841" name="Google Shape;841;p67"/>
          <p:cNvCxnSpPr>
            <a:stCxn id="829" idx="3"/>
            <a:endCxn id="838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2" name="Google Shape;842;p67"/>
          <p:cNvCxnSpPr>
            <a:stCxn id="829" idx="4"/>
            <a:endCxn id="839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3" name="Google Shape;843;p67"/>
          <p:cNvCxnSpPr>
            <a:stCxn id="829" idx="5"/>
            <a:endCxn id="840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4" name="Google Shape;844;p67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845" name="Google Shape;845;p67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846" name="Google Shape;846;p67"/>
          <p:cNvCxnSpPr>
            <a:stCxn id="839" idx="3"/>
            <a:endCxn id="844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p67"/>
          <p:cNvCxnSpPr>
            <a:stCxn id="839" idx="5"/>
            <a:endCxn id="845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8" name="Google Shape;848;p67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849" name="Google Shape;849;p67"/>
          <p:cNvCxnSpPr>
            <a:stCxn id="836" idx="3"/>
            <a:endCxn id="848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0" name="Google Shape;850;p67"/>
          <p:cNvSpPr/>
          <p:nvPr/>
        </p:nvSpPr>
        <p:spPr>
          <a:xfrm>
            <a:off x="56145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450</a:t>
            </a:r>
            <a:endParaRPr/>
          </a:p>
        </p:txBody>
      </p:sp>
      <p:cxnSp>
        <p:nvCxnSpPr>
          <p:cNvPr id="851" name="Google Shape;851;p67"/>
          <p:cNvCxnSpPr>
            <a:stCxn id="840" idx="5"/>
            <a:endCxn id="850" idx="0"/>
          </p:cNvCxnSpPr>
          <p:nvPr/>
        </p:nvCxnSpPr>
        <p:spPr>
          <a:xfrm>
            <a:off x="5621078" y="3370133"/>
            <a:ext cx="3372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2" name="Google Shape;852;p67"/>
          <p:cNvSpPr/>
          <p:nvPr/>
        </p:nvSpPr>
        <p:spPr>
          <a:xfrm>
            <a:off x="6930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374</a:t>
            </a:r>
            <a:endParaRPr/>
          </a:p>
        </p:txBody>
      </p:sp>
      <p:cxnSp>
        <p:nvCxnSpPr>
          <p:cNvPr id="853" name="Google Shape;853;p67"/>
          <p:cNvCxnSpPr>
            <a:stCxn id="848" idx="2"/>
            <a:endCxn id="852" idx="6"/>
          </p:cNvCxnSpPr>
          <p:nvPr/>
        </p:nvCxnSpPr>
        <p:spPr>
          <a:xfrm rot="10800000">
            <a:off x="1380575" y="3905225"/>
            <a:ext cx="3693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859" name="Google Shape;85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8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861" name="Google Shape;861;p68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[C, D, B, B]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2" name="Google Shape;862;p68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863" name="Google Shape;863;p68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864" name="Google Shape;864;p68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865" name="Google Shape;865;p68"/>
          <p:cNvCxnSpPr>
            <a:stCxn id="860" idx="3"/>
            <a:endCxn id="862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6" name="Google Shape;866;p68"/>
          <p:cNvCxnSpPr>
            <a:stCxn id="860" idx="4"/>
            <a:endCxn id="863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7" name="Google Shape;867;p68"/>
          <p:cNvCxnSpPr>
            <a:stCxn id="860" idx="5"/>
            <a:endCxn id="864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8" name="Google Shape;868;p68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869" name="Google Shape;869;p68"/>
          <p:cNvCxnSpPr>
            <a:stCxn id="864" idx="5"/>
            <a:endCxn id="868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0" name="Google Shape;870;p68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871" name="Google Shape;871;p68"/>
          <p:cNvCxnSpPr>
            <a:stCxn id="862" idx="3"/>
            <a:endCxn id="870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2" name="Google Shape;872;p68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873" name="Google Shape;873;p68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874" name="Google Shape;874;p68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875" name="Google Shape;875;p68"/>
          <p:cNvCxnSpPr>
            <a:stCxn id="863" idx="3"/>
            <a:endCxn id="872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6" name="Google Shape;876;p68"/>
          <p:cNvCxnSpPr>
            <a:stCxn id="863" idx="4"/>
            <a:endCxn id="873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7" name="Google Shape;877;p68"/>
          <p:cNvCxnSpPr>
            <a:stCxn id="863" idx="5"/>
            <a:endCxn id="874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8" name="Google Shape;878;p68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879" name="Google Shape;879;p68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880" name="Google Shape;880;p68"/>
          <p:cNvCxnSpPr>
            <a:stCxn id="873" idx="3"/>
            <a:endCxn id="878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68"/>
          <p:cNvCxnSpPr>
            <a:stCxn id="873" idx="5"/>
            <a:endCxn id="879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2" name="Google Shape;882;p68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883" name="Google Shape;883;p68"/>
          <p:cNvCxnSpPr>
            <a:stCxn id="870" idx="3"/>
            <a:endCxn id="882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4" name="Google Shape;884;p68"/>
          <p:cNvSpPr/>
          <p:nvPr/>
        </p:nvSpPr>
        <p:spPr>
          <a:xfrm>
            <a:off x="56145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450</a:t>
            </a:r>
            <a:endParaRPr/>
          </a:p>
        </p:txBody>
      </p:sp>
      <p:cxnSp>
        <p:nvCxnSpPr>
          <p:cNvPr id="885" name="Google Shape;885;p68"/>
          <p:cNvCxnSpPr>
            <a:stCxn id="874" idx="5"/>
            <a:endCxn id="884" idx="0"/>
          </p:cNvCxnSpPr>
          <p:nvPr/>
        </p:nvCxnSpPr>
        <p:spPr>
          <a:xfrm>
            <a:off x="5621078" y="3370133"/>
            <a:ext cx="3372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6" name="Google Shape;886;p68"/>
          <p:cNvSpPr/>
          <p:nvPr/>
        </p:nvSpPr>
        <p:spPr>
          <a:xfrm>
            <a:off x="6930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374</a:t>
            </a:r>
            <a:endParaRPr/>
          </a:p>
        </p:txBody>
      </p:sp>
      <p:cxnSp>
        <p:nvCxnSpPr>
          <p:cNvPr id="887" name="Google Shape;887;p68"/>
          <p:cNvCxnSpPr>
            <a:stCxn id="882" idx="2"/>
            <a:endCxn id="886" idx="6"/>
          </p:cNvCxnSpPr>
          <p:nvPr/>
        </p:nvCxnSpPr>
        <p:spPr>
          <a:xfrm rot="10800000">
            <a:off x="1380575" y="3905225"/>
            <a:ext cx="3693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8" name="Google Shape;888;p68"/>
          <p:cNvSpPr/>
          <p:nvPr/>
        </p:nvSpPr>
        <p:spPr>
          <a:xfrm>
            <a:off x="2757988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418</a:t>
            </a:r>
            <a:endParaRPr/>
          </a:p>
        </p:txBody>
      </p:sp>
      <p:cxnSp>
        <p:nvCxnSpPr>
          <p:cNvPr id="889" name="Google Shape;889;p68"/>
          <p:cNvCxnSpPr>
            <a:stCxn id="878" idx="2"/>
            <a:endCxn id="888" idx="6"/>
          </p:cNvCxnSpPr>
          <p:nvPr/>
        </p:nvCxnSpPr>
        <p:spPr>
          <a:xfrm rot="10800000">
            <a:off x="3445700" y="3905225"/>
            <a:ext cx="320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895" name="Google Shape;89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69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897" name="Google Shape;897;p69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[D, B, B]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8" name="Google Shape;898;p69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899" name="Google Shape;899;p69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900" name="Google Shape;900;p69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901" name="Google Shape;901;p69"/>
          <p:cNvCxnSpPr>
            <a:stCxn id="896" idx="3"/>
            <a:endCxn id="898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2" name="Google Shape;902;p69"/>
          <p:cNvCxnSpPr>
            <a:stCxn id="896" idx="4"/>
            <a:endCxn id="899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3" name="Google Shape;903;p69"/>
          <p:cNvCxnSpPr>
            <a:stCxn id="896" idx="5"/>
            <a:endCxn id="900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4" name="Google Shape;904;p69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905" name="Google Shape;905;p69"/>
          <p:cNvCxnSpPr>
            <a:stCxn id="900" idx="5"/>
            <a:endCxn id="904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p69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907" name="Google Shape;907;p69"/>
          <p:cNvCxnSpPr>
            <a:stCxn id="898" idx="3"/>
            <a:endCxn id="906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8" name="Google Shape;908;p69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909" name="Google Shape;909;p69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910" name="Google Shape;910;p69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911" name="Google Shape;911;p69"/>
          <p:cNvCxnSpPr>
            <a:stCxn id="899" idx="3"/>
            <a:endCxn id="908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2" name="Google Shape;912;p69"/>
          <p:cNvCxnSpPr>
            <a:stCxn id="899" idx="4"/>
            <a:endCxn id="909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3" name="Google Shape;913;p69"/>
          <p:cNvCxnSpPr>
            <a:stCxn id="899" idx="5"/>
            <a:endCxn id="910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4" name="Google Shape;914;p69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915" name="Google Shape;915;p69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916" name="Google Shape;916;p69"/>
          <p:cNvCxnSpPr>
            <a:stCxn id="909" idx="3"/>
            <a:endCxn id="914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7" name="Google Shape;917;p69"/>
          <p:cNvCxnSpPr>
            <a:stCxn id="909" idx="5"/>
            <a:endCxn id="915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8" name="Google Shape;918;p69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919" name="Google Shape;919;p69"/>
          <p:cNvCxnSpPr>
            <a:stCxn id="906" idx="3"/>
            <a:endCxn id="918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0" name="Google Shape;920;p69"/>
          <p:cNvSpPr/>
          <p:nvPr/>
        </p:nvSpPr>
        <p:spPr>
          <a:xfrm>
            <a:off x="56145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450</a:t>
            </a:r>
            <a:endParaRPr/>
          </a:p>
        </p:txBody>
      </p:sp>
      <p:cxnSp>
        <p:nvCxnSpPr>
          <p:cNvPr id="921" name="Google Shape;921;p69"/>
          <p:cNvCxnSpPr>
            <a:stCxn id="910" idx="5"/>
            <a:endCxn id="920" idx="0"/>
          </p:cNvCxnSpPr>
          <p:nvPr/>
        </p:nvCxnSpPr>
        <p:spPr>
          <a:xfrm>
            <a:off x="5621078" y="3370133"/>
            <a:ext cx="3372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2" name="Google Shape;922;p69"/>
          <p:cNvSpPr/>
          <p:nvPr/>
        </p:nvSpPr>
        <p:spPr>
          <a:xfrm>
            <a:off x="6930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374</a:t>
            </a:r>
            <a:endParaRPr/>
          </a:p>
        </p:txBody>
      </p:sp>
      <p:cxnSp>
        <p:nvCxnSpPr>
          <p:cNvPr id="923" name="Google Shape;923;p69"/>
          <p:cNvCxnSpPr>
            <a:stCxn id="918" idx="2"/>
            <a:endCxn id="922" idx="6"/>
          </p:cNvCxnSpPr>
          <p:nvPr/>
        </p:nvCxnSpPr>
        <p:spPr>
          <a:xfrm rot="10800000">
            <a:off x="1380575" y="3905225"/>
            <a:ext cx="3693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4" name="Google Shape;924;p69"/>
          <p:cNvSpPr/>
          <p:nvPr/>
        </p:nvSpPr>
        <p:spPr>
          <a:xfrm>
            <a:off x="2757988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418</a:t>
            </a:r>
            <a:endParaRPr/>
          </a:p>
        </p:txBody>
      </p:sp>
      <p:cxnSp>
        <p:nvCxnSpPr>
          <p:cNvPr id="925" name="Google Shape;925;p69"/>
          <p:cNvCxnSpPr>
            <a:stCxn id="914" idx="2"/>
            <a:endCxn id="924" idx="6"/>
          </p:cNvCxnSpPr>
          <p:nvPr/>
        </p:nvCxnSpPr>
        <p:spPr>
          <a:xfrm rot="10800000">
            <a:off x="3445700" y="3905225"/>
            <a:ext cx="320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931" name="Google Shape;93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0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933" name="Google Shape;933;p70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[B, B]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4" name="Google Shape;934;p70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935" name="Google Shape;935;p70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936" name="Google Shape;936;p70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937" name="Google Shape;937;p70"/>
          <p:cNvCxnSpPr>
            <a:stCxn id="932" idx="3"/>
            <a:endCxn id="934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70"/>
          <p:cNvCxnSpPr>
            <a:stCxn id="932" idx="4"/>
            <a:endCxn id="935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70"/>
          <p:cNvCxnSpPr>
            <a:stCxn id="932" idx="5"/>
            <a:endCxn id="936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0" name="Google Shape;940;p70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941" name="Google Shape;941;p70"/>
          <p:cNvCxnSpPr>
            <a:stCxn id="936" idx="5"/>
            <a:endCxn id="940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" name="Google Shape;942;p70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943" name="Google Shape;943;p70"/>
          <p:cNvCxnSpPr>
            <a:stCxn id="934" idx="3"/>
            <a:endCxn id="942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4" name="Google Shape;944;p70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945" name="Google Shape;945;p70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946" name="Google Shape;946;p70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947" name="Google Shape;947;p70"/>
          <p:cNvCxnSpPr>
            <a:stCxn id="935" idx="3"/>
            <a:endCxn id="944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70"/>
          <p:cNvCxnSpPr>
            <a:stCxn id="935" idx="4"/>
            <a:endCxn id="945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9" name="Google Shape;949;p70"/>
          <p:cNvCxnSpPr>
            <a:stCxn id="935" idx="5"/>
            <a:endCxn id="946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0" name="Google Shape;950;p70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951" name="Google Shape;951;p70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952" name="Google Shape;952;p70"/>
          <p:cNvCxnSpPr>
            <a:stCxn id="945" idx="3"/>
            <a:endCxn id="950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3" name="Google Shape;953;p70"/>
          <p:cNvCxnSpPr>
            <a:stCxn id="945" idx="5"/>
            <a:endCxn id="951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4" name="Google Shape;954;p70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955" name="Google Shape;955;p70"/>
          <p:cNvCxnSpPr>
            <a:stCxn id="942" idx="3"/>
            <a:endCxn id="954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6" name="Google Shape;956;p70"/>
          <p:cNvSpPr/>
          <p:nvPr/>
        </p:nvSpPr>
        <p:spPr>
          <a:xfrm>
            <a:off x="56145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450</a:t>
            </a:r>
            <a:endParaRPr/>
          </a:p>
        </p:txBody>
      </p:sp>
      <p:cxnSp>
        <p:nvCxnSpPr>
          <p:cNvPr id="957" name="Google Shape;957;p70"/>
          <p:cNvCxnSpPr>
            <a:stCxn id="946" idx="5"/>
            <a:endCxn id="956" idx="0"/>
          </p:cNvCxnSpPr>
          <p:nvPr/>
        </p:nvCxnSpPr>
        <p:spPr>
          <a:xfrm>
            <a:off x="5621078" y="3370133"/>
            <a:ext cx="3372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8" name="Google Shape;958;p70"/>
          <p:cNvSpPr/>
          <p:nvPr/>
        </p:nvSpPr>
        <p:spPr>
          <a:xfrm>
            <a:off x="6930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374</a:t>
            </a:r>
            <a:endParaRPr/>
          </a:p>
        </p:txBody>
      </p:sp>
      <p:cxnSp>
        <p:nvCxnSpPr>
          <p:cNvPr id="959" name="Google Shape;959;p70"/>
          <p:cNvCxnSpPr>
            <a:stCxn id="954" idx="2"/>
            <a:endCxn id="958" idx="6"/>
          </p:cNvCxnSpPr>
          <p:nvPr/>
        </p:nvCxnSpPr>
        <p:spPr>
          <a:xfrm rot="10800000">
            <a:off x="1380575" y="3905225"/>
            <a:ext cx="3693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0" name="Google Shape;960;p70"/>
          <p:cNvSpPr/>
          <p:nvPr/>
        </p:nvSpPr>
        <p:spPr>
          <a:xfrm>
            <a:off x="2757988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418</a:t>
            </a:r>
            <a:endParaRPr/>
          </a:p>
        </p:txBody>
      </p:sp>
      <p:cxnSp>
        <p:nvCxnSpPr>
          <p:cNvPr id="961" name="Google Shape;961;p70"/>
          <p:cNvCxnSpPr>
            <a:stCxn id="950" idx="2"/>
            <a:endCxn id="960" idx="6"/>
          </p:cNvCxnSpPr>
          <p:nvPr/>
        </p:nvCxnSpPr>
        <p:spPr>
          <a:xfrm rot="10800000">
            <a:off x="3445700" y="3905225"/>
            <a:ext cx="320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967" name="Google Shape;96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1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969" name="Google Shape;969;p71"/>
          <p:cNvSpPr txBox="1"/>
          <p:nvPr/>
        </p:nvSpPr>
        <p:spPr>
          <a:xfrm>
            <a:off x="311700" y="1295425"/>
            <a:ext cx="26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[B]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0" name="Google Shape;970;p71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971" name="Google Shape;971;p71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972" name="Google Shape;972;p71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973" name="Google Shape;973;p71"/>
          <p:cNvCxnSpPr>
            <a:stCxn id="968" idx="3"/>
            <a:endCxn id="970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4" name="Google Shape;974;p71"/>
          <p:cNvCxnSpPr>
            <a:stCxn id="968" idx="4"/>
            <a:endCxn id="971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71"/>
          <p:cNvCxnSpPr>
            <a:stCxn id="968" idx="5"/>
            <a:endCxn id="972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6" name="Google Shape;976;p71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977" name="Google Shape;977;p71"/>
          <p:cNvCxnSpPr>
            <a:stCxn id="972" idx="5"/>
            <a:endCxn id="976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8" name="Google Shape;978;p71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979" name="Google Shape;979;p71"/>
          <p:cNvCxnSpPr>
            <a:stCxn id="970" idx="3"/>
            <a:endCxn id="978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0" name="Google Shape;980;p71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981" name="Google Shape;981;p71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982" name="Google Shape;982;p71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983" name="Google Shape;983;p71"/>
          <p:cNvCxnSpPr>
            <a:stCxn id="971" idx="3"/>
            <a:endCxn id="980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4" name="Google Shape;984;p71"/>
          <p:cNvCxnSpPr>
            <a:stCxn id="971" idx="4"/>
            <a:endCxn id="981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5" name="Google Shape;985;p71"/>
          <p:cNvCxnSpPr>
            <a:stCxn id="971" idx="5"/>
            <a:endCxn id="982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6" name="Google Shape;986;p71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987" name="Google Shape;987;p71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988" name="Google Shape;988;p71"/>
          <p:cNvCxnSpPr>
            <a:stCxn id="981" idx="3"/>
            <a:endCxn id="986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9" name="Google Shape;989;p71"/>
          <p:cNvCxnSpPr>
            <a:stCxn id="981" idx="5"/>
            <a:endCxn id="987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0" name="Google Shape;990;p71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991" name="Google Shape;991;p71"/>
          <p:cNvCxnSpPr>
            <a:stCxn id="978" idx="3"/>
            <a:endCxn id="990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2" name="Google Shape;992;p71"/>
          <p:cNvSpPr/>
          <p:nvPr/>
        </p:nvSpPr>
        <p:spPr>
          <a:xfrm>
            <a:off x="56145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450</a:t>
            </a:r>
            <a:endParaRPr/>
          </a:p>
        </p:txBody>
      </p:sp>
      <p:cxnSp>
        <p:nvCxnSpPr>
          <p:cNvPr id="993" name="Google Shape;993;p71"/>
          <p:cNvCxnSpPr>
            <a:stCxn id="982" idx="5"/>
            <a:endCxn id="992" idx="0"/>
          </p:cNvCxnSpPr>
          <p:nvPr/>
        </p:nvCxnSpPr>
        <p:spPr>
          <a:xfrm>
            <a:off x="5621078" y="3370133"/>
            <a:ext cx="3372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4" name="Google Shape;994;p71"/>
          <p:cNvSpPr/>
          <p:nvPr/>
        </p:nvSpPr>
        <p:spPr>
          <a:xfrm>
            <a:off x="6930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374</a:t>
            </a:r>
            <a:endParaRPr/>
          </a:p>
        </p:txBody>
      </p:sp>
      <p:cxnSp>
        <p:nvCxnSpPr>
          <p:cNvPr id="995" name="Google Shape;995;p71"/>
          <p:cNvCxnSpPr>
            <a:stCxn id="990" idx="2"/>
            <a:endCxn id="994" idx="6"/>
          </p:cNvCxnSpPr>
          <p:nvPr/>
        </p:nvCxnSpPr>
        <p:spPr>
          <a:xfrm rot="10800000">
            <a:off x="1380575" y="3905225"/>
            <a:ext cx="3693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6" name="Google Shape;996;p71"/>
          <p:cNvSpPr/>
          <p:nvPr/>
        </p:nvSpPr>
        <p:spPr>
          <a:xfrm>
            <a:off x="2757988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418</a:t>
            </a:r>
            <a:endParaRPr/>
          </a:p>
        </p:txBody>
      </p:sp>
      <p:cxnSp>
        <p:nvCxnSpPr>
          <p:cNvPr id="997" name="Google Shape;997;p71"/>
          <p:cNvCxnSpPr>
            <a:stCxn id="986" idx="2"/>
            <a:endCxn id="996" idx="6"/>
          </p:cNvCxnSpPr>
          <p:nvPr/>
        </p:nvCxnSpPr>
        <p:spPr>
          <a:xfrm rot="10800000">
            <a:off x="3445700" y="3905225"/>
            <a:ext cx="320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003" name="Google Shape;100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775" y="153325"/>
            <a:ext cx="3048003" cy="1809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72"/>
          <p:cNvSpPr/>
          <p:nvPr/>
        </p:nvSpPr>
        <p:spPr>
          <a:xfrm>
            <a:off x="4228200" y="10177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005" name="Google Shape;1005;p72"/>
          <p:cNvSpPr/>
          <p:nvPr/>
        </p:nvSpPr>
        <p:spPr>
          <a:xfrm>
            <a:off x="330385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118</a:t>
            </a:r>
            <a:endParaRPr/>
          </a:p>
        </p:txBody>
      </p:sp>
      <p:sp>
        <p:nvSpPr>
          <p:cNvPr id="1006" name="Google Shape;1006;p72"/>
          <p:cNvSpPr/>
          <p:nvPr/>
        </p:nvSpPr>
        <p:spPr>
          <a:xfrm>
            <a:off x="4228200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140</a:t>
            </a:r>
            <a:endParaRPr/>
          </a:p>
        </p:txBody>
      </p:sp>
      <p:sp>
        <p:nvSpPr>
          <p:cNvPr id="1007" name="Google Shape;1007;p72"/>
          <p:cNvSpPr/>
          <p:nvPr/>
        </p:nvSpPr>
        <p:spPr>
          <a:xfrm>
            <a:off x="5152538" y="189255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</a:t>
            </a:r>
            <a:endParaRPr/>
          </a:p>
        </p:txBody>
      </p:sp>
      <p:cxnSp>
        <p:nvCxnSpPr>
          <p:cNvPr id="1008" name="Google Shape;1008;p72"/>
          <p:cNvCxnSpPr>
            <a:stCxn id="1004" idx="3"/>
            <a:endCxn id="1005" idx="0"/>
          </p:cNvCxnSpPr>
          <p:nvPr/>
        </p:nvCxnSpPr>
        <p:spPr>
          <a:xfrm flipH="1">
            <a:off x="3647597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9" name="Google Shape;1009;p72"/>
          <p:cNvCxnSpPr>
            <a:stCxn id="1004" idx="4"/>
            <a:endCxn id="1006" idx="0"/>
          </p:cNvCxnSpPr>
          <p:nvPr/>
        </p:nvCxnSpPr>
        <p:spPr>
          <a:xfrm>
            <a:off x="4572000" y="1696925"/>
            <a:ext cx="0" cy="195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0" name="Google Shape;1010;p72"/>
          <p:cNvCxnSpPr>
            <a:stCxn id="1004" idx="5"/>
            <a:endCxn id="1007" idx="0"/>
          </p:cNvCxnSpPr>
          <p:nvPr/>
        </p:nvCxnSpPr>
        <p:spPr>
          <a:xfrm>
            <a:off x="4815103" y="1597458"/>
            <a:ext cx="681300" cy="295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1" name="Google Shape;1011;p72"/>
          <p:cNvSpPr/>
          <p:nvPr/>
        </p:nvSpPr>
        <p:spPr>
          <a:xfrm>
            <a:off x="5840138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146</a:t>
            </a:r>
            <a:endParaRPr/>
          </a:p>
        </p:txBody>
      </p:sp>
      <p:cxnSp>
        <p:nvCxnSpPr>
          <p:cNvPr id="1012" name="Google Shape;1012;p72"/>
          <p:cNvCxnSpPr>
            <a:stCxn id="1007" idx="5"/>
            <a:endCxn id="1011" idx="0"/>
          </p:cNvCxnSpPr>
          <p:nvPr/>
        </p:nvCxnSpPr>
        <p:spPr>
          <a:xfrm>
            <a:off x="5739441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3" name="Google Shape;1013;p72"/>
          <p:cNvSpPr/>
          <p:nvPr/>
        </p:nvSpPr>
        <p:spPr>
          <a:xfrm>
            <a:off x="261625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229</a:t>
            </a:r>
            <a:endParaRPr/>
          </a:p>
        </p:txBody>
      </p:sp>
      <p:cxnSp>
        <p:nvCxnSpPr>
          <p:cNvPr id="1014" name="Google Shape;1014;p72"/>
          <p:cNvCxnSpPr>
            <a:stCxn id="1005" idx="3"/>
            <a:endCxn id="1013" idx="0"/>
          </p:cNvCxnSpPr>
          <p:nvPr/>
        </p:nvCxnSpPr>
        <p:spPr>
          <a:xfrm flipH="1">
            <a:off x="2959947" y="2472283"/>
            <a:ext cx="4446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5" name="Google Shape;1015;p72"/>
          <p:cNvSpPr/>
          <p:nvPr/>
        </p:nvSpPr>
        <p:spPr>
          <a:xfrm>
            <a:off x="342222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291</a:t>
            </a:r>
            <a:endParaRPr/>
          </a:p>
        </p:txBody>
      </p:sp>
      <p:sp>
        <p:nvSpPr>
          <p:cNvPr id="1016" name="Google Shape;1016;p72"/>
          <p:cNvSpPr/>
          <p:nvPr/>
        </p:nvSpPr>
        <p:spPr>
          <a:xfrm>
            <a:off x="4228200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220</a:t>
            </a:r>
            <a:endParaRPr/>
          </a:p>
        </p:txBody>
      </p:sp>
      <p:sp>
        <p:nvSpPr>
          <p:cNvPr id="1017" name="Google Shape;1017;p72"/>
          <p:cNvSpPr/>
          <p:nvPr/>
        </p:nvSpPr>
        <p:spPr>
          <a:xfrm>
            <a:off x="5034175" y="2790400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239</a:t>
            </a:r>
            <a:endParaRPr/>
          </a:p>
        </p:txBody>
      </p:sp>
      <p:cxnSp>
        <p:nvCxnSpPr>
          <p:cNvPr id="1018" name="Google Shape;1018;p72"/>
          <p:cNvCxnSpPr>
            <a:stCxn id="1006" idx="3"/>
            <a:endCxn id="1015" idx="0"/>
          </p:cNvCxnSpPr>
          <p:nvPr/>
        </p:nvCxnSpPr>
        <p:spPr>
          <a:xfrm flipH="1">
            <a:off x="3766097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9" name="Google Shape;1019;p72"/>
          <p:cNvCxnSpPr>
            <a:stCxn id="1006" idx="4"/>
            <a:endCxn id="1016" idx="0"/>
          </p:cNvCxnSpPr>
          <p:nvPr/>
        </p:nvCxnSpPr>
        <p:spPr>
          <a:xfrm>
            <a:off x="4572000" y="257175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72"/>
          <p:cNvCxnSpPr>
            <a:stCxn id="1006" idx="5"/>
            <a:endCxn id="1017" idx="0"/>
          </p:cNvCxnSpPr>
          <p:nvPr/>
        </p:nvCxnSpPr>
        <p:spPr>
          <a:xfrm>
            <a:off x="4815103" y="2472283"/>
            <a:ext cx="562800" cy="31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1" name="Google Shape;1021;p72"/>
          <p:cNvSpPr/>
          <p:nvPr/>
        </p:nvSpPr>
        <p:spPr>
          <a:xfrm>
            <a:off x="37661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317</a:t>
            </a:r>
            <a:endParaRPr/>
          </a:p>
        </p:txBody>
      </p:sp>
      <p:sp>
        <p:nvSpPr>
          <p:cNvPr id="1022" name="Google Shape;1022;p72"/>
          <p:cNvSpPr/>
          <p:nvPr/>
        </p:nvSpPr>
        <p:spPr>
          <a:xfrm>
            <a:off x="46903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366</a:t>
            </a:r>
            <a:endParaRPr/>
          </a:p>
        </p:txBody>
      </p:sp>
      <p:cxnSp>
        <p:nvCxnSpPr>
          <p:cNvPr id="1023" name="Google Shape;1023;p72"/>
          <p:cNvCxnSpPr>
            <a:stCxn id="1016" idx="3"/>
            <a:endCxn id="1021" idx="0"/>
          </p:cNvCxnSpPr>
          <p:nvPr/>
        </p:nvCxnSpPr>
        <p:spPr>
          <a:xfrm flipH="1">
            <a:off x="4109897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72"/>
          <p:cNvCxnSpPr>
            <a:stCxn id="1016" idx="5"/>
            <a:endCxn id="1022" idx="0"/>
          </p:cNvCxnSpPr>
          <p:nvPr/>
        </p:nvCxnSpPr>
        <p:spPr>
          <a:xfrm>
            <a:off x="4815103" y="3370133"/>
            <a:ext cx="2190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5" name="Google Shape;1025;p72"/>
          <p:cNvSpPr/>
          <p:nvPr/>
        </p:nvSpPr>
        <p:spPr>
          <a:xfrm>
            <a:off x="1749875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299</a:t>
            </a:r>
            <a:endParaRPr/>
          </a:p>
        </p:txBody>
      </p:sp>
      <p:cxnSp>
        <p:nvCxnSpPr>
          <p:cNvPr id="1026" name="Google Shape;1026;p72"/>
          <p:cNvCxnSpPr>
            <a:stCxn id="1013" idx="3"/>
            <a:endCxn id="1025" idx="0"/>
          </p:cNvCxnSpPr>
          <p:nvPr/>
        </p:nvCxnSpPr>
        <p:spPr>
          <a:xfrm flipH="1">
            <a:off x="2093547" y="3370133"/>
            <a:ext cx="6234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7" name="Google Shape;1027;p72"/>
          <p:cNvSpPr/>
          <p:nvPr/>
        </p:nvSpPr>
        <p:spPr>
          <a:xfrm>
            <a:off x="56145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450</a:t>
            </a:r>
            <a:endParaRPr/>
          </a:p>
        </p:txBody>
      </p:sp>
      <p:cxnSp>
        <p:nvCxnSpPr>
          <p:cNvPr id="1028" name="Google Shape;1028;p72"/>
          <p:cNvCxnSpPr>
            <a:stCxn id="1017" idx="5"/>
            <a:endCxn id="1027" idx="0"/>
          </p:cNvCxnSpPr>
          <p:nvPr/>
        </p:nvCxnSpPr>
        <p:spPr>
          <a:xfrm>
            <a:off x="5621078" y="3370133"/>
            <a:ext cx="337200" cy="195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9" name="Google Shape;1029;p72"/>
          <p:cNvSpPr/>
          <p:nvPr/>
        </p:nvSpPr>
        <p:spPr>
          <a:xfrm>
            <a:off x="693000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374</a:t>
            </a:r>
            <a:endParaRPr/>
          </a:p>
        </p:txBody>
      </p:sp>
      <p:cxnSp>
        <p:nvCxnSpPr>
          <p:cNvPr id="1030" name="Google Shape;1030;p72"/>
          <p:cNvCxnSpPr>
            <a:stCxn id="1025" idx="2"/>
            <a:endCxn id="1029" idx="6"/>
          </p:cNvCxnSpPr>
          <p:nvPr/>
        </p:nvCxnSpPr>
        <p:spPr>
          <a:xfrm rot="10800000">
            <a:off x="1380575" y="3905225"/>
            <a:ext cx="3693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72"/>
          <p:cNvSpPr/>
          <p:nvPr/>
        </p:nvSpPr>
        <p:spPr>
          <a:xfrm>
            <a:off x="2757988" y="3565625"/>
            <a:ext cx="687600" cy="6792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418</a:t>
            </a:r>
            <a:endParaRPr/>
          </a:p>
        </p:txBody>
      </p:sp>
      <p:cxnSp>
        <p:nvCxnSpPr>
          <p:cNvPr id="1032" name="Google Shape;1032;p72"/>
          <p:cNvCxnSpPr>
            <a:stCxn id="1021" idx="2"/>
            <a:endCxn id="1031" idx="6"/>
          </p:cNvCxnSpPr>
          <p:nvPr/>
        </p:nvCxnSpPr>
        <p:spPr>
          <a:xfrm rot="10800000">
            <a:off x="3445700" y="3905225"/>
            <a:ext cx="3204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of Uniform Cost Search</a:t>
            </a:r>
            <a:endParaRPr/>
          </a:p>
        </p:txBody>
      </p:sp>
      <p:sp>
        <p:nvSpPr>
          <p:cNvPr id="1038" name="Google Shape;1038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Completeness?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Yes - there’s a proof (but we won’t go through 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Optimality?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Yes - </a:t>
            </a:r>
            <a:r>
              <a:rPr lang="en"/>
              <a:t>there’s a proof (but we won’t go through 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complexity?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Basically O(b^d)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Space complexity?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time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this is similar to breadth-first search, except we no longer assume that every action has the same cost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of Uniform Cost Search</a:t>
            </a:r>
            <a:endParaRPr/>
          </a:p>
        </p:txBody>
      </p:sp>
      <p:sp>
        <p:nvSpPr>
          <p:cNvPr id="1044" name="Google Shape;1044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the example, we saw that we had multiple goal nodes in the fringe, but only stopped when a goal node was pulled from the fringe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important; consider the following example:</a:t>
            </a:r>
            <a:endParaRPr/>
          </a:p>
        </p:txBody>
      </p:sp>
      <p:pic>
        <p:nvPicPr>
          <p:cNvPr id="1045" name="Google Shape;1045;p74"/>
          <p:cNvPicPr preferRelativeResize="0"/>
          <p:nvPr/>
        </p:nvPicPr>
        <p:blipFill rotWithShape="1">
          <a:blip r:embed="rId3">
            <a:alphaModFix/>
          </a:blip>
          <a:srcRect b="8334" l="6814" r="7796" t="5302"/>
          <a:stretch/>
        </p:blipFill>
        <p:spPr>
          <a:xfrm>
            <a:off x="3751350" y="2273075"/>
            <a:ext cx="1641301" cy="22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Blind Search</a:t>
            </a:r>
            <a:endParaRPr/>
          </a:p>
        </p:txBody>
      </p:sp>
      <p:sp>
        <p:nvSpPr>
          <p:cNvPr id="1051" name="Google Shape;1051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of the examples we have seen so far are blind searches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only use information from the problem description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don’t use the structure of the search 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disadvantages to this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Blind Search Shortcomings (BFS)</a:t>
            </a:r>
            <a:endParaRPr/>
          </a:p>
        </p:txBody>
      </p:sp>
      <p:pic>
        <p:nvPicPr>
          <p:cNvPr id="1057" name="Google Shape;105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63" y="1017725"/>
            <a:ext cx="4333065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Blind Search Shortcomings (BFS)</a:t>
            </a:r>
            <a:endParaRPr/>
          </a:p>
        </p:txBody>
      </p:sp>
      <p:pic>
        <p:nvPicPr>
          <p:cNvPr id="1063" name="Google Shape;106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063" y="1017725"/>
            <a:ext cx="43118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Blind Search Shortcomings (BFS)</a:t>
            </a:r>
            <a:endParaRPr/>
          </a:p>
        </p:txBody>
      </p:sp>
      <p:pic>
        <p:nvPicPr>
          <p:cNvPr id="1069" name="Google Shape;106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13" y="1017725"/>
            <a:ext cx="431016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Blind Search Shortcomings (BFS)</a:t>
            </a:r>
            <a:endParaRPr/>
          </a:p>
        </p:txBody>
      </p:sp>
      <p:pic>
        <p:nvPicPr>
          <p:cNvPr id="1075" name="Google Shape;10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875" y="1017725"/>
            <a:ext cx="430026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Blind Search Shortcomings (BFS)</a:t>
            </a:r>
            <a:endParaRPr/>
          </a:p>
        </p:txBody>
      </p:sp>
      <p:pic>
        <p:nvPicPr>
          <p:cNvPr id="1081" name="Google Shape;108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875" y="1017725"/>
            <a:ext cx="430026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Blind Search Shortcomings (BFS)</a:t>
            </a:r>
            <a:endParaRPr/>
          </a:p>
        </p:txBody>
      </p:sp>
      <p:pic>
        <p:nvPicPr>
          <p:cNvPr id="1087" name="Google Shape;108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063" y="1017725"/>
            <a:ext cx="43118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Blind Search</a:t>
            </a:r>
            <a:endParaRPr/>
          </a:p>
        </p:txBody>
      </p:sp>
      <p:sp>
        <p:nvSpPr>
          <p:cNvPr id="1093" name="Google Shape;1093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common way to incorporate search space structure is through a heuristic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a heuristic function?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way to estimate the value of a state (Reversi project)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Functions For Search Problems</a:t>
            </a:r>
            <a:endParaRPr/>
          </a:p>
        </p:txBody>
      </p:sp>
      <p:sp>
        <p:nvSpPr>
          <p:cNvPr id="1099" name="Google Shape;1099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n represent a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h(n) &gt;=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h(n) &gt; 0 if n is not a goal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h(n) = 0 if n is a goal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context of the Romania navigation problem, h(n) can just be the Euclidean (straight line) distance from n to the goal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we just let f(n) = h(n) (instead of f(n) = g(n))?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“greedy best-first search”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It’s ok (we won’t go into detail about it for the sake of time), but definitely not the greatest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Better Solution</a:t>
            </a:r>
            <a:endParaRPr/>
          </a:p>
        </p:txBody>
      </p:sp>
      <p:sp>
        <p:nvSpPr>
          <p:cNvPr id="1105" name="Google Shape;1105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we use both g(n) and h(n)?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g(n) = cost of a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h(n) = heuristic/estimate of a node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f(n) = h(n) + g(n)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“A star”, a very famous/popular search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11" name="Google Shape;1111;p85"/>
          <p:cNvSpPr/>
          <p:nvPr/>
        </p:nvSpPr>
        <p:spPr>
          <a:xfrm>
            <a:off x="4033350" y="21702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+ 300 = 366</a:t>
            </a:r>
            <a:endParaRPr sz="1000"/>
          </a:p>
        </p:txBody>
      </p:sp>
      <p:sp>
        <p:nvSpPr>
          <p:cNvPr id="1112" name="Google Shape;1112;p85"/>
          <p:cNvSpPr txBox="1"/>
          <p:nvPr/>
        </p:nvSpPr>
        <p:spPr>
          <a:xfrm>
            <a:off x="311700" y="1295425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[A]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13" name="Google Shape;111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0"/>
            <a:ext cx="3048003" cy="180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19" name="Google Shape;1119;p86"/>
          <p:cNvSpPr/>
          <p:nvPr/>
        </p:nvSpPr>
        <p:spPr>
          <a:xfrm>
            <a:off x="4033350" y="21702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+ 0 = 366</a:t>
            </a:r>
            <a:endParaRPr sz="1000"/>
          </a:p>
        </p:txBody>
      </p:sp>
      <p:sp>
        <p:nvSpPr>
          <p:cNvPr id="1120" name="Google Shape;1120;p86"/>
          <p:cNvSpPr txBox="1"/>
          <p:nvPr/>
        </p:nvSpPr>
        <p:spPr>
          <a:xfrm>
            <a:off x="311700" y="1295425"/>
            <a:ext cx="35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[S, T, Z]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1" name="Google Shape;1121;p86"/>
          <p:cNvSpPr/>
          <p:nvPr/>
        </p:nvSpPr>
        <p:spPr>
          <a:xfrm>
            <a:off x="27196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329</a:t>
            </a:r>
            <a:r>
              <a:rPr lang="en" sz="1000"/>
              <a:t> + 118 = 447</a:t>
            </a:r>
            <a:endParaRPr sz="1000"/>
          </a:p>
        </p:txBody>
      </p:sp>
      <p:sp>
        <p:nvSpPr>
          <p:cNvPr id="1122" name="Google Shape;1122;p86"/>
          <p:cNvSpPr/>
          <p:nvPr/>
        </p:nvSpPr>
        <p:spPr>
          <a:xfrm>
            <a:off x="404250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253</a:t>
            </a:r>
            <a:r>
              <a:rPr lang="en" sz="1000"/>
              <a:t> + 140 = 393</a:t>
            </a:r>
            <a:endParaRPr sz="1000"/>
          </a:p>
        </p:txBody>
      </p:sp>
      <p:sp>
        <p:nvSpPr>
          <p:cNvPr id="1123" name="Google Shape;1123;p86"/>
          <p:cNvSpPr/>
          <p:nvPr/>
        </p:nvSpPr>
        <p:spPr>
          <a:xfrm>
            <a:off x="53653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374</a:t>
            </a:r>
            <a:r>
              <a:rPr lang="en" sz="1000"/>
              <a:t> + 75 = 449</a:t>
            </a:r>
            <a:endParaRPr sz="1000"/>
          </a:p>
        </p:txBody>
      </p:sp>
      <p:cxnSp>
        <p:nvCxnSpPr>
          <p:cNvPr id="1124" name="Google Shape;1124;p86"/>
          <p:cNvCxnSpPr>
            <a:stCxn id="1119" idx="3"/>
            <a:endCxn id="1121" idx="0"/>
          </p:cNvCxnSpPr>
          <p:nvPr/>
        </p:nvCxnSpPr>
        <p:spPr>
          <a:xfrm flipH="1">
            <a:off x="3258417" y="1095075"/>
            <a:ext cx="9327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86"/>
          <p:cNvCxnSpPr>
            <a:stCxn id="1119" idx="4"/>
            <a:endCxn id="1122" idx="0"/>
          </p:cNvCxnSpPr>
          <p:nvPr/>
        </p:nvCxnSpPr>
        <p:spPr>
          <a:xfrm>
            <a:off x="4572000" y="1245725"/>
            <a:ext cx="93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6" name="Google Shape;1126;p86"/>
          <p:cNvCxnSpPr>
            <a:stCxn id="1119" idx="5"/>
            <a:endCxn id="1123" idx="0"/>
          </p:cNvCxnSpPr>
          <p:nvPr/>
        </p:nvCxnSpPr>
        <p:spPr>
          <a:xfrm>
            <a:off x="4952883" y="1095075"/>
            <a:ext cx="9510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27" name="Google Shape;112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0"/>
            <a:ext cx="3048003" cy="180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33" name="Google Shape;1133;p87"/>
          <p:cNvSpPr/>
          <p:nvPr/>
        </p:nvSpPr>
        <p:spPr>
          <a:xfrm>
            <a:off x="4033350" y="21702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+ 0 = 366</a:t>
            </a:r>
            <a:endParaRPr sz="1000"/>
          </a:p>
        </p:txBody>
      </p:sp>
      <p:sp>
        <p:nvSpPr>
          <p:cNvPr id="1134" name="Google Shape;1134;p87"/>
          <p:cNvSpPr txBox="1"/>
          <p:nvPr/>
        </p:nvSpPr>
        <p:spPr>
          <a:xfrm>
            <a:off x="311700" y="1295425"/>
            <a:ext cx="35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[R, F, T, Z, A, O]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5" name="Google Shape;1135;p87"/>
          <p:cNvSpPr/>
          <p:nvPr/>
        </p:nvSpPr>
        <p:spPr>
          <a:xfrm>
            <a:off x="27196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329 + 118 = 447</a:t>
            </a:r>
            <a:endParaRPr sz="1000"/>
          </a:p>
        </p:txBody>
      </p:sp>
      <p:sp>
        <p:nvSpPr>
          <p:cNvPr id="1136" name="Google Shape;1136;p87"/>
          <p:cNvSpPr/>
          <p:nvPr/>
        </p:nvSpPr>
        <p:spPr>
          <a:xfrm>
            <a:off x="404250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253 + 140 = 393</a:t>
            </a:r>
            <a:endParaRPr sz="1000"/>
          </a:p>
        </p:txBody>
      </p:sp>
      <p:sp>
        <p:nvSpPr>
          <p:cNvPr id="1137" name="Google Shape;1137;p87"/>
          <p:cNvSpPr/>
          <p:nvPr/>
        </p:nvSpPr>
        <p:spPr>
          <a:xfrm>
            <a:off x="53653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374 + 75 = 449</a:t>
            </a:r>
            <a:endParaRPr sz="1000"/>
          </a:p>
        </p:txBody>
      </p:sp>
      <p:cxnSp>
        <p:nvCxnSpPr>
          <p:cNvPr id="1138" name="Google Shape;1138;p87"/>
          <p:cNvCxnSpPr>
            <a:stCxn id="1133" idx="3"/>
            <a:endCxn id="1135" idx="0"/>
          </p:cNvCxnSpPr>
          <p:nvPr/>
        </p:nvCxnSpPr>
        <p:spPr>
          <a:xfrm flipH="1">
            <a:off x="3258417" y="1095075"/>
            <a:ext cx="9327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9" name="Google Shape;1139;p87"/>
          <p:cNvCxnSpPr>
            <a:stCxn id="1133" idx="4"/>
            <a:endCxn id="1136" idx="0"/>
          </p:cNvCxnSpPr>
          <p:nvPr/>
        </p:nvCxnSpPr>
        <p:spPr>
          <a:xfrm>
            <a:off x="4572000" y="1245725"/>
            <a:ext cx="93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0" name="Google Shape;1140;p87"/>
          <p:cNvCxnSpPr>
            <a:stCxn id="1133" idx="5"/>
            <a:endCxn id="1137" idx="0"/>
          </p:cNvCxnSpPr>
          <p:nvPr/>
        </p:nvCxnSpPr>
        <p:spPr>
          <a:xfrm>
            <a:off x="4952883" y="1095075"/>
            <a:ext cx="9510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1" name="Google Shape;1141;p87"/>
          <p:cNvSpPr/>
          <p:nvPr/>
        </p:nvSpPr>
        <p:spPr>
          <a:xfrm>
            <a:off x="2181150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</a:t>
            </a:r>
            <a:r>
              <a:rPr lang="en" sz="1000"/>
              <a:t> + 280 = 646</a:t>
            </a:r>
            <a:endParaRPr sz="1000"/>
          </a:p>
        </p:txBody>
      </p:sp>
      <p:sp>
        <p:nvSpPr>
          <p:cNvPr id="1142" name="Google Shape;1142;p87"/>
          <p:cNvSpPr/>
          <p:nvPr/>
        </p:nvSpPr>
        <p:spPr>
          <a:xfrm>
            <a:off x="3461913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380</a:t>
            </a:r>
            <a:r>
              <a:rPr lang="en" sz="1000"/>
              <a:t> + 291 = 671</a:t>
            </a:r>
            <a:endParaRPr sz="1000"/>
          </a:p>
        </p:txBody>
      </p:sp>
      <p:sp>
        <p:nvSpPr>
          <p:cNvPr id="1143" name="Google Shape;1143;p87"/>
          <p:cNvSpPr/>
          <p:nvPr/>
        </p:nvSpPr>
        <p:spPr>
          <a:xfrm>
            <a:off x="4742700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193</a:t>
            </a:r>
            <a:r>
              <a:rPr lang="en" sz="1000"/>
              <a:t> + 220 = 413</a:t>
            </a:r>
            <a:endParaRPr sz="1000"/>
          </a:p>
        </p:txBody>
      </p:sp>
      <p:sp>
        <p:nvSpPr>
          <p:cNvPr id="1144" name="Google Shape;1144;p87"/>
          <p:cNvSpPr/>
          <p:nvPr/>
        </p:nvSpPr>
        <p:spPr>
          <a:xfrm>
            <a:off x="6023475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176</a:t>
            </a:r>
            <a:r>
              <a:rPr lang="en" sz="1000"/>
              <a:t> + 239 = 415</a:t>
            </a:r>
            <a:endParaRPr sz="1000"/>
          </a:p>
        </p:txBody>
      </p:sp>
      <p:cxnSp>
        <p:nvCxnSpPr>
          <p:cNvPr id="1145" name="Google Shape;1145;p87"/>
          <p:cNvCxnSpPr>
            <a:stCxn id="1136" idx="3"/>
            <a:endCxn id="1141" idx="0"/>
          </p:cNvCxnSpPr>
          <p:nvPr/>
        </p:nvCxnSpPr>
        <p:spPr>
          <a:xfrm flipH="1">
            <a:off x="2719767" y="2323900"/>
            <a:ext cx="1480500" cy="358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6" name="Google Shape;1146;p87"/>
          <p:cNvCxnSpPr>
            <a:stCxn id="1136" idx="4"/>
            <a:endCxn id="1142" idx="0"/>
          </p:cNvCxnSpPr>
          <p:nvPr/>
        </p:nvCxnSpPr>
        <p:spPr>
          <a:xfrm flipH="1">
            <a:off x="4000650" y="2474550"/>
            <a:ext cx="580500" cy="207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7" name="Google Shape;1147;p87"/>
          <p:cNvCxnSpPr>
            <a:stCxn id="1136" idx="4"/>
            <a:endCxn id="1143" idx="0"/>
          </p:cNvCxnSpPr>
          <p:nvPr/>
        </p:nvCxnSpPr>
        <p:spPr>
          <a:xfrm>
            <a:off x="4581150" y="2474550"/>
            <a:ext cx="7002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8" name="Google Shape;1148;p87"/>
          <p:cNvCxnSpPr>
            <a:stCxn id="1136" idx="5"/>
            <a:endCxn id="1144" idx="0"/>
          </p:cNvCxnSpPr>
          <p:nvPr/>
        </p:nvCxnSpPr>
        <p:spPr>
          <a:xfrm>
            <a:off x="4962033" y="2323900"/>
            <a:ext cx="16002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49" name="Google Shape;114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0"/>
            <a:ext cx="3048003" cy="180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55" name="Google Shape;1155;p88"/>
          <p:cNvSpPr/>
          <p:nvPr/>
        </p:nvSpPr>
        <p:spPr>
          <a:xfrm>
            <a:off x="4033350" y="21702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+ 0 = 366</a:t>
            </a:r>
            <a:endParaRPr sz="1000"/>
          </a:p>
        </p:txBody>
      </p:sp>
      <p:sp>
        <p:nvSpPr>
          <p:cNvPr id="1156" name="Google Shape;1156;p88"/>
          <p:cNvSpPr txBox="1"/>
          <p:nvPr/>
        </p:nvSpPr>
        <p:spPr>
          <a:xfrm>
            <a:off x="311700" y="1295425"/>
            <a:ext cx="35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[F, P, T, Z, C, A, O]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7" name="Google Shape;1157;p88"/>
          <p:cNvSpPr/>
          <p:nvPr/>
        </p:nvSpPr>
        <p:spPr>
          <a:xfrm>
            <a:off x="27196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329 + 118 = 447</a:t>
            </a:r>
            <a:endParaRPr sz="1000"/>
          </a:p>
        </p:txBody>
      </p:sp>
      <p:sp>
        <p:nvSpPr>
          <p:cNvPr id="1158" name="Google Shape;1158;p88"/>
          <p:cNvSpPr/>
          <p:nvPr/>
        </p:nvSpPr>
        <p:spPr>
          <a:xfrm>
            <a:off x="404250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253 + 140 = 393</a:t>
            </a:r>
            <a:endParaRPr sz="1000"/>
          </a:p>
        </p:txBody>
      </p:sp>
      <p:sp>
        <p:nvSpPr>
          <p:cNvPr id="1159" name="Google Shape;1159;p88"/>
          <p:cNvSpPr/>
          <p:nvPr/>
        </p:nvSpPr>
        <p:spPr>
          <a:xfrm>
            <a:off x="53653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374 + 75 = 449</a:t>
            </a:r>
            <a:endParaRPr sz="1000"/>
          </a:p>
        </p:txBody>
      </p:sp>
      <p:cxnSp>
        <p:nvCxnSpPr>
          <p:cNvPr id="1160" name="Google Shape;1160;p88"/>
          <p:cNvCxnSpPr>
            <a:stCxn id="1155" idx="3"/>
            <a:endCxn id="1157" idx="0"/>
          </p:cNvCxnSpPr>
          <p:nvPr/>
        </p:nvCxnSpPr>
        <p:spPr>
          <a:xfrm flipH="1">
            <a:off x="3258417" y="1095075"/>
            <a:ext cx="9327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1" name="Google Shape;1161;p88"/>
          <p:cNvCxnSpPr>
            <a:stCxn id="1155" idx="4"/>
            <a:endCxn id="1158" idx="0"/>
          </p:cNvCxnSpPr>
          <p:nvPr/>
        </p:nvCxnSpPr>
        <p:spPr>
          <a:xfrm>
            <a:off x="4572000" y="1245725"/>
            <a:ext cx="93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2" name="Google Shape;1162;p88"/>
          <p:cNvCxnSpPr>
            <a:stCxn id="1155" idx="5"/>
            <a:endCxn id="1159" idx="0"/>
          </p:cNvCxnSpPr>
          <p:nvPr/>
        </p:nvCxnSpPr>
        <p:spPr>
          <a:xfrm>
            <a:off x="4952883" y="1095075"/>
            <a:ext cx="9510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3" name="Google Shape;1163;p88"/>
          <p:cNvSpPr/>
          <p:nvPr/>
        </p:nvSpPr>
        <p:spPr>
          <a:xfrm>
            <a:off x="2181150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+ 280 = 646</a:t>
            </a:r>
            <a:endParaRPr sz="1000"/>
          </a:p>
        </p:txBody>
      </p:sp>
      <p:sp>
        <p:nvSpPr>
          <p:cNvPr id="1164" name="Google Shape;1164;p88"/>
          <p:cNvSpPr/>
          <p:nvPr/>
        </p:nvSpPr>
        <p:spPr>
          <a:xfrm>
            <a:off x="3461913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380 + 291 = 671</a:t>
            </a:r>
            <a:endParaRPr sz="1000"/>
          </a:p>
        </p:txBody>
      </p:sp>
      <p:sp>
        <p:nvSpPr>
          <p:cNvPr id="1165" name="Google Shape;1165;p88"/>
          <p:cNvSpPr/>
          <p:nvPr/>
        </p:nvSpPr>
        <p:spPr>
          <a:xfrm>
            <a:off x="4742700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193 + 220 = 413</a:t>
            </a:r>
            <a:endParaRPr sz="1000"/>
          </a:p>
        </p:txBody>
      </p:sp>
      <p:sp>
        <p:nvSpPr>
          <p:cNvPr id="1166" name="Google Shape;1166;p88"/>
          <p:cNvSpPr/>
          <p:nvPr/>
        </p:nvSpPr>
        <p:spPr>
          <a:xfrm>
            <a:off x="6023475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176 + 239 = 415</a:t>
            </a:r>
            <a:endParaRPr sz="1000"/>
          </a:p>
        </p:txBody>
      </p:sp>
      <p:cxnSp>
        <p:nvCxnSpPr>
          <p:cNvPr id="1167" name="Google Shape;1167;p88"/>
          <p:cNvCxnSpPr>
            <a:stCxn id="1158" idx="3"/>
            <a:endCxn id="1163" idx="0"/>
          </p:cNvCxnSpPr>
          <p:nvPr/>
        </p:nvCxnSpPr>
        <p:spPr>
          <a:xfrm flipH="1">
            <a:off x="2719767" y="2323900"/>
            <a:ext cx="1480500" cy="358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8" name="Google Shape;1168;p88"/>
          <p:cNvCxnSpPr>
            <a:stCxn id="1158" idx="4"/>
            <a:endCxn id="1164" idx="0"/>
          </p:cNvCxnSpPr>
          <p:nvPr/>
        </p:nvCxnSpPr>
        <p:spPr>
          <a:xfrm flipH="1">
            <a:off x="4000650" y="2474550"/>
            <a:ext cx="580500" cy="207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9" name="Google Shape;1169;p88"/>
          <p:cNvCxnSpPr>
            <a:stCxn id="1158" idx="4"/>
            <a:endCxn id="1165" idx="0"/>
          </p:cNvCxnSpPr>
          <p:nvPr/>
        </p:nvCxnSpPr>
        <p:spPr>
          <a:xfrm>
            <a:off x="4581150" y="2474550"/>
            <a:ext cx="7002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0" name="Google Shape;1170;p88"/>
          <p:cNvCxnSpPr>
            <a:stCxn id="1158" idx="5"/>
            <a:endCxn id="1166" idx="0"/>
          </p:cNvCxnSpPr>
          <p:nvPr/>
        </p:nvCxnSpPr>
        <p:spPr>
          <a:xfrm>
            <a:off x="4962033" y="2323900"/>
            <a:ext cx="16002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1" name="Google Shape;1171;p88"/>
          <p:cNvSpPr/>
          <p:nvPr/>
        </p:nvSpPr>
        <p:spPr>
          <a:xfrm>
            <a:off x="4191113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100</a:t>
            </a:r>
            <a:r>
              <a:rPr lang="en" sz="1000"/>
              <a:t> + 317 = 417</a:t>
            </a:r>
            <a:endParaRPr sz="1000"/>
          </a:p>
        </p:txBody>
      </p:sp>
      <p:sp>
        <p:nvSpPr>
          <p:cNvPr id="1172" name="Google Shape;1172;p88"/>
          <p:cNvSpPr/>
          <p:nvPr/>
        </p:nvSpPr>
        <p:spPr>
          <a:xfrm>
            <a:off x="536533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160</a:t>
            </a:r>
            <a:r>
              <a:rPr lang="en" sz="1000"/>
              <a:t> + 366 = 526</a:t>
            </a:r>
            <a:endParaRPr sz="1000"/>
          </a:p>
        </p:txBody>
      </p:sp>
      <p:cxnSp>
        <p:nvCxnSpPr>
          <p:cNvPr id="1173" name="Google Shape;1173;p88"/>
          <p:cNvCxnSpPr>
            <a:stCxn id="1165" idx="3"/>
            <a:endCxn id="1171" idx="0"/>
          </p:cNvCxnSpPr>
          <p:nvPr/>
        </p:nvCxnSpPr>
        <p:spPr>
          <a:xfrm flipH="1">
            <a:off x="4729767" y="3552725"/>
            <a:ext cx="1707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88"/>
          <p:cNvCxnSpPr>
            <a:stCxn id="1165" idx="5"/>
            <a:endCxn id="1172" idx="0"/>
          </p:cNvCxnSpPr>
          <p:nvPr/>
        </p:nvCxnSpPr>
        <p:spPr>
          <a:xfrm>
            <a:off x="5662233" y="3552725"/>
            <a:ext cx="2418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75" name="Google Shape;117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0"/>
            <a:ext cx="3048003" cy="180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81" name="Google Shape;1181;p89"/>
          <p:cNvSpPr/>
          <p:nvPr/>
        </p:nvSpPr>
        <p:spPr>
          <a:xfrm>
            <a:off x="4033350" y="21702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+ 0 = 366</a:t>
            </a:r>
            <a:endParaRPr sz="1000"/>
          </a:p>
        </p:txBody>
      </p:sp>
      <p:sp>
        <p:nvSpPr>
          <p:cNvPr id="1182" name="Google Shape;1182;p89"/>
          <p:cNvSpPr txBox="1"/>
          <p:nvPr/>
        </p:nvSpPr>
        <p:spPr>
          <a:xfrm>
            <a:off x="311700" y="1295425"/>
            <a:ext cx="35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[P, T, Z, B, C, A, O]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3" name="Google Shape;1183;p89"/>
          <p:cNvSpPr/>
          <p:nvPr/>
        </p:nvSpPr>
        <p:spPr>
          <a:xfrm>
            <a:off x="27196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329 + 118 = 447</a:t>
            </a:r>
            <a:endParaRPr sz="1000"/>
          </a:p>
        </p:txBody>
      </p:sp>
      <p:sp>
        <p:nvSpPr>
          <p:cNvPr id="1184" name="Google Shape;1184;p89"/>
          <p:cNvSpPr/>
          <p:nvPr/>
        </p:nvSpPr>
        <p:spPr>
          <a:xfrm>
            <a:off x="404250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253 + 140 = 393</a:t>
            </a:r>
            <a:endParaRPr sz="1000"/>
          </a:p>
        </p:txBody>
      </p:sp>
      <p:sp>
        <p:nvSpPr>
          <p:cNvPr id="1185" name="Google Shape;1185;p89"/>
          <p:cNvSpPr/>
          <p:nvPr/>
        </p:nvSpPr>
        <p:spPr>
          <a:xfrm>
            <a:off x="53653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374 + 75 = 449</a:t>
            </a:r>
            <a:endParaRPr sz="1000"/>
          </a:p>
        </p:txBody>
      </p:sp>
      <p:cxnSp>
        <p:nvCxnSpPr>
          <p:cNvPr id="1186" name="Google Shape;1186;p89"/>
          <p:cNvCxnSpPr>
            <a:stCxn id="1181" idx="3"/>
            <a:endCxn id="1183" idx="0"/>
          </p:cNvCxnSpPr>
          <p:nvPr/>
        </p:nvCxnSpPr>
        <p:spPr>
          <a:xfrm flipH="1">
            <a:off x="3258417" y="1095075"/>
            <a:ext cx="9327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7" name="Google Shape;1187;p89"/>
          <p:cNvCxnSpPr>
            <a:stCxn id="1181" idx="4"/>
            <a:endCxn id="1184" idx="0"/>
          </p:cNvCxnSpPr>
          <p:nvPr/>
        </p:nvCxnSpPr>
        <p:spPr>
          <a:xfrm>
            <a:off x="4572000" y="1245725"/>
            <a:ext cx="93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8" name="Google Shape;1188;p89"/>
          <p:cNvCxnSpPr>
            <a:stCxn id="1181" idx="5"/>
            <a:endCxn id="1185" idx="0"/>
          </p:cNvCxnSpPr>
          <p:nvPr/>
        </p:nvCxnSpPr>
        <p:spPr>
          <a:xfrm>
            <a:off x="4952883" y="1095075"/>
            <a:ext cx="9510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9" name="Google Shape;1189;p89"/>
          <p:cNvSpPr/>
          <p:nvPr/>
        </p:nvSpPr>
        <p:spPr>
          <a:xfrm>
            <a:off x="2181150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+ 280 = 646</a:t>
            </a:r>
            <a:endParaRPr sz="1000"/>
          </a:p>
        </p:txBody>
      </p:sp>
      <p:sp>
        <p:nvSpPr>
          <p:cNvPr id="1190" name="Google Shape;1190;p89"/>
          <p:cNvSpPr/>
          <p:nvPr/>
        </p:nvSpPr>
        <p:spPr>
          <a:xfrm>
            <a:off x="3461913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380 + 291 = 671</a:t>
            </a:r>
            <a:endParaRPr sz="1000"/>
          </a:p>
        </p:txBody>
      </p:sp>
      <p:sp>
        <p:nvSpPr>
          <p:cNvPr id="1191" name="Google Shape;1191;p89"/>
          <p:cNvSpPr/>
          <p:nvPr/>
        </p:nvSpPr>
        <p:spPr>
          <a:xfrm>
            <a:off x="4742700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193 + 220 = 413</a:t>
            </a:r>
            <a:endParaRPr sz="1000"/>
          </a:p>
        </p:txBody>
      </p:sp>
      <p:sp>
        <p:nvSpPr>
          <p:cNvPr id="1192" name="Google Shape;1192;p89"/>
          <p:cNvSpPr/>
          <p:nvPr/>
        </p:nvSpPr>
        <p:spPr>
          <a:xfrm>
            <a:off x="6023475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176 + 239 = 415</a:t>
            </a:r>
            <a:endParaRPr sz="1000"/>
          </a:p>
        </p:txBody>
      </p:sp>
      <p:cxnSp>
        <p:nvCxnSpPr>
          <p:cNvPr id="1193" name="Google Shape;1193;p89"/>
          <p:cNvCxnSpPr>
            <a:stCxn id="1184" idx="3"/>
            <a:endCxn id="1189" idx="0"/>
          </p:cNvCxnSpPr>
          <p:nvPr/>
        </p:nvCxnSpPr>
        <p:spPr>
          <a:xfrm flipH="1">
            <a:off x="2719767" y="2323900"/>
            <a:ext cx="1480500" cy="358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4" name="Google Shape;1194;p89"/>
          <p:cNvCxnSpPr>
            <a:stCxn id="1184" idx="4"/>
            <a:endCxn id="1190" idx="0"/>
          </p:cNvCxnSpPr>
          <p:nvPr/>
        </p:nvCxnSpPr>
        <p:spPr>
          <a:xfrm flipH="1">
            <a:off x="4000650" y="2474550"/>
            <a:ext cx="580500" cy="207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5" name="Google Shape;1195;p89"/>
          <p:cNvCxnSpPr>
            <a:stCxn id="1184" idx="4"/>
            <a:endCxn id="1191" idx="0"/>
          </p:cNvCxnSpPr>
          <p:nvPr/>
        </p:nvCxnSpPr>
        <p:spPr>
          <a:xfrm>
            <a:off x="4581150" y="2474550"/>
            <a:ext cx="7002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6" name="Google Shape;1196;p89"/>
          <p:cNvCxnSpPr>
            <a:stCxn id="1184" idx="5"/>
            <a:endCxn id="1192" idx="0"/>
          </p:cNvCxnSpPr>
          <p:nvPr/>
        </p:nvCxnSpPr>
        <p:spPr>
          <a:xfrm>
            <a:off x="4962033" y="2323900"/>
            <a:ext cx="16002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7" name="Google Shape;1197;p89"/>
          <p:cNvSpPr/>
          <p:nvPr/>
        </p:nvSpPr>
        <p:spPr>
          <a:xfrm>
            <a:off x="4191113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100 + 317 = 417</a:t>
            </a:r>
            <a:endParaRPr sz="1000"/>
          </a:p>
        </p:txBody>
      </p:sp>
      <p:sp>
        <p:nvSpPr>
          <p:cNvPr id="1198" name="Google Shape;1198;p89"/>
          <p:cNvSpPr/>
          <p:nvPr/>
        </p:nvSpPr>
        <p:spPr>
          <a:xfrm>
            <a:off x="536533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160 + 366 = 526</a:t>
            </a:r>
            <a:endParaRPr sz="1000"/>
          </a:p>
        </p:txBody>
      </p:sp>
      <p:cxnSp>
        <p:nvCxnSpPr>
          <p:cNvPr id="1199" name="Google Shape;1199;p89"/>
          <p:cNvCxnSpPr>
            <a:stCxn id="1191" idx="3"/>
            <a:endCxn id="1197" idx="0"/>
          </p:cNvCxnSpPr>
          <p:nvPr/>
        </p:nvCxnSpPr>
        <p:spPr>
          <a:xfrm flipH="1">
            <a:off x="4729767" y="3552725"/>
            <a:ext cx="1707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0" name="Google Shape;1200;p89"/>
          <p:cNvCxnSpPr>
            <a:stCxn id="1191" idx="5"/>
            <a:endCxn id="1198" idx="0"/>
          </p:cNvCxnSpPr>
          <p:nvPr/>
        </p:nvCxnSpPr>
        <p:spPr>
          <a:xfrm>
            <a:off x="5662233" y="3552725"/>
            <a:ext cx="2418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1" name="Google Shape;1201;p89"/>
          <p:cNvSpPr/>
          <p:nvPr/>
        </p:nvSpPr>
        <p:spPr>
          <a:xfrm>
            <a:off x="694298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0</a:t>
            </a:r>
            <a:r>
              <a:rPr lang="en" sz="1000"/>
              <a:t> + 450 = 450</a:t>
            </a:r>
            <a:endParaRPr sz="1000"/>
          </a:p>
        </p:txBody>
      </p:sp>
      <p:cxnSp>
        <p:nvCxnSpPr>
          <p:cNvPr id="1202" name="Google Shape;1202;p89"/>
          <p:cNvCxnSpPr>
            <a:stCxn id="1192" idx="5"/>
            <a:endCxn id="1201" idx="0"/>
          </p:cNvCxnSpPr>
          <p:nvPr/>
        </p:nvCxnSpPr>
        <p:spPr>
          <a:xfrm>
            <a:off x="6943008" y="3552725"/>
            <a:ext cx="5385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03" name="Google Shape;120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0"/>
            <a:ext cx="3048003" cy="180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209" name="Google Shape;1209;p90"/>
          <p:cNvSpPr/>
          <p:nvPr/>
        </p:nvSpPr>
        <p:spPr>
          <a:xfrm>
            <a:off x="4033350" y="21702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+ 0 = 366</a:t>
            </a:r>
            <a:endParaRPr sz="1000"/>
          </a:p>
        </p:txBody>
      </p:sp>
      <p:sp>
        <p:nvSpPr>
          <p:cNvPr id="1210" name="Google Shape;1210;p90"/>
          <p:cNvSpPr txBox="1"/>
          <p:nvPr/>
        </p:nvSpPr>
        <p:spPr>
          <a:xfrm>
            <a:off x="311700" y="1295425"/>
            <a:ext cx="35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Fringe: [B, T, Z, B, C, A, O]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1" name="Google Shape;1211;p90"/>
          <p:cNvSpPr/>
          <p:nvPr/>
        </p:nvSpPr>
        <p:spPr>
          <a:xfrm>
            <a:off x="27196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329 + 118 = 447</a:t>
            </a:r>
            <a:endParaRPr sz="1000"/>
          </a:p>
        </p:txBody>
      </p:sp>
      <p:sp>
        <p:nvSpPr>
          <p:cNvPr id="1212" name="Google Shape;1212;p90"/>
          <p:cNvSpPr/>
          <p:nvPr/>
        </p:nvSpPr>
        <p:spPr>
          <a:xfrm>
            <a:off x="404250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253 + 140 = 393</a:t>
            </a:r>
            <a:endParaRPr sz="1000"/>
          </a:p>
        </p:txBody>
      </p:sp>
      <p:sp>
        <p:nvSpPr>
          <p:cNvPr id="1213" name="Google Shape;1213;p90"/>
          <p:cNvSpPr/>
          <p:nvPr/>
        </p:nvSpPr>
        <p:spPr>
          <a:xfrm>
            <a:off x="53653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374 + 75 = 449</a:t>
            </a:r>
            <a:endParaRPr sz="1000"/>
          </a:p>
        </p:txBody>
      </p:sp>
      <p:cxnSp>
        <p:nvCxnSpPr>
          <p:cNvPr id="1214" name="Google Shape;1214;p90"/>
          <p:cNvCxnSpPr>
            <a:stCxn id="1209" idx="3"/>
            <a:endCxn id="1211" idx="0"/>
          </p:cNvCxnSpPr>
          <p:nvPr/>
        </p:nvCxnSpPr>
        <p:spPr>
          <a:xfrm flipH="1">
            <a:off x="3258417" y="1095075"/>
            <a:ext cx="9327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5" name="Google Shape;1215;p90"/>
          <p:cNvCxnSpPr>
            <a:stCxn id="1209" idx="4"/>
            <a:endCxn id="1212" idx="0"/>
          </p:cNvCxnSpPr>
          <p:nvPr/>
        </p:nvCxnSpPr>
        <p:spPr>
          <a:xfrm>
            <a:off x="4572000" y="1245725"/>
            <a:ext cx="93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6" name="Google Shape;1216;p90"/>
          <p:cNvCxnSpPr>
            <a:stCxn id="1209" idx="5"/>
            <a:endCxn id="1213" idx="0"/>
          </p:cNvCxnSpPr>
          <p:nvPr/>
        </p:nvCxnSpPr>
        <p:spPr>
          <a:xfrm>
            <a:off x="4952883" y="1095075"/>
            <a:ext cx="9510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7" name="Google Shape;1217;p90"/>
          <p:cNvSpPr/>
          <p:nvPr/>
        </p:nvSpPr>
        <p:spPr>
          <a:xfrm>
            <a:off x="2181150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+ 280 = 646</a:t>
            </a:r>
            <a:endParaRPr sz="1000"/>
          </a:p>
        </p:txBody>
      </p:sp>
      <p:sp>
        <p:nvSpPr>
          <p:cNvPr id="1218" name="Google Shape;1218;p90"/>
          <p:cNvSpPr/>
          <p:nvPr/>
        </p:nvSpPr>
        <p:spPr>
          <a:xfrm>
            <a:off x="3461913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380 + 291 = 671</a:t>
            </a:r>
            <a:endParaRPr sz="1000"/>
          </a:p>
        </p:txBody>
      </p:sp>
      <p:sp>
        <p:nvSpPr>
          <p:cNvPr id="1219" name="Google Shape;1219;p90"/>
          <p:cNvSpPr/>
          <p:nvPr/>
        </p:nvSpPr>
        <p:spPr>
          <a:xfrm>
            <a:off x="4742700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193 + 220 = 413</a:t>
            </a:r>
            <a:endParaRPr sz="1000"/>
          </a:p>
        </p:txBody>
      </p:sp>
      <p:sp>
        <p:nvSpPr>
          <p:cNvPr id="1220" name="Google Shape;1220;p90"/>
          <p:cNvSpPr/>
          <p:nvPr/>
        </p:nvSpPr>
        <p:spPr>
          <a:xfrm>
            <a:off x="6023475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176 + 239 = 415</a:t>
            </a:r>
            <a:endParaRPr sz="1000"/>
          </a:p>
        </p:txBody>
      </p:sp>
      <p:cxnSp>
        <p:nvCxnSpPr>
          <p:cNvPr id="1221" name="Google Shape;1221;p90"/>
          <p:cNvCxnSpPr>
            <a:stCxn id="1212" idx="3"/>
            <a:endCxn id="1217" idx="0"/>
          </p:cNvCxnSpPr>
          <p:nvPr/>
        </p:nvCxnSpPr>
        <p:spPr>
          <a:xfrm flipH="1">
            <a:off x="2719767" y="2323900"/>
            <a:ext cx="1480500" cy="358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2" name="Google Shape;1222;p90"/>
          <p:cNvCxnSpPr>
            <a:stCxn id="1212" idx="4"/>
            <a:endCxn id="1218" idx="0"/>
          </p:cNvCxnSpPr>
          <p:nvPr/>
        </p:nvCxnSpPr>
        <p:spPr>
          <a:xfrm flipH="1">
            <a:off x="4000650" y="2474550"/>
            <a:ext cx="580500" cy="207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3" name="Google Shape;1223;p90"/>
          <p:cNvCxnSpPr>
            <a:stCxn id="1212" idx="4"/>
            <a:endCxn id="1219" idx="0"/>
          </p:cNvCxnSpPr>
          <p:nvPr/>
        </p:nvCxnSpPr>
        <p:spPr>
          <a:xfrm>
            <a:off x="4581150" y="2474550"/>
            <a:ext cx="700200" cy="200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4" name="Google Shape;1224;p90"/>
          <p:cNvCxnSpPr>
            <a:stCxn id="1212" idx="5"/>
            <a:endCxn id="1220" idx="0"/>
          </p:cNvCxnSpPr>
          <p:nvPr/>
        </p:nvCxnSpPr>
        <p:spPr>
          <a:xfrm>
            <a:off x="4962033" y="2323900"/>
            <a:ext cx="16002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5" name="Google Shape;1225;p90"/>
          <p:cNvSpPr/>
          <p:nvPr/>
        </p:nvSpPr>
        <p:spPr>
          <a:xfrm>
            <a:off x="4191113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100 + 317 = 417</a:t>
            </a:r>
            <a:endParaRPr sz="1000"/>
          </a:p>
        </p:txBody>
      </p:sp>
      <p:sp>
        <p:nvSpPr>
          <p:cNvPr id="1226" name="Google Shape;1226;p90"/>
          <p:cNvSpPr/>
          <p:nvPr/>
        </p:nvSpPr>
        <p:spPr>
          <a:xfrm>
            <a:off x="536533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160 + 366 = 526</a:t>
            </a:r>
            <a:endParaRPr sz="1000"/>
          </a:p>
        </p:txBody>
      </p:sp>
      <p:cxnSp>
        <p:nvCxnSpPr>
          <p:cNvPr id="1227" name="Google Shape;1227;p90"/>
          <p:cNvCxnSpPr>
            <a:stCxn id="1219" idx="3"/>
            <a:endCxn id="1225" idx="0"/>
          </p:cNvCxnSpPr>
          <p:nvPr/>
        </p:nvCxnSpPr>
        <p:spPr>
          <a:xfrm flipH="1">
            <a:off x="4729767" y="3552725"/>
            <a:ext cx="1707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8" name="Google Shape;1228;p90"/>
          <p:cNvCxnSpPr>
            <a:stCxn id="1219" idx="5"/>
            <a:endCxn id="1226" idx="0"/>
          </p:cNvCxnSpPr>
          <p:nvPr/>
        </p:nvCxnSpPr>
        <p:spPr>
          <a:xfrm>
            <a:off x="5662233" y="3552725"/>
            <a:ext cx="2418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9" name="Google Shape;1229;p90"/>
          <p:cNvSpPr/>
          <p:nvPr/>
        </p:nvSpPr>
        <p:spPr>
          <a:xfrm>
            <a:off x="694298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0 + 450 = 450</a:t>
            </a:r>
            <a:endParaRPr sz="1000"/>
          </a:p>
        </p:txBody>
      </p:sp>
      <p:cxnSp>
        <p:nvCxnSpPr>
          <p:cNvPr id="1230" name="Google Shape;1230;p90"/>
          <p:cNvCxnSpPr>
            <a:stCxn id="1220" idx="5"/>
            <a:endCxn id="1229" idx="0"/>
          </p:cNvCxnSpPr>
          <p:nvPr/>
        </p:nvCxnSpPr>
        <p:spPr>
          <a:xfrm>
            <a:off x="6943008" y="3552725"/>
            <a:ext cx="5385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1" name="Google Shape;1231;p90"/>
          <p:cNvSpPr/>
          <p:nvPr/>
        </p:nvSpPr>
        <p:spPr>
          <a:xfrm>
            <a:off x="277018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0 + 418 = 418</a:t>
            </a:r>
            <a:endParaRPr sz="1000"/>
          </a:p>
        </p:txBody>
      </p:sp>
      <p:cxnSp>
        <p:nvCxnSpPr>
          <p:cNvPr id="1232" name="Google Shape;1232;p90"/>
          <p:cNvCxnSpPr>
            <a:stCxn id="1225" idx="2"/>
            <a:endCxn id="1231" idx="6"/>
          </p:cNvCxnSpPr>
          <p:nvPr/>
        </p:nvCxnSpPr>
        <p:spPr>
          <a:xfrm rot="10800000">
            <a:off x="3847613" y="4339425"/>
            <a:ext cx="343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33" name="Google Shape;123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0"/>
            <a:ext cx="3048003" cy="180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239" name="Google Shape;1239;p91"/>
          <p:cNvSpPr/>
          <p:nvPr/>
        </p:nvSpPr>
        <p:spPr>
          <a:xfrm>
            <a:off x="4033350" y="21702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+ 0 = 366</a:t>
            </a:r>
            <a:endParaRPr sz="1000"/>
          </a:p>
        </p:txBody>
      </p:sp>
      <p:sp>
        <p:nvSpPr>
          <p:cNvPr id="1240" name="Google Shape;1240;p91"/>
          <p:cNvSpPr/>
          <p:nvPr/>
        </p:nvSpPr>
        <p:spPr>
          <a:xfrm>
            <a:off x="27196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329 + 118 = 447</a:t>
            </a:r>
            <a:endParaRPr sz="1000"/>
          </a:p>
        </p:txBody>
      </p:sp>
      <p:sp>
        <p:nvSpPr>
          <p:cNvPr id="1241" name="Google Shape;1241;p91"/>
          <p:cNvSpPr/>
          <p:nvPr/>
        </p:nvSpPr>
        <p:spPr>
          <a:xfrm>
            <a:off x="404250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253 + 140 = 393</a:t>
            </a:r>
            <a:endParaRPr sz="1000"/>
          </a:p>
        </p:txBody>
      </p:sp>
      <p:sp>
        <p:nvSpPr>
          <p:cNvPr id="1242" name="Google Shape;1242;p91"/>
          <p:cNvSpPr/>
          <p:nvPr/>
        </p:nvSpPr>
        <p:spPr>
          <a:xfrm>
            <a:off x="5365350" y="14458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374 + 75 = 449</a:t>
            </a:r>
            <a:endParaRPr sz="1000"/>
          </a:p>
        </p:txBody>
      </p:sp>
      <p:cxnSp>
        <p:nvCxnSpPr>
          <p:cNvPr id="1243" name="Google Shape;1243;p91"/>
          <p:cNvCxnSpPr>
            <a:stCxn id="1239" idx="3"/>
            <a:endCxn id="1240" idx="0"/>
          </p:cNvCxnSpPr>
          <p:nvPr/>
        </p:nvCxnSpPr>
        <p:spPr>
          <a:xfrm flipH="1">
            <a:off x="3258417" y="1095075"/>
            <a:ext cx="9327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4" name="Google Shape;1244;p91"/>
          <p:cNvCxnSpPr>
            <a:stCxn id="1239" idx="4"/>
            <a:endCxn id="1241" idx="0"/>
          </p:cNvCxnSpPr>
          <p:nvPr/>
        </p:nvCxnSpPr>
        <p:spPr>
          <a:xfrm>
            <a:off x="4572000" y="1245725"/>
            <a:ext cx="9300" cy="20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5" name="Google Shape;1245;p91"/>
          <p:cNvCxnSpPr>
            <a:stCxn id="1239" idx="5"/>
            <a:endCxn id="1242" idx="0"/>
          </p:cNvCxnSpPr>
          <p:nvPr/>
        </p:nvCxnSpPr>
        <p:spPr>
          <a:xfrm>
            <a:off x="4952883" y="1095075"/>
            <a:ext cx="9510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6" name="Google Shape;1246;p91"/>
          <p:cNvSpPr/>
          <p:nvPr/>
        </p:nvSpPr>
        <p:spPr>
          <a:xfrm>
            <a:off x="2181150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366 + 280 = 646</a:t>
            </a:r>
            <a:endParaRPr sz="1000"/>
          </a:p>
        </p:txBody>
      </p:sp>
      <p:sp>
        <p:nvSpPr>
          <p:cNvPr id="1247" name="Google Shape;1247;p91"/>
          <p:cNvSpPr/>
          <p:nvPr/>
        </p:nvSpPr>
        <p:spPr>
          <a:xfrm>
            <a:off x="3461913" y="2682150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380 + 291 = 671</a:t>
            </a:r>
            <a:endParaRPr sz="1000"/>
          </a:p>
        </p:txBody>
      </p:sp>
      <p:sp>
        <p:nvSpPr>
          <p:cNvPr id="1248" name="Google Shape;1248;p91"/>
          <p:cNvSpPr/>
          <p:nvPr/>
        </p:nvSpPr>
        <p:spPr>
          <a:xfrm>
            <a:off x="4742700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193 + 220 = 413</a:t>
            </a:r>
            <a:endParaRPr sz="1000"/>
          </a:p>
        </p:txBody>
      </p:sp>
      <p:sp>
        <p:nvSpPr>
          <p:cNvPr id="1249" name="Google Shape;1249;p91"/>
          <p:cNvSpPr/>
          <p:nvPr/>
        </p:nvSpPr>
        <p:spPr>
          <a:xfrm>
            <a:off x="6023475" y="26746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176 + 239 = 415</a:t>
            </a:r>
            <a:endParaRPr sz="1000"/>
          </a:p>
        </p:txBody>
      </p:sp>
      <p:cxnSp>
        <p:nvCxnSpPr>
          <p:cNvPr id="1250" name="Google Shape;1250;p91"/>
          <p:cNvCxnSpPr>
            <a:stCxn id="1241" idx="3"/>
            <a:endCxn id="1246" idx="0"/>
          </p:cNvCxnSpPr>
          <p:nvPr/>
        </p:nvCxnSpPr>
        <p:spPr>
          <a:xfrm flipH="1">
            <a:off x="2719767" y="2323900"/>
            <a:ext cx="1480500" cy="3582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1" name="Google Shape;1251;p91"/>
          <p:cNvCxnSpPr>
            <a:stCxn id="1241" idx="4"/>
            <a:endCxn id="1247" idx="0"/>
          </p:cNvCxnSpPr>
          <p:nvPr/>
        </p:nvCxnSpPr>
        <p:spPr>
          <a:xfrm flipH="1">
            <a:off x="4000650" y="2474550"/>
            <a:ext cx="580500" cy="207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2" name="Google Shape;1252;p91"/>
          <p:cNvCxnSpPr>
            <a:stCxn id="1241" idx="4"/>
            <a:endCxn id="1248" idx="0"/>
          </p:cNvCxnSpPr>
          <p:nvPr/>
        </p:nvCxnSpPr>
        <p:spPr>
          <a:xfrm>
            <a:off x="4581150" y="2474550"/>
            <a:ext cx="700200" cy="20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3" name="Google Shape;1253;p91"/>
          <p:cNvCxnSpPr>
            <a:stCxn id="1241" idx="5"/>
            <a:endCxn id="1249" idx="0"/>
          </p:cNvCxnSpPr>
          <p:nvPr/>
        </p:nvCxnSpPr>
        <p:spPr>
          <a:xfrm>
            <a:off x="4962033" y="2323900"/>
            <a:ext cx="1600200" cy="35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4" name="Google Shape;1254;p91"/>
          <p:cNvSpPr/>
          <p:nvPr/>
        </p:nvSpPr>
        <p:spPr>
          <a:xfrm>
            <a:off x="4191113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100 + 317 = 417</a:t>
            </a:r>
            <a:endParaRPr sz="1000"/>
          </a:p>
        </p:txBody>
      </p:sp>
      <p:sp>
        <p:nvSpPr>
          <p:cNvPr id="1255" name="Google Shape;1255;p91"/>
          <p:cNvSpPr/>
          <p:nvPr/>
        </p:nvSpPr>
        <p:spPr>
          <a:xfrm>
            <a:off x="536533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160 + 366 = 526</a:t>
            </a:r>
            <a:endParaRPr sz="1000"/>
          </a:p>
        </p:txBody>
      </p:sp>
      <p:cxnSp>
        <p:nvCxnSpPr>
          <p:cNvPr id="1256" name="Google Shape;1256;p91"/>
          <p:cNvCxnSpPr>
            <a:stCxn id="1248" idx="3"/>
            <a:endCxn id="1254" idx="0"/>
          </p:cNvCxnSpPr>
          <p:nvPr/>
        </p:nvCxnSpPr>
        <p:spPr>
          <a:xfrm flipH="1">
            <a:off x="4729767" y="3552725"/>
            <a:ext cx="170700" cy="272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91"/>
          <p:cNvCxnSpPr>
            <a:stCxn id="1248" idx="5"/>
            <a:endCxn id="1255" idx="0"/>
          </p:cNvCxnSpPr>
          <p:nvPr/>
        </p:nvCxnSpPr>
        <p:spPr>
          <a:xfrm>
            <a:off x="5662233" y="3552725"/>
            <a:ext cx="2418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8" name="Google Shape;1258;p91"/>
          <p:cNvSpPr/>
          <p:nvPr/>
        </p:nvSpPr>
        <p:spPr>
          <a:xfrm>
            <a:off x="694298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0 + 450 = 450</a:t>
            </a:r>
            <a:endParaRPr sz="1000"/>
          </a:p>
        </p:txBody>
      </p:sp>
      <p:cxnSp>
        <p:nvCxnSpPr>
          <p:cNvPr id="1259" name="Google Shape;1259;p91"/>
          <p:cNvCxnSpPr>
            <a:stCxn id="1249" idx="5"/>
            <a:endCxn id="1258" idx="0"/>
          </p:cNvCxnSpPr>
          <p:nvPr/>
        </p:nvCxnSpPr>
        <p:spPr>
          <a:xfrm>
            <a:off x="6943008" y="3552725"/>
            <a:ext cx="538500" cy="272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0" name="Google Shape;1260;p91"/>
          <p:cNvSpPr/>
          <p:nvPr/>
        </p:nvSpPr>
        <p:spPr>
          <a:xfrm>
            <a:off x="2770188" y="3825075"/>
            <a:ext cx="1077300" cy="1028700"/>
          </a:xfrm>
          <a:prstGeom prst="ellipse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0 + 418 = 418</a:t>
            </a:r>
            <a:endParaRPr sz="1000"/>
          </a:p>
        </p:txBody>
      </p:sp>
      <p:cxnSp>
        <p:nvCxnSpPr>
          <p:cNvPr id="1261" name="Google Shape;1261;p91"/>
          <p:cNvCxnSpPr>
            <a:stCxn id="1254" idx="2"/>
            <a:endCxn id="1260" idx="6"/>
          </p:cNvCxnSpPr>
          <p:nvPr/>
        </p:nvCxnSpPr>
        <p:spPr>
          <a:xfrm rot="10800000">
            <a:off x="3847613" y="4339425"/>
            <a:ext cx="343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62" name="Google Shape;126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0"/>
            <a:ext cx="3048003" cy="180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Star Discussion</a:t>
            </a:r>
            <a:endParaRPr/>
          </a:p>
        </p:txBody>
      </p:sp>
      <p:sp>
        <p:nvSpPr>
          <p:cNvPr id="1268" name="Google Shape;1268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does this 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g(n) tells us how much it costs to get to node 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h(n) estimates how much it will cost us to get to the goal from n (i.e. how much further we have to go)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f(n) = h(n) + g(n) estimates the cost of a solution that goes through node 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each iteration, A star expands the nodes that could be part of the cheapest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/>
              <a:t>f(n) = h(n) + g(n) is somewhat similar to the Bellman equation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Star Discussion</a:t>
            </a:r>
            <a:endParaRPr/>
          </a:p>
        </p:txBody>
      </p:sp>
      <p:sp>
        <p:nvSpPr>
          <p:cNvPr id="1274" name="Google Shape;1274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Completeness?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Yes - the proof is very similar to the completeness proof for uniform cost search (we won’t go through it)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Optimality?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Yes - the proof is also similar to the optimality proof for uniform cost search (we won’t go through it)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Optimally efficient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Expands the fewest nodes possible while still finding the optimal solution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Time complexity?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 lot of factors affect it, but in practice it is usually polynomial (a lot of times it is close to linear)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Space complexity?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Same idea as the time complexity (a lot of factors affect it, but it’s usually pretty efficient in practice)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There are various versions of A star that can improve the time and/or space complexity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Ex: iterative deepening A star (cutoff is on f(n) values instead of depth)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1280" name="Google Shape;1280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 exam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1286" name="Google Shape;1286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Dr. Crandall will give a guest lecture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