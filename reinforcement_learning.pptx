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7763811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7763811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77638114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77638114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77638114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77638114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677638114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677638114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776381144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6776381144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677638114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677638114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776381144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6776381144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776381144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776381144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776381144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776381144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77638114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677638114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776381144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6776381144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776381144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6776381144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776381144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776381144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776381144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776381144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776381144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776381144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776381144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6776381144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78337780d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78337780d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776381144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6776381144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6776381144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6776381144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6776381144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6776381144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776381144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6776381144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6776381144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6776381144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77a567059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677a567059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677a567059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677a567059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78337780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678337780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77a567059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677a567059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78337780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678337780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78337780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678337780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Reinforcement Learning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reinforcement learning (RL)?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rewards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Learns a mapping from states to actions by trial-and-error interactions with an 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Policy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Components of RL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key components of RL? (hint: there are 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MDP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Agent doesn’t know the structure of the MDP (the transition model and reward function)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Rewards </a:t>
            </a:r>
            <a:r>
              <a:rPr lang="en"/>
              <a:t>can be given either immediately or some amount of time steps after an action is chosen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Policy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Mapping from state to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terms of RL, this will basically be the same thing, except now our policy will give us probabilities for actions: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[89,89,89,&quot;https://www.codecogs.com/eqnedit.php?latex=%5Cpi(s%2C%20a)%20%3D%20P(a%20%7C%20s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775" y="2360575"/>
            <a:ext cx="3418401" cy="5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3111275"/>
            <a:ext cx="8520600" cy="1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is this?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Exploration vs. exploitation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Exploration vs. Exploitation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it?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continually exploit our existing knowledge, we might miss out on better opportunities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we should periodically explore other options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might lead to better outcomes (rare, but why we try it)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might lead to worse outcomes (more likely)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Restaurant example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Value Function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it?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 that tells us the value of being in state s if we follow our policy: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2571750"/>
            <a:ext cx="8520600" cy="14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plain English: how much my discounted cumulative reward will be if I start in state s and execute policy 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is there an expected value?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Randomness in the environment (same as before)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policy now contains randomness (exploit vs. explore)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 title="[89,89,89,&quot;https://www.codecogs.com/eqnedit.php?latex=V_%7B%5Cpi%7D(s)%20%3D%20%5Cmathbb%7BE%7D(%5Csum_t%20%5Cgamma%5Et%20R(s_t)%20%7C%20s_0%20%3D%20s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500" y="1910875"/>
            <a:ext cx="3925381" cy="6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Function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expand the value function: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6" name="Google Shape;96;p19" title="[89,89,89,&quot;https://www.codecogs.com/eqnedit.php?latex=V_%7B%5Cpi%7D(s)%20%3D%20%5Cmathbb%7BE%7D(%5Csum_t%20%5Cgamma%5Et%20R(s_t)%20%7C%20s_0%20%3D%20s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225" y="1704100"/>
            <a:ext cx="5442912" cy="9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[89,89,89,&quot;https://www.codecogs.com/eqnedit.php?latex=%3D%20%5Cmathbb%7BE%7D(R(s_0)%20%2B%20%5Csum_t%20%5Cgamma%5Et%20R(s_t)%20%7C%20s_1%20%3D%20s'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975" y="2744100"/>
            <a:ext cx="5992592" cy="9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[89,89,89,&quot;https://www.codecogs.com/eqnedit.php?latex=%3D%20%5Cmathbb%7BE%7D(R(s_0)%20%2B%20%5Cgamma%20V_%7B%5Cpi%7D(s')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4975" y="3885400"/>
            <a:ext cx="3727675" cy="4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Function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does this equation look like?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2123875"/>
            <a:ext cx="8520600" cy="20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Bellman’s equation, except: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Now we have an expected value (again, since our policy has a random exploration aspect to it)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have this V pi thing, instead of U*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U* was the optimal utility (utility we receive if we follow the optimal policy)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can translate that over to this equation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 title="[89,89,89,&quot;https://www.codecogs.com/eqnedit.php?latex=%5Cmathbb%7BE%7D(R(s_0)%20%2B%20%5Cgamma%20V_%7B%5Cpi%7D(s')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550" y="1828150"/>
            <a:ext cx="4000613" cy="5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Value and Policy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 function (re-written in the form of Bellman’s equation):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13" name="Google Shape;113;p21" title="[89,89,89,&quot;https://www.codecogs.com/eqnedit.php?latex=V_%7B%5Cpi%7D(s)%20%3D%20%5Cmathbb%7BE%7D(r_0%20%2B%20%5Cgamma%20V_%7B%5Cpi%7D(s')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875" y="1648475"/>
            <a:ext cx="3484302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 title="[89,89,89,&quot;https://www.codecogs.com/eqnedit.php?latex=V%5E*(s)%20%3D%20%5Cmax_%7B%5Cpi%7D%20%5Cmathbb%7BE%7D(r_0%20%2B%20%5Cgamma%20V_%7B%5Cpi%7D(s')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875" y="2740963"/>
            <a:ext cx="4136473" cy="4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 title="[89,89,89,&quot;https://www.codecogs.com/eqnedit.php?latex=%7B%5Cpi%7D%5E*%20%3D%20argmax_%7B%5Cpi%7D%20%5Cmathbb%7BE%7D(r_0%20%2B%20%5Cgamma%20V_%7B%5Cpi%7D(s'))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0875" y="3772150"/>
            <a:ext cx="4405663" cy="3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226214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 value function (value if we follow the optimal policy)</a:t>
            </a:r>
            <a:r>
              <a:rPr lang="en"/>
              <a:t>: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32943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 policy: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</a:t>
            </a:r>
            <a:r>
              <a:rPr lang="en"/>
              <a:t>Value and Policy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pretty much what we went over for value and policy iteration, just with slightly different notation</a:t>
            </a:r>
            <a:endParaRPr/>
          </a:p>
        </p:txBody>
      </p:sp>
      <p:pic>
        <p:nvPicPr>
          <p:cNvPr id="124" name="Google Shape;124;p22" title="[89,89,89,&quot;https://www.codecogs.com/eqnedit.php?latex=V%5E*(s)%20%3D%20%5Cmax_%7B%5Cpi%7D%20%5Cmathbb%7BE%7D(r_0%20%2B%20%5Cgamma%20V_%7B%5Cpi%7D(s')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763" y="2157000"/>
            <a:ext cx="4136473" cy="4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[89,89,89,&quot;https://www.codecogs.com/eqnedit.php?latex=%7B%5Cpi%7D%5E*%20%3D%20argmax_%7B%5Cpi%7D%20%5Cmathbb%7BE%7D(r_0%20%2B%20%5Cgamma%20V_%7B%5Cpi%7D(s')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975" y="2986175"/>
            <a:ext cx="4880026" cy="4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Approaches to RL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they? (hint: there are 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Model-based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Model-free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 lot of subcategories within these two, but we’ll just maintain more of a high-level focus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875" y="2826275"/>
            <a:ext cx="2544150" cy="19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Model-Based RL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there’s a caveat for this category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</a:t>
            </a:r>
            <a:r>
              <a:rPr lang="en"/>
              <a:t>e said that, in RL, the agent doesn’t know the underlying MDP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with model-based RL, we say that the agent </a:t>
            </a:r>
            <a:r>
              <a:rPr i="1" lang="en"/>
              <a:t>does</a:t>
            </a:r>
            <a:r>
              <a:rPr lang="en"/>
              <a:t> know the underlying MDP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Several people disagree on whether this category should be considered reinforcement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Additionally, most focus is placed on model-free RL (we’ll discuss that a little later)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Model-Based RL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So, for model-based RL, we assume that the agent knows the transition model and reward function of the underlying MDP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Transition model: P(s’ | s, a)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Reward function: R(s)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 other words, the agent has a “model” of the environment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Hence the name “model-based”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are some approaches for learning a policy in this scenario? (hint: we’ve discussed 2 in this class already)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Value iteration and policy iteration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Hopefully this makes sense because we were trying to solve the Bellman equation, and we just saw a few slides ago that the value function for RL is just the Bellman equation (with slightly different notation)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So, you’ve already seen “reinforcement learning” and are working on it with the value iteration lab without realizing it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Model-Free RL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agent does not know the underlying MDP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the agent does not have a “model” of the 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Hence the name “model-free”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most people think of when dealing with reinforcement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Much more realistic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are problems where you know the MDP and can use something like value iteration, but in more complex/realistic scenarios we tend to not know that information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Ex: Self-driving car (again)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Ex: Chess (we might know it, but there are so many states that we can’t enumerate everything)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</a:t>
            </a:r>
            <a:r>
              <a:rPr lang="en"/>
              <a:t>Learning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Model-free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don’t know anything about the underlying MDP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Probably the most popular/well-known model-free RL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approaches like value iteration and policy iteration, we learn the value and policy “separately”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other words, there are two separate functions we’re keeping track of (the value function and the policy)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Q-learning tries to fuse these two things together so that we only have to keep track of a single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function is called the Q function, or “quality” function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Function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Quality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Q(s, a) is the quality of taking action a in state 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 V(s), we just have a function of state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good it is to be in a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 Q(s, a), we now have a function of state and 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good it is to take action a from state 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Viewed as a richer function than V(s), because we’re now being more granular with individual 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Function</a:t>
            </a:r>
            <a:endParaRPr/>
          </a:p>
        </p:txBody>
      </p:sp>
      <p:pic>
        <p:nvPicPr>
          <p:cNvPr id="168" name="Google Shape;168;p29" title="[89,89,89,&quot;https://www.codecogs.com/eqnedit.php?latex=V(s)%20%3D%20%5Cmax_%7Ba%7D%20Q(s%2C%20a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3600" y="1592150"/>
            <a:ext cx="2403750" cy="39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/>
          <p:nvPr/>
        </p:nvSpPr>
        <p:spPr>
          <a:xfrm>
            <a:off x="4054800" y="1262200"/>
            <a:ext cx="709500" cy="5727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969075" y="1992125"/>
            <a:ext cx="1671600" cy="730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9" title="[89,89,89,&quot;https://www.codecogs.com/eqnedit.php?latex=Q(s%2C%20a)%20%3D%20%5Cmathbb%7BE%7D(R(s%2C%20a)%20%2B%20%5Cgamma%20V(s')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675" y="1384088"/>
            <a:ext cx="3936266" cy="3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 title="[89,89,89,&quot;https://www.codecogs.com/eqnedit.php?latex=%3D%20%5Cmathbb%7BE%7D(R(s%2C%20a)%20%2B%20%5Cgamma%20%5Cmax_%7Ba'%7D%20Q(s'%2C%20a'))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0662" y="2143325"/>
            <a:ext cx="3783410" cy="42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9"/>
          <p:cNvCxnSpPr>
            <a:endCxn id="172" idx="3"/>
          </p:cNvCxnSpPr>
          <p:nvPr/>
        </p:nvCxnSpPr>
        <p:spPr>
          <a:xfrm flipH="1">
            <a:off x="5724073" y="1988838"/>
            <a:ext cx="525300" cy="368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9"/>
          <p:cNvCxnSpPr>
            <a:endCxn id="171" idx="3"/>
          </p:cNvCxnSpPr>
          <p:nvPr/>
        </p:nvCxnSpPr>
        <p:spPr>
          <a:xfrm rot="10800000">
            <a:off x="4840941" y="1548537"/>
            <a:ext cx="1271400" cy="174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Function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does this equation look like?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0" title="[89,89,89,&quot;https://www.codecogs.com/eqnedit.php?latex=Q(s%2C%20a)%20%3D%20%5Cmathbb%7BE%7D(R(s%2C%20a)%20%2B%20%5Cgamma%20V(s')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00" y="1728825"/>
            <a:ext cx="5397152" cy="4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325950" y="2419925"/>
            <a:ext cx="84921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This is also like Bellman’s equation, but now our reward function deals with states and actions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Q-Learning Algorithm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152475"/>
            <a:ext cx="8520600" cy="21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learning a value for each state (like what we did with value iteration), we learn values of (s, a) pairs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what we did for value iteration: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a table for every state and (s, a) pair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Initial Q values can be random, zero,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Iteratively try different actions from different states and update the Q values in the table based on the following equation:</a:t>
            </a:r>
            <a:endParaRPr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311700" y="3242800"/>
            <a:ext cx="8520600" cy="11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2" marL="1371600" rtl="0" algn="l">
              <a:spcBef>
                <a:spcPts val="1200"/>
              </a:spcBef>
              <a:spcAft>
                <a:spcPts val="0"/>
              </a:spcAft>
              <a:buSzPct val="100000"/>
              <a:buChar char="■"/>
            </a:pPr>
            <a:r>
              <a:rPr lang="en" sz="2000"/>
              <a:t>Note: this equation is for a deterministic environment, we’ll see the general equation you should use in a few slides</a:t>
            </a:r>
            <a:endParaRPr sz="2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Stop once the Q values don’t change (or only change by a very small amount)</a:t>
            </a:r>
            <a:endParaRPr sz="2000"/>
          </a:p>
        </p:txBody>
      </p:sp>
      <p:pic>
        <p:nvPicPr>
          <p:cNvPr id="190" name="Google Shape;190;p31" title="[89,89,89,&quot;https://www.codecogs.com/eqnedit.php?latex=Q_%7Bi%20%2B%201%7D(s%2C%20a)%20%3D%20R(s%2C%20a)%20%2B%20%5Cgamma%20%5Cmax_%7Ba'%7D%20Q_%7Bi%7D(s'%2C%20a'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950" y="3242800"/>
            <a:ext cx="4252626" cy="3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Q-Learning Algorithm</a:t>
            </a:r>
            <a:endParaRPr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each iteration of the algorithm, we can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Randomly choose a state to start in and just go one step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Randomly choose a state to start in and go as many steps as we need to reach a terminal state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Once a terminal state is reached, you can </a:t>
            </a:r>
            <a:r>
              <a:rPr lang="en"/>
              <a:t>propagate</a:t>
            </a:r>
            <a:r>
              <a:rPr lang="en"/>
              <a:t> the discounted Q-values back through the states that were visited (until the initial state is reached)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Called “episode updates”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sequence of states is an “episode” of running through the environment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common because it usually speeds up learning (and is more intuitive)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However, it might cost a lot of memory because state sequences can be long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I’ll show you an example in a little bit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state world: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it’s deterministic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move left or right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you move right in the right-most cell, you stay in that cell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Immediate reward for entering all states, except the left-most, is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Left-most state is terminal, and reward for entering the left-most state is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gamma = 0.6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the initial Q values be 0</a:t>
            </a:r>
            <a:endParaRPr/>
          </a:p>
        </p:txBody>
      </p:sp>
      <p:pic>
        <p:nvPicPr>
          <p:cNvPr id="203" name="Google Shape;203;p33"/>
          <p:cNvPicPr preferRelativeResize="0"/>
          <p:nvPr/>
        </p:nvPicPr>
        <p:blipFill rotWithShape="1">
          <a:blip r:embed="rId3">
            <a:alphaModFix/>
          </a:blip>
          <a:srcRect b="11641" l="3739" r="4618" t="9219"/>
          <a:stretch/>
        </p:blipFill>
        <p:spPr>
          <a:xfrm>
            <a:off x="2500113" y="3293850"/>
            <a:ext cx="4143775" cy="127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209" name="Google Shape;209;p34"/>
          <p:cNvPicPr preferRelativeResize="0"/>
          <p:nvPr/>
        </p:nvPicPr>
        <p:blipFill rotWithShape="1">
          <a:blip r:embed="rId3">
            <a:alphaModFix/>
          </a:blip>
          <a:srcRect b="6734" l="1458" r="1932" t="6028"/>
          <a:stretch/>
        </p:blipFill>
        <p:spPr>
          <a:xfrm>
            <a:off x="2500125" y="3018325"/>
            <a:ext cx="4143751" cy="125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4"/>
          <p:cNvPicPr preferRelativeResize="0"/>
          <p:nvPr/>
        </p:nvPicPr>
        <p:blipFill rotWithShape="1">
          <a:blip r:embed="rId4">
            <a:alphaModFix/>
          </a:blip>
          <a:srcRect b="11641" l="3739" r="4618" t="9219"/>
          <a:stretch/>
        </p:blipFill>
        <p:spPr>
          <a:xfrm>
            <a:off x="2500113" y="1701375"/>
            <a:ext cx="4143775" cy="12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152475"/>
            <a:ext cx="85206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Spend ~5 minutes with people around you to work on this</a:t>
            </a:r>
            <a:endParaRPr/>
          </a:p>
        </p:txBody>
      </p:sp>
      <p:pic>
        <p:nvPicPr>
          <p:cNvPr id="212" name="Google Shape;212;p34" title="[89,89,89,&quot;https://www.codecogs.com/eqnedit.php?latex=Q_%7Bi%20%2B%201%7D(s%2C%20a)%20%3D%20R(s%2C%20a)%20%2B%20%5Cgamma%20%5Cmax_%7Ba'%7D%20Q_%7Bi%7D(s'%2C%20a')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4225" y="671075"/>
            <a:ext cx="4252626" cy="3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Non-Deterministic Environments</a:t>
            </a:r>
            <a:endParaRPr/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equation we just used was for deterministic environments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most realistic environments (and most of the ones we’ve talked about in this class) are non-deterministic (there’s uncertainty in the world)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update equation that should be used (derivation comes from temporal difference learning, but we won’t worry about that for this class):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5" title="[89,89,89,&quot;https://www.codecogs.com/eqnedit.php?latex=Q_%7Bi%20%2B%201%7D(s%2C%20a)%20%3D%20(1%20-%20%5Calpha)%20Q_%7Bi%7D(s%2C%20a)%20%2B%20%5Calpha%20(R(s%2C%20a)%20%2B%20%5Cgamma%20%5Cmax_%7Ba'%7D%20Q_%7Bi%7D(s'%2C%20a'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700" y="2896825"/>
            <a:ext cx="6652027" cy="38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5" title="[89,89,89,&quot;https://www.codecogs.com/eqnedit.php?latex=%3D%20Q_%7Bi%7D(s%2C%20a)%20%2B%20%5Calpha%20(R(s%2C%20a)%20%2B%20%5Cgamma%20%5Cmax_%7Ba'%7D%20Q_%7Bi%7D(s'%2C%20a')%20-%20Q_%7Bi%7D(s%2C%20a)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2350" y="3503600"/>
            <a:ext cx="5919273" cy="3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Q-learning algorithm converges to the true Q values under the following conditions: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system can modelled as an MDP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R(s, a) &lt; c (reward is bounded)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state and action is visited infinitely often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some possible issues with the Q-learning algorithm?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biggest issue is probably the fact that we need some sort of table to keep track of all our Q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if the environment has a lot of possible states and actions?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a table becomes inefficient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a solution to this is to somehow estimate the Q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a good function approximator?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Neural network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Q-Learning</a:t>
            </a:r>
            <a:endParaRPr/>
          </a:p>
        </p:txBody>
      </p:sp>
      <p:sp>
        <p:nvSpPr>
          <p:cNvPr id="232" name="Google Shape;232;p37"/>
          <p:cNvSpPr txBox="1"/>
          <p:nvPr>
            <p:ph idx="1" type="body"/>
          </p:nvPr>
        </p:nvSpPr>
        <p:spPr>
          <a:xfrm>
            <a:off x="311700" y="1152475"/>
            <a:ext cx="85206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idea: use a deep neural network to learn the Q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Loss function that is </a:t>
            </a:r>
            <a:r>
              <a:rPr lang="en"/>
              <a:t>typically used: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7" title="[89,89,89,&quot;https://www.codecogs.com/eqnedit.php?latex=L%20%3D%20%5Cmathbb%7BE%7D%20%5B(R(s%2C%20a)%20%2B%20%5Cgamma%20%5Cmax_%7Ba'%7D%20Q(s'%2C%20a'%2C%20%5Ctheta)%20-%20Q(s%2C%20a%2C%20%5Ctheta))%5E2%5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825" y="2053000"/>
            <a:ext cx="7120850" cy="51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11700" y="2236075"/>
            <a:ext cx="8520600" cy="14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Theta represents the neural network parameters we’re trying to tune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 squared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Recall the update </a:t>
            </a:r>
            <a:r>
              <a:rPr lang="en"/>
              <a:t>function</a:t>
            </a:r>
            <a:r>
              <a:rPr lang="en"/>
              <a:t> we saw two slides ago: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7" title="[89,89,89,&quot;https://www.codecogs.com/eqnedit.php?latex=Q_%7Bi%20%2B%201%7D(s%2C%20a)%20%3D%20Q_%7Bi%7D(s%2C%20a)%20%2B%20%5Calpha%20(R(s%2C%20a)%20%2B%20%5Cgamma%20%5Cmax_%7Ba'%7D%20Q_%7Bi%7D(s'%2C%20a')%20-%20Q_%7Bi%7D(s%2C%20a)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275" y="3607025"/>
            <a:ext cx="7124294" cy="38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7"/>
          <p:cNvSpPr txBox="1"/>
          <p:nvPr/>
        </p:nvSpPr>
        <p:spPr>
          <a:xfrm>
            <a:off x="311700" y="3995325"/>
            <a:ext cx="85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So, all we’ve done is taken the update function and turned it into a loss function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</a:t>
            </a:r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loss function, </a:t>
            </a:r>
            <a:r>
              <a:rPr lang="en"/>
              <a:t>we need the predicted Q values for the current state s and the predicted Q values of the next state s’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use the same network, learning can be unstable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often done in practice: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“main” network that we’re training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“target” network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Copy of the “main” network that is used for predicting the next Q values (for s’)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continuously train the “main”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periodically update the weights of the “target” network to have the same weights as the “main” network</a:t>
            </a:r>
            <a:endParaRPr/>
          </a:p>
        </p:txBody>
      </p:sp>
      <p:pic>
        <p:nvPicPr>
          <p:cNvPr id="243" name="Google Shape;243;p38" title="[89,89,89,&quot;https://www.codecogs.com/eqnedit.php?latex=L%20%3D%20%5Cmathbb%7BE%7D%20%5B(R(s%2C%20a)%20%2B%20%5Cgamma%20%5Cmax_%7Ba'%7D%20Q(s'%2C%20a'%2C%20%5Ctheta)%20-%20Q(s%2C%20a%2C%20%5Ctheta))%5E2%5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650" y="768725"/>
            <a:ext cx="5267598" cy="3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249" name="Google Shape;24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975" y="1491075"/>
            <a:ext cx="2740049" cy="335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 iteration lab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Due April 1 (a week from today) at 11:59 pm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Machine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Bonus material (remaining lectures will be bonus material)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some reading ideas to prepare for next time, if you are interested enough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