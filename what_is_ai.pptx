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5692C6-40F3-431B-9D0A-53479AA7C248}">
  <a:tblStyle styleId="{465692C6-40F3-431B-9D0A-53479AA7C24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8B22D7B4-3CFB-46B5-8BED-69BA74CC723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610600" y="6262854"/>
            <a:ext cx="381008" cy="45862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Relationship Id="rId4" Type="http://schemas.openxmlformats.org/officeDocument/2006/relationships/image" Target="../media/image13.jpg"/><Relationship Id="rId9" Type="http://schemas.openxmlformats.org/officeDocument/2006/relationships/image" Target="../media/image8.jpg"/><Relationship Id="rId5" Type="http://schemas.openxmlformats.org/officeDocument/2006/relationships/image" Target="../media/image5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0.jpg"/><Relationship Id="rId9" Type="http://schemas.openxmlformats.org/officeDocument/2006/relationships/image" Target="../media/image27.jpg"/><Relationship Id="rId5" Type="http://schemas.openxmlformats.org/officeDocument/2006/relationships/image" Target="../media/image3.jpg"/><Relationship Id="rId6" Type="http://schemas.openxmlformats.org/officeDocument/2006/relationships/image" Target="../media/image25.jpg"/><Relationship Id="rId7" Type="http://schemas.openxmlformats.org/officeDocument/2006/relationships/image" Target="../media/image28.jpg"/><Relationship Id="rId8" Type="http://schemas.openxmlformats.org/officeDocument/2006/relationships/image" Target="../media/image2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ctrTitle"/>
          </p:nvPr>
        </p:nvSpPr>
        <p:spPr>
          <a:xfrm>
            <a:off x="685800" y="195566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to</a:t>
            </a:r>
            <a:br>
              <a:rPr lang="en-US"/>
            </a:br>
            <a:r>
              <a:rPr lang="en-US"/>
              <a:t>Artificial Intelligence</a:t>
            </a:r>
            <a:endParaRPr/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1371600" y="4724400"/>
            <a:ext cx="6400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CS 470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Ethan Pedersen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3527" y="2971800"/>
            <a:ext cx="2971800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124200"/>
            <a:ext cx="3581400" cy="1858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8505" y="106680"/>
            <a:ext cx="4010025" cy="1989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" y="136021"/>
            <a:ext cx="3962400" cy="1619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9355" y="4401217"/>
            <a:ext cx="3689038" cy="2471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20504" y="1755163"/>
            <a:ext cx="410964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4931306"/>
            <a:ext cx="4079905" cy="1936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915" y="1377736"/>
            <a:ext cx="3310160" cy="1767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408" y="3002162"/>
            <a:ext cx="3040380" cy="3520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5737" y="3947042"/>
            <a:ext cx="3429000" cy="257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6600" y="76200"/>
            <a:ext cx="1703832" cy="2551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95600" y="4731843"/>
            <a:ext cx="2590800" cy="1950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20963" y="200406"/>
            <a:ext cx="3617605" cy="201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>
            <p:ph idx="4294967295" type="body"/>
          </p:nvPr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200" y="121106"/>
            <a:ext cx="2209800" cy="2759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35737" y="1066800"/>
            <a:ext cx="1900345" cy="2955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52800" y="2133600"/>
            <a:ext cx="2001198" cy="2557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9800" y="2035785"/>
            <a:ext cx="3867282" cy="2356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9565" y="2298578"/>
            <a:ext cx="1830695" cy="1830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0081"/>
            <a:ext cx="2751760" cy="2201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13040" t="0"/>
          <a:stretch/>
        </p:blipFill>
        <p:spPr>
          <a:xfrm>
            <a:off x="5782556" y="4303382"/>
            <a:ext cx="3147704" cy="233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" y="434490"/>
            <a:ext cx="2646544" cy="355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89800" y="46755"/>
            <a:ext cx="3379054" cy="2251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 rotWithShape="1">
          <a:blip r:embed="rId9">
            <a:alphaModFix/>
          </a:blip>
          <a:srcRect b="0" l="12983" r="16854" t="0"/>
          <a:stretch/>
        </p:blipFill>
        <p:spPr>
          <a:xfrm>
            <a:off x="144873" y="4268558"/>
            <a:ext cx="2882694" cy="2396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- Wikipedia" id="126" name="Google Shape;12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35998" y="4901648"/>
            <a:ext cx="1738127" cy="1738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Artificial Intelligence?</a:t>
            </a:r>
            <a:endParaRPr/>
          </a:p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457200" y="1524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Perhaps first, what is intelligence?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D&amp;C 93:29-30</a:t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9863" y="3505200"/>
            <a:ext cx="6664273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2286000" y="5029200"/>
            <a:ext cx="1676400" cy="304800"/>
          </a:xfrm>
          <a:prstGeom prst="rect">
            <a:avLst/>
          </a:prstGeom>
          <a:noFill/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Defining AI</a:t>
            </a:r>
            <a:endParaRPr/>
          </a:p>
        </p:txBody>
      </p:sp>
      <p:graphicFrame>
        <p:nvGraphicFramePr>
          <p:cNvPr id="140" name="Google Shape;140;p18"/>
          <p:cNvGraphicFramePr/>
          <p:nvPr/>
        </p:nvGraphicFramePr>
        <p:xfrm>
          <a:off x="457200" y="1371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{465692C6-40F3-431B-9D0A-53479AA7C248}</a:tableStyleId>
              </a:tblPr>
              <a:tblGrid>
                <a:gridCol w="4114800"/>
                <a:gridCol w="4114800"/>
              </a:tblGrid>
              <a:tr h="240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“The exciting new effort to make computers</a:t>
                      </a:r>
                      <a:r>
                        <a:rPr lang="en-US" sz="1800"/>
                        <a:t> think . . . machines with minds, in the full and literal sense.” </a:t>
                      </a:r>
                      <a:r>
                        <a:rPr lang="en-US" sz="1200"/>
                        <a:t>(Haugeland, 1985)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“[The automation of] activities that we associate with human thinking, activities such as decision-making, problem solving, learning. . .” </a:t>
                      </a:r>
                      <a:r>
                        <a:rPr lang="en-US" sz="1200"/>
                        <a:t>(Bellman, 1978)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“The study of mental faculties through the use of computational models”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(Charniak and McDermott, 1985)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“The study</a:t>
                      </a:r>
                      <a:r>
                        <a:rPr lang="en-US" sz="1800"/>
                        <a:t> of the computations that make it possible to perceive, reason, and act” </a:t>
                      </a:r>
                      <a:r>
                        <a:rPr lang="en-US" sz="1200"/>
                        <a:t>(Winston, 1992)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“The art</a:t>
                      </a:r>
                      <a:r>
                        <a:rPr b="0" lang="en-US" sz="1800"/>
                        <a:t> of creating machines that perform functions that require intelligence when performed by people.” </a:t>
                      </a:r>
                      <a:r>
                        <a:rPr b="0" lang="en-US" sz="1200"/>
                        <a:t>(Kurzwil, 1990)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“The study of how to make computers do things at which, at the moment, people are better.” </a:t>
                      </a:r>
                      <a:r>
                        <a:rPr b="0" lang="en-US" sz="1200"/>
                        <a:t>(Rich and Knight, 1991)</a:t>
                      </a:r>
                      <a:endParaRPr b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“Computational</a:t>
                      </a:r>
                      <a:r>
                        <a:rPr b="0" lang="en-US" sz="1800"/>
                        <a:t> Intelligence is the study of the design of intelligent agents”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(Poole et al., 1998)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“AI . . . is concerned with intelligent behaviour in artifacts.” </a:t>
                      </a:r>
                      <a:r>
                        <a:rPr b="0" lang="en-US" sz="1200"/>
                        <a:t>(Nilsson, 1998)</a:t>
                      </a:r>
                      <a:endParaRPr b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Defining AI</a:t>
            </a:r>
            <a:endParaRPr/>
          </a:p>
        </p:txBody>
      </p:sp>
      <p:graphicFrame>
        <p:nvGraphicFramePr>
          <p:cNvPr id="146" name="Google Shape;146;p19"/>
          <p:cNvGraphicFramePr/>
          <p:nvPr/>
        </p:nvGraphicFramePr>
        <p:xfrm>
          <a:off x="457200" y="1371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{465692C6-40F3-431B-9D0A-53479AA7C248}</a:tableStyleId>
              </a:tblPr>
              <a:tblGrid>
                <a:gridCol w="4114800"/>
                <a:gridCol w="4114800"/>
              </a:tblGrid>
              <a:tr h="2407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Thinking</a:t>
                      </a:r>
                      <a:r>
                        <a:rPr b="1" lang="en-US" sz="1800"/>
                        <a:t> Humanly</a:t>
                      </a:r>
                      <a:endParaRPr b="1"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“The exciting new effort to make computers</a:t>
                      </a:r>
                      <a:r>
                        <a:rPr lang="en-US" sz="1800"/>
                        <a:t> think . . . machines with minds, in the full and literal sense.” </a:t>
                      </a:r>
                      <a:r>
                        <a:rPr lang="en-US" sz="1200"/>
                        <a:t>(Haugeland, 1985)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“[The automation of] activities that we associate with human thinking, activities such as decision-making, problem solving, learning. . .” </a:t>
                      </a:r>
                      <a:r>
                        <a:rPr lang="en-US" sz="1200"/>
                        <a:t>(Bellman, 1978)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Thinking</a:t>
                      </a:r>
                      <a:r>
                        <a:rPr b="1" lang="en-US" sz="1800"/>
                        <a:t> Rationally</a:t>
                      </a:r>
                      <a:endParaRPr b="1"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“The study of mental faculties through the use of computational models.”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(Charniak and McDermott, 1985)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“The study</a:t>
                      </a:r>
                      <a:r>
                        <a:rPr lang="en-US" sz="1800"/>
                        <a:t> of the computations that make it possible to perceive, reason, and act.” </a:t>
                      </a:r>
                      <a:r>
                        <a:rPr lang="en-US" sz="1200"/>
                        <a:t>(Winston, 1992)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Acting</a:t>
                      </a:r>
                      <a:r>
                        <a:rPr b="1" lang="en-US" sz="1800"/>
                        <a:t> Humanly</a:t>
                      </a:r>
                      <a:endParaRPr b="1"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“The art</a:t>
                      </a:r>
                      <a:r>
                        <a:rPr b="0" lang="en-US" sz="1800"/>
                        <a:t> of creating machines that perform functions that require intelligence when performed by people.” </a:t>
                      </a:r>
                      <a:r>
                        <a:rPr b="0" lang="en-US" sz="1200"/>
                        <a:t>(Kurzwil, 1990)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“The study of how to make computers do things at which, at the moment, people are better.” </a:t>
                      </a:r>
                      <a:r>
                        <a:rPr b="0" lang="en-US" sz="1200"/>
                        <a:t>(Rich and Knight, 1991)</a:t>
                      </a:r>
                      <a:endParaRPr b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Acting Rationally</a:t>
                      </a:r>
                      <a:endParaRPr b="0"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“Computational</a:t>
                      </a:r>
                      <a:r>
                        <a:rPr b="0" lang="en-US" sz="1800"/>
                        <a:t> Intelligence is the study of the design of intelligent agents.”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(Poole </a:t>
                      </a:r>
                      <a:r>
                        <a:rPr b="0" i="1" lang="en-US" sz="1200"/>
                        <a:t>et al</a:t>
                      </a:r>
                      <a:r>
                        <a:rPr b="0" lang="en-US" sz="1200"/>
                        <a:t>., 1998)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“AI . . . is concerned with intelligent behaviour in artifacts.” </a:t>
                      </a:r>
                      <a:r>
                        <a:rPr b="0" lang="en-US" sz="1200"/>
                        <a:t>(Nilsson, 1998)</a:t>
                      </a:r>
                      <a:endParaRPr b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Google Shape;151;p20"/>
          <p:cNvGraphicFramePr/>
          <p:nvPr/>
        </p:nvGraphicFramePr>
        <p:xfrm>
          <a:off x="457200" y="257556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{8B22D7B4-3CFB-46B5-8BED-69BA74CC723E}</a:tableStyleId>
              </a:tblPr>
              <a:tblGrid>
                <a:gridCol w="4114800"/>
                <a:gridCol w="4114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Think like humans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Think rationally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Act like humans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Act rationally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Acting humanly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Take a task people do (intelligently), for example: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Proving a theorem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Playing chess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Planning a surgical operation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Diagnosing a disease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Navigating a building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Identifying objects from a photograph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Driving a car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And build a system that does it automatically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>
                <a:solidFill>
                  <a:schemeClr val="accent1"/>
                </a:solidFill>
              </a:rPr>
              <a:t>But do we want to duplicate human imperfections?</a:t>
            </a:r>
            <a:endParaRPr/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77500" l="21548" r="13710" t="5000"/>
          <a:stretch/>
        </p:blipFill>
        <p:spPr>
          <a:xfrm>
            <a:off x="2314802" y="5729287"/>
            <a:ext cx="4514396" cy="85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2"/>
          <p:cNvPicPr preferRelativeResize="0"/>
          <p:nvPr/>
        </p:nvPicPr>
        <p:blipFill rotWithShape="1">
          <a:blip r:embed="rId3">
            <a:alphaModFix/>
          </a:blip>
          <a:srcRect b="37306" l="24527" r="14156" t="32358"/>
          <a:stretch/>
        </p:blipFill>
        <p:spPr>
          <a:xfrm>
            <a:off x="2080800" y="4989600"/>
            <a:ext cx="4982401" cy="1868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Acting humanly: The Turing Test</a:t>
            </a:r>
            <a:endParaRPr/>
          </a:p>
        </p:txBody>
      </p:sp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457200" y="14176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33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Turing (1950) “Computing machinery and intelligence”:</a:t>
            </a:r>
            <a:endParaRPr/>
          </a:p>
          <a:p>
            <a:pPr indent="-312419" lvl="1" marL="742950" rtl="0" algn="l">
              <a:spcBef>
                <a:spcPts val="476"/>
              </a:spcBef>
              <a:spcAft>
                <a:spcPts val="0"/>
              </a:spcAft>
              <a:buClr>
                <a:srgbClr val="FF0000"/>
              </a:buClr>
              <a:buSzPts val="2800"/>
              <a:buChar char="–"/>
            </a:pPr>
            <a:r>
              <a:rPr lang="en-US">
                <a:solidFill>
                  <a:srgbClr val="FF0000"/>
                </a:solidFill>
              </a:rPr>
              <a:t>Can machines think? </a:t>
            </a:r>
            <a:r>
              <a:rPr lang="en-US" sz="2400"/>
              <a:t>→</a:t>
            </a:r>
            <a:r>
              <a:rPr lang="en-US"/>
              <a:t> </a:t>
            </a:r>
            <a:r>
              <a:rPr lang="en-US">
                <a:solidFill>
                  <a:srgbClr val="00B050"/>
                </a:solidFill>
              </a:rPr>
              <a:t>Can machines behave intelligently?</a:t>
            </a:r>
            <a:endParaRPr/>
          </a:p>
          <a:p>
            <a:pPr indent="-312419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Test for intelligent behavior: the Imitation Game</a:t>
            </a:r>
            <a:endParaRPr/>
          </a:p>
          <a:p>
            <a:pPr indent="-312419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Suggested major components of AI: knowledge, reasoning, language understanding, learning, etc.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Problem: Turing test is not: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Reproducible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Constructive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Amenable to mathematical analysis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ChatGPT?  </a:t>
            </a:r>
            <a:endParaRPr/>
          </a:p>
        </p:txBody>
      </p:sp>
      <p:sp>
        <p:nvSpPr>
          <p:cNvPr id="171" name="Google Shape;17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Acting humanly: The Turing Test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274638"/>
            <a:ext cx="5086350" cy="6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p25"/>
          <p:cNvGraphicFramePr/>
          <p:nvPr/>
        </p:nvGraphicFramePr>
        <p:xfrm>
          <a:off x="457200" y="257556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{8B22D7B4-3CFB-46B5-8BED-69BA74CC723E}</a:tableStyleId>
              </a:tblPr>
              <a:tblGrid>
                <a:gridCol w="4114800"/>
                <a:gridCol w="4114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Think like humans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Think rationally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Act like humans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Act rationally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Thinking humanly</a:t>
            </a:r>
            <a:endParaRPr/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How computer performs tasks matters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Reasoning steps are important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Requires ability to create and manipulate symbolic knowledge (definitions, concepts, theorems, . . .) </a:t>
            </a:r>
            <a:endParaRPr/>
          </a:p>
        </p:txBody>
      </p:sp>
      <p:pic>
        <p:nvPicPr>
          <p:cNvPr id="188" name="Google Shape;188;p26"/>
          <p:cNvPicPr preferRelativeResize="0"/>
          <p:nvPr/>
        </p:nvPicPr>
        <p:blipFill rotWithShape="1">
          <a:blip r:embed="rId3">
            <a:alphaModFix/>
          </a:blip>
          <a:srcRect b="55774" l="21642" r="19797" t="28435"/>
          <a:stretch/>
        </p:blipFill>
        <p:spPr>
          <a:xfrm>
            <a:off x="1651004" y="4800600"/>
            <a:ext cx="5841991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Thinking humanly</a:t>
            </a:r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Requires scientific theories of the brain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What level of abstraction?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How do we validate?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Cognitive Science and Cognitive Neuroscience are distinct from AI</a:t>
            </a:r>
            <a:endParaRPr/>
          </a:p>
        </p:txBody>
      </p:sp>
      <p:pic>
        <p:nvPicPr>
          <p:cNvPr id="195" name="Google Shape;195;p27"/>
          <p:cNvPicPr preferRelativeResize="0"/>
          <p:nvPr/>
        </p:nvPicPr>
        <p:blipFill rotWithShape="1">
          <a:blip r:embed="rId3">
            <a:alphaModFix/>
          </a:blip>
          <a:srcRect b="55774" l="21642" r="19797" t="28435"/>
          <a:stretch/>
        </p:blipFill>
        <p:spPr>
          <a:xfrm>
            <a:off x="1651004" y="4800600"/>
            <a:ext cx="5841991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Thinking humanly</a:t>
            </a:r>
            <a:endParaRPr/>
          </a:p>
        </p:txBody>
      </p:sp>
      <p:sp>
        <p:nvSpPr>
          <p:cNvPr id="201" name="Google Shape;201;p28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Questions: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“intelligence” require a human-like thought process? 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create useful systems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exactly how the brain works?</a:t>
            </a:r>
            <a:endParaRPr/>
          </a:p>
        </p:txBody>
      </p:sp>
      <p:pic>
        <p:nvPicPr>
          <p:cNvPr id="202" name="Google Shape;202;p28"/>
          <p:cNvPicPr preferRelativeResize="0"/>
          <p:nvPr/>
        </p:nvPicPr>
        <p:blipFill rotWithShape="1">
          <a:blip r:embed="rId3">
            <a:alphaModFix/>
          </a:blip>
          <a:srcRect b="55774" l="21642" r="19797" t="28435"/>
          <a:stretch/>
        </p:blipFill>
        <p:spPr>
          <a:xfrm>
            <a:off x="1651004" y="4800600"/>
            <a:ext cx="5841991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" name="Google Shape;207;p29"/>
          <p:cNvGraphicFramePr/>
          <p:nvPr/>
        </p:nvGraphicFramePr>
        <p:xfrm>
          <a:off x="457200" y="257556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{8B22D7B4-3CFB-46B5-8BED-69BA74CC723E}</a:tableStyleId>
              </a:tblPr>
              <a:tblGrid>
                <a:gridCol w="4114800"/>
                <a:gridCol w="4114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Think like humans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Think rationally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Act like humans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Act rationally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0"/>
          <p:cNvPicPr preferRelativeResize="0"/>
          <p:nvPr/>
        </p:nvPicPr>
        <p:blipFill rotWithShape="1">
          <a:blip r:embed="rId3">
            <a:alphaModFix/>
          </a:blip>
          <a:srcRect b="58798" l="20864" r="18387" t="24347"/>
          <a:stretch/>
        </p:blipFill>
        <p:spPr>
          <a:xfrm>
            <a:off x="1981200" y="5791187"/>
            <a:ext cx="5064125" cy="101282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Thinking rationally</a:t>
            </a:r>
            <a:endParaRPr/>
          </a:p>
        </p:txBody>
      </p:sp>
      <p:sp>
        <p:nvSpPr>
          <p:cNvPr id="214" name="Google Shape;214;p30"/>
          <p:cNvSpPr txBox="1"/>
          <p:nvPr>
            <p:ph idx="1" type="body"/>
          </p:nvPr>
        </p:nvSpPr>
        <p:spPr>
          <a:xfrm>
            <a:off x="457200" y="9856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are correct arguments/thought processes?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Aristotle and logic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Correct argument/reasoning structures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i="1" lang="en-US"/>
              <a:t>If I know A is true, and I know that A → B is true, then I know that B is true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Thinking rationally</a:t>
            </a:r>
            <a:endParaRPr/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Problems: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Not all intelligent behavior is mediated by logical deliberation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is the purpose of thinking? What thoughts are correct to have?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Not easy to represent informal knowledge in formal logic terms</a:t>
            </a:r>
            <a:endParaRPr/>
          </a:p>
        </p:txBody>
      </p:sp>
      <p:pic>
        <p:nvPicPr>
          <p:cNvPr id="221" name="Google Shape;221;p31"/>
          <p:cNvPicPr preferRelativeResize="0"/>
          <p:nvPr/>
        </p:nvPicPr>
        <p:blipFill rotWithShape="1">
          <a:blip r:embed="rId3">
            <a:alphaModFix/>
          </a:blip>
          <a:srcRect b="58798" l="20864" r="18387" t="24347"/>
          <a:stretch/>
        </p:blipFill>
        <p:spPr>
          <a:xfrm>
            <a:off x="1981200" y="5802312"/>
            <a:ext cx="5064125" cy="10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we will use: </a:t>
            </a:r>
            <a:endParaRPr/>
          </a:p>
        </p:txBody>
      </p:sp>
      <p:graphicFrame>
        <p:nvGraphicFramePr>
          <p:cNvPr id="227" name="Google Shape;227;p32"/>
          <p:cNvGraphicFramePr/>
          <p:nvPr/>
        </p:nvGraphicFramePr>
        <p:xfrm>
          <a:off x="457200" y="31242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{8B22D7B4-3CFB-46B5-8BED-69BA74CC723E}</a:tableStyleId>
              </a:tblPr>
              <a:tblGrid>
                <a:gridCol w="4114800"/>
                <a:gridCol w="4114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Think like humans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Think rationally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Act like humans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Act rationally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Acting Rationally</a:t>
            </a:r>
            <a:endParaRPr/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Rational behavior = doing the right/best thing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Right thing = thing expected to maximize goal achievement given available information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Connections to economics, control theory, decision theory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Doesn’t necessarily require thinking – (i.e. reflexes), but thinking should be in the service of rational action</a:t>
            </a:r>
            <a:endParaRPr/>
          </a:p>
        </p:txBody>
      </p:sp>
      <p:pic>
        <p:nvPicPr>
          <p:cNvPr id="234" name="Google Shape;234;p33"/>
          <p:cNvPicPr preferRelativeResize="0"/>
          <p:nvPr/>
        </p:nvPicPr>
        <p:blipFill rotWithShape="1">
          <a:blip r:embed="rId3">
            <a:alphaModFix/>
          </a:blip>
          <a:srcRect b="62096" l="23360" r="21080" t="24259"/>
          <a:stretch/>
        </p:blipFill>
        <p:spPr>
          <a:xfrm>
            <a:off x="2628899" y="5882322"/>
            <a:ext cx="3886201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FF0000"/>
                </a:solidFill>
              </a:rPr>
              <a:t>Artificial Intelligence ≠ Human intelligence </a:t>
            </a:r>
            <a:endParaRPr/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the “rational agent” approach to AI, artificial intelligence is not necessarily the same as human intelligence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We should not expect computer intelligence to be the same as human intelligence anymore than we expect airplanes to fly the same as a bird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Can machines act/think intelligently?</a:t>
            </a:r>
            <a:endParaRPr/>
          </a:p>
        </p:txBody>
      </p:sp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AI has made impressive achievements showing that tasks initially assumed to require intelligence can be automated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But each success of AI seems to push further the limits of what we consider “intelligence”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AI: Exciting area of research</a:t>
            </a:r>
            <a:endParaRPr/>
          </a:p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81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AI relatively new (1956), not Physics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We know it is possible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Arguably poses most interesting challenges and questions in CS today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Cited as “field I would most like to be in”</a:t>
            </a:r>
            <a:endParaRPr/>
          </a:p>
          <a:p>
            <a:pPr indent="-3581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can we learn from studying AI?</a:t>
            </a:r>
            <a:endParaRPr/>
          </a:p>
          <a:p>
            <a:pPr indent="-299085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Practical: Techniques for creating intelligent agents and solving problems</a:t>
            </a:r>
            <a:endParaRPr/>
          </a:p>
          <a:p>
            <a:pPr indent="-299085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Theoretical: Gain understanding of nature of intelligence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 Goals</a:t>
            </a:r>
            <a:endParaRPr/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Understand many basic tools of AI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Solve problems in any field you end up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Foundation to deepen understanding in areas you might be interested in or need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Deal sensibly with current/future issues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Have fun!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Other BYU AI Classes</a:t>
            </a:r>
            <a:endParaRPr/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CS 450 – Computer Vision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CS 472 – Machine Learning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CS 474 – Deep Learning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CS 601R – Conversational AI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CS 650 – Computer Vision 1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CS 670 – Multi-Agent Systems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CS 673 – Computational Creativity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CS 674 – Advanced Deep Learning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CS 676 – Advanced Topics in Data Mining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CS 677 – Bayesian Inference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CS 704R – Advanced Readings in Handwriting Recognition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