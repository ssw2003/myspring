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1F8257-A4DF-49B2-A289-FD5F02B52E0A}">
  <a:tblStyle styleId="{031F8257-A4DF-49B2-A289-FD5F02B52E0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5c64b54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5c64b54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5c64b54b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5c64b54b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65c64b54bf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65c64b54bf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65c64b54b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65c64b54b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65c64b54b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65c64b54b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65c64b54bf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65c64b54bf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5c64b54b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5c64b54b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65c64b54bf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65c64b54bf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5c64b54bf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65c64b54bf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5c64b54bf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5c64b54bf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5c64b54bf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5c64b54bf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5c64b54bf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5c64b54bf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65c64b54bf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65c64b54bf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65c64b54bf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65c64b54bf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65c64b54bf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65c64b54bf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65c64b54bf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65c64b54bf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65c64b54bf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65c64b54bf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65c64b54bf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65c64b54bf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c3cfba71d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c3cfba71d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5c64b54bf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5c64b54bf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65c64b54bf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65c64b54bf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65c64b54bf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65c64b54bf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65c64b54bf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65c64b54bf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65c64b54bf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65c64b54bf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65c64b54bf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65c64b54bf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65c64b54bf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65c64b54bf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65c64b54bf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65c64b54bf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65c64b54bf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65c64b54bf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65c64b54bf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65c64b54bf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65c64b54bf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65c64b54bf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65c64b54bf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65c64b54bf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65c64b54bf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65c64b54bf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65c64b54bf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65c64b54bf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65c64b54bf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65c64b54bf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65c64b54bf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65c64b54bf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65c64b54bf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65c64b54bf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65c64b54bf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65c64b54bf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65c64b54bf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65c64b54bf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65c64b54bf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65c64b54bf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65c64b54bf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65c64b54bf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65c64b54bf_0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65c64b54bf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65c64b54bf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65c64b54bf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65c64b54bf_0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65c64b54bf_0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65c64b54bf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65c64b54bf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65c64b54bf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265c64b54bf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65c64b54bf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65c64b54bf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65c64b54bf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65c64b54bf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65c64b54bf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65c64b54bf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65c64b54bf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265c64b54bf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65c64b54bf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265c64b54bf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661e7c88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2661e7c88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2661e7c88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2661e7c88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661e7c88c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661e7c88c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661e7c88c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661e7c88c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661e7c88c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661e7c88c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661e7c88c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661e7c88c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661e7c88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661e7c88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661e7c88c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661e7c88c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661e7c88c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2661e7c88c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661e7c88c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2661e7c88c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2661e7c88c0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2661e7c88c0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661e7c88c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661e7c88c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2661e7c88c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2661e7c88c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65c64b54bf_0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65c64b54bf_0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265c64b54bf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265c64b54bf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65c64b54bf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265c64b54bf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8.pn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8.png"/><Relationship Id="rId7"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2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Value Iteration &amp; Policy Iteration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CS 470</a:t>
            </a:r>
            <a:endParaRPr/>
          </a:p>
          <a:p>
            <a:pPr indent="0" lvl="0" marL="0" rtl="0" algn="ctr">
              <a:spcBef>
                <a:spcPts val="0"/>
              </a:spcBef>
              <a:spcAft>
                <a:spcPts val="0"/>
              </a:spcAft>
              <a:buNone/>
            </a:pPr>
            <a:r>
              <a:rPr lang="en"/>
              <a:t>Ethan Pedersen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Markov Decision Process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Stochastic sequential problem</a:t>
            </a:r>
            <a:endParaRPr/>
          </a:p>
          <a:p>
            <a:pPr indent="-342900" lvl="0" marL="457200" rtl="0" algn="l">
              <a:spcBef>
                <a:spcPts val="0"/>
              </a:spcBef>
              <a:spcAft>
                <a:spcPts val="0"/>
              </a:spcAft>
              <a:buSzPts val="1800"/>
              <a:buChar char="●"/>
            </a:pPr>
            <a:r>
              <a:rPr lang="en"/>
              <a:t>Markov process, but with actions</a:t>
            </a:r>
            <a:endParaRPr/>
          </a:p>
          <a:p>
            <a:pPr indent="-317500" lvl="1" marL="914400" rtl="0" algn="l">
              <a:spcBef>
                <a:spcPts val="0"/>
              </a:spcBef>
              <a:spcAft>
                <a:spcPts val="0"/>
              </a:spcAft>
              <a:buSzPts val="1400"/>
              <a:buChar char="○"/>
            </a:pPr>
            <a:r>
              <a:rPr lang="en"/>
              <a:t>In other words, at each state we “decide” what action to take in order to reach/achieve some goal</a:t>
            </a:r>
            <a:endParaRPr/>
          </a:p>
          <a:p>
            <a:pPr indent="-342900" lvl="0" marL="457200" rtl="0" algn="l">
              <a:spcBef>
                <a:spcPts val="0"/>
              </a:spcBef>
              <a:spcAft>
                <a:spcPts val="0"/>
              </a:spcAft>
              <a:buSzPts val="1800"/>
              <a:buChar char="●"/>
            </a:pPr>
            <a:r>
              <a:rPr lang="en"/>
              <a:t>Markov assumption still holds</a:t>
            </a:r>
            <a:endParaRPr/>
          </a:p>
          <a:p>
            <a:pPr indent="-342900" lvl="0" marL="457200" rtl="0" algn="l">
              <a:spcBef>
                <a:spcPts val="0"/>
              </a:spcBef>
              <a:spcAft>
                <a:spcPts val="0"/>
              </a:spcAft>
              <a:buSzPts val="1800"/>
              <a:buChar char="●"/>
            </a:pPr>
            <a:r>
              <a:rPr lang="en"/>
              <a:t>In a way, this is what you were doing in the Bayes Filter lab:</a:t>
            </a:r>
            <a:endParaRPr/>
          </a:p>
          <a:p>
            <a:pPr indent="-317500" lvl="1" marL="914400" rtl="0" algn="l">
              <a:spcBef>
                <a:spcPts val="0"/>
              </a:spcBef>
              <a:spcAft>
                <a:spcPts val="0"/>
              </a:spcAft>
              <a:buSzPts val="1400"/>
              <a:buChar char="○"/>
            </a:pPr>
            <a:r>
              <a:rPr lang="en"/>
              <a:t>Given the current state the robot was in, you chose an action to move it towards the terminal state</a:t>
            </a:r>
            <a:endParaRPr/>
          </a:p>
          <a:p>
            <a:pPr indent="-342900" lvl="0" marL="457200" rtl="0" algn="l">
              <a:spcBef>
                <a:spcPts val="0"/>
              </a:spcBef>
              <a:spcAft>
                <a:spcPts val="0"/>
              </a:spcAft>
              <a:buSzPts val="1800"/>
              <a:buChar char="●"/>
            </a:pPr>
            <a:r>
              <a:rPr lang="en"/>
              <a:t>“MDP” is a very common acronym </a:t>
            </a:r>
            <a:endParaRPr/>
          </a:p>
        </p:txBody>
      </p:sp>
      <p:pic>
        <p:nvPicPr>
          <p:cNvPr id="62" name="Google Shape;62;p14"/>
          <p:cNvPicPr preferRelativeResize="0"/>
          <p:nvPr/>
        </p:nvPicPr>
        <p:blipFill>
          <a:blip r:embed="rId3">
            <a:alphaModFix/>
          </a:blip>
          <a:stretch>
            <a:fillRect/>
          </a:stretch>
        </p:blipFill>
        <p:spPr>
          <a:xfrm>
            <a:off x="5296575" y="3082699"/>
            <a:ext cx="2910225" cy="1977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Markov Decision Process</a:t>
            </a:r>
            <a:endParaRPr/>
          </a:p>
        </p:txBody>
      </p:sp>
      <p:sp>
        <p:nvSpPr>
          <p:cNvPr id="68" name="Google Shape;68;p15"/>
          <p:cNvSpPr txBox="1"/>
          <p:nvPr>
            <p:ph idx="1" type="body"/>
          </p:nvPr>
        </p:nvSpPr>
        <p:spPr>
          <a:xfrm>
            <a:off x="311700" y="1152475"/>
            <a:ext cx="8520600" cy="369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Four main components:</a:t>
            </a:r>
            <a:endParaRPr/>
          </a:p>
          <a:p>
            <a:pPr indent="-317500" lvl="1" marL="914400" rtl="0" algn="l">
              <a:spcBef>
                <a:spcPts val="0"/>
              </a:spcBef>
              <a:spcAft>
                <a:spcPts val="0"/>
              </a:spcAft>
              <a:buSzPts val="1400"/>
              <a:buChar char="○"/>
            </a:pPr>
            <a:r>
              <a:rPr lang="en"/>
              <a:t>Set of states S</a:t>
            </a:r>
            <a:endParaRPr/>
          </a:p>
          <a:p>
            <a:pPr indent="-317500" lvl="1" marL="914400" rtl="0" algn="l">
              <a:spcBef>
                <a:spcPts val="0"/>
              </a:spcBef>
              <a:spcAft>
                <a:spcPts val="0"/>
              </a:spcAft>
              <a:buSzPts val="1400"/>
              <a:buChar char="○"/>
            </a:pPr>
            <a:r>
              <a:rPr lang="en"/>
              <a:t>Set of actions for each state s in S</a:t>
            </a:r>
            <a:endParaRPr/>
          </a:p>
          <a:p>
            <a:pPr indent="-317500" lvl="2" marL="1371600" rtl="0" algn="l">
              <a:spcBef>
                <a:spcPts val="0"/>
              </a:spcBef>
              <a:spcAft>
                <a:spcPts val="0"/>
              </a:spcAft>
              <a:buSzPts val="1400"/>
              <a:buChar char="■"/>
            </a:pPr>
            <a:r>
              <a:rPr lang="en"/>
              <a:t>A(s)</a:t>
            </a:r>
            <a:endParaRPr/>
          </a:p>
          <a:p>
            <a:pPr indent="-317500" lvl="1" marL="914400" rtl="0" algn="l">
              <a:spcBef>
                <a:spcPts val="0"/>
              </a:spcBef>
              <a:spcAft>
                <a:spcPts val="0"/>
              </a:spcAft>
              <a:buSzPts val="1400"/>
              <a:buChar char="○"/>
            </a:pPr>
            <a:r>
              <a:rPr lang="en"/>
              <a:t>Transition model P(s’ | s, a)</a:t>
            </a:r>
            <a:endParaRPr/>
          </a:p>
          <a:p>
            <a:pPr indent="-317500" lvl="2" marL="1371600" rtl="0" algn="l">
              <a:spcBef>
                <a:spcPts val="0"/>
              </a:spcBef>
              <a:spcAft>
                <a:spcPts val="0"/>
              </a:spcAft>
              <a:buSzPts val="1400"/>
              <a:buChar char="■"/>
            </a:pPr>
            <a:r>
              <a:rPr lang="en"/>
              <a:t>Probability of reaching state s’ after performing action a in state s</a:t>
            </a:r>
            <a:endParaRPr/>
          </a:p>
          <a:p>
            <a:pPr indent="-317500" lvl="2" marL="1371600" rtl="0" algn="l">
              <a:spcBef>
                <a:spcPts val="0"/>
              </a:spcBef>
              <a:spcAft>
                <a:spcPts val="0"/>
              </a:spcAft>
              <a:buSzPts val="1400"/>
              <a:buChar char="■"/>
            </a:pPr>
            <a:r>
              <a:rPr lang="en"/>
              <a:t>Does this look familiar?</a:t>
            </a:r>
            <a:endParaRPr/>
          </a:p>
          <a:p>
            <a:pPr indent="-317500" lvl="3" marL="1828800" rtl="0" algn="l">
              <a:spcBef>
                <a:spcPts val="0"/>
              </a:spcBef>
              <a:spcAft>
                <a:spcPts val="0"/>
              </a:spcAft>
              <a:buSzPts val="1400"/>
              <a:buChar char="●"/>
            </a:pPr>
            <a:r>
              <a:rPr lang="en"/>
              <a:t>Bayes Filter</a:t>
            </a:r>
            <a:endParaRPr/>
          </a:p>
          <a:p>
            <a:pPr indent="-317500" lvl="1" marL="914400" rtl="0" algn="l">
              <a:spcBef>
                <a:spcPts val="0"/>
              </a:spcBef>
              <a:spcAft>
                <a:spcPts val="0"/>
              </a:spcAft>
              <a:buSzPts val="1400"/>
              <a:buChar char="○"/>
            </a:pPr>
            <a:r>
              <a:rPr lang="en"/>
              <a:t>Reward function for specifying the reward for each state s in S</a:t>
            </a:r>
            <a:endParaRPr/>
          </a:p>
          <a:p>
            <a:pPr indent="-317500" lvl="2" marL="1371600" rtl="0" algn="l">
              <a:spcBef>
                <a:spcPts val="0"/>
              </a:spcBef>
              <a:spcAft>
                <a:spcPts val="0"/>
              </a:spcAft>
              <a:buSzPts val="1400"/>
              <a:buChar char="■"/>
            </a:pPr>
            <a:r>
              <a:rPr lang="en"/>
              <a:t>R(s)</a:t>
            </a:r>
            <a:endParaRPr/>
          </a:p>
          <a:p>
            <a:pPr indent="-342900" lvl="0" marL="457200" rtl="0" algn="l">
              <a:spcBef>
                <a:spcPts val="0"/>
              </a:spcBef>
              <a:spcAft>
                <a:spcPts val="0"/>
              </a:spcAft>
              <a:buSzPts val="1800"/>
              <a:buChar char="●"/>
            </a:pPr>
            <a:r>
              <a:rPr lang="en"/>
              <a:t>MDP = (S, A, R, 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Discounted Rewards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 a discount factor gamma between 0 and 1</a:t>
            </a:r>
            <a:endParaRPr/>
          </a:p>
          <a:p>
            <a:pPr indent="-317500" lvl="1" marL="914400" rtl="0" algn="l">
              <a:spcBef>
                <a:spcPts val="0"/>
              </a:spcBef>
              <a:spcAft>
                <a:spcPts val="0"/>
              </a:spcAft>
              <a:buSzPts val="1400"/>
              <a:buChar char="○"/>
            </a:pPr>
            <a:r>
              <a:rPr lang="en"/>
              <a:t>The smaller it is, the less value we get from future rewards</a:t>
            </a:r>
            <a:endParaRPr/>
          </a:p>
          <a:p>
            <a:pPr indent="-317500" lvl="1" marL="914400" rtl="0" algn="l">
              <a:spcBef>
                <a:spcPts val="0"/>
              </a:spcBef>
              <a:spcAft>
                <a:spcPts val="0"/>
              </a:spcAft>
              <a:buSzPts val="1400"/>
              <a:buChar char="○"/>
            </a:pPr>
            <a:r>
              <a:rPr lang="en"/>
              <a:t>Often something like 0.99 is used</a:t>
            </a:r>
            <a:endParaRPr/>
          </a:p>
        </p:txBody>
      </p:sp>
      <p:pic>
        <p:nvPicPr>
          <p:cNvPr id="75" name="Google Shape;75;p16"/>
          <p:cNvPicPr preferRelativeResize="0"/>
          <p:nvPr/>
        </p:nvPicPr>
        <p:blipFill>
          <a:blip r:embed="rId3">
            <a:alphaModFix/>
          </a:blip>
          <a:stretch>
            <a:fillRect/>
          </a:stretch>
        </p:blipFill>
        <p:spPr>
          <a:xfrm>
            <a:off x="1724025" y="2388900"/>
            <a:ext cx="5695950" cy="1238250"/>
          </a:xfrm>
          <a:prstGeom prst="rect">
            <a:avLst/>
          </a:prstGeom>
          <a:noFill/>
          <a:ln>
            <a:noFill/>
          </a:ln>
        </p:spPr>
      </p:pic>
      <p:pic>
        <p:nvPicPr>
          <p:cNvPr id="76" name="Google Shape;76;p16"/>
          <p:cNvPicPr preferRelativeResize="0"/>
          <p:nvPr/>
        </p:nvPicPr>
        <p:blipFill rotWithShape="1">
          <a:blip r:embed="rId4">
            <a:alphaModFix/>
          </a:blip>
          <a:srcRect b="0" l="4148" r="5271" t="0"/>
          <a:stretch/>
        </p:blipFill>
        <p:spPr>
          <a:xfrm>
            <a:off x="4063000" y="3803475"/>
            <a:ext cx="1018000" cy="85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How to Solve an MDP</a:t>
            </a:r>
            <a:endParaRPr/>
          </a:p>
        </p:txBody>
      </p:sp>
      <p:sp>
        <p:nvSpPr>
          <p:cNvPr id="82" name="Google Shape;82;p17"/>
          <p:cNvSpPr txBox="1"/>
          <p:nvPr>
            <p:ph idx="1" type="body"/>
          </p:nvPr>
        </p:nvSpPr>
        <p:spPr>
          <a:xfrm>
            <a:off x="311700" y="1152475"/>
            <a:ext cx="8520600" cy="174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does a solution to an MDP problem look like?</a:t>
            </a:r>
            <a:endParaRPr/>
          </a:p>
          <a:p>
            <a:pPr indent="-317500" lvl="1" marL="914400" rtl="0" algn="l">
              <a:spcBef>
                <a:spcPts val="0"/>
              </a:spcBef>
              <a:spcAft>
                <a:spcPts val="0"/>
              </a:spcAft>
              <a:buSzPts val="1400"/>
              <a:buChar char="○"/>
            </a:pPr>
            <a:r>
              <a:rPr lang="en"/>
              <a:t>We need to specify what the agent should do in any reachable state</a:t>
            </a:r>
            <a:endParaRPr/>
          </a:p>
          <a:p>
            <a:pPr indent="-317500" lvl="2" marL="1371600" rtl="0" algn="l">
              <a:spcBef>
                <a:spcPts val="0"/>
              </a:spcBef>
              <a:spcAft>
                <a:spcPts val="0"/>
              </a:spcAft>
              <a:buSzPts val="1400"/>
              <a:buChar char="■"/>
            </a:pPr>
            <a:r>
              <a:rPr lang="en"/>
              <a:t>We call this solution a policy, though it’s sometimes referred to as a strategy</a:t>
            </a:r>
            <a:endParaRPr/>
          </a:p>
        </p:txBody>
      </p:sp>
      <p:pic>
        <p:nvPicPr>
          <p:cNvPr id="83" name="Google Shape;83;p17"/>
          <p:cNvPicPr preferRelativeResize="0"/>
          <p:nvPr/>
        </p:nvPicPr>
        <p:blipFill>
          <a:blip r:embed="rId3">
            <a:alphaModFix/>
          </a:blip>
          <a:stretch>
            <a:fillRect/>
          </a:stretch>
        </p:blipFill>
        <p:spPr>
          <a:xfrm>
            <a:off x="1438275" y="2240200"/>
            <a:ext cx="1981200" cy="514350"/>
          </a:xfrm>
          <a:prstGeom prst="rect">
            <a:avLst/>
          </a:prstGeom>
          <a:noFill/>
          <a:ln>
            <a:noFill/>
          </a:ln>
        </p:spPr>
      </p:pic>
      <p:pic>
        <p:nvPicPr>
          <p:cNvPr id="84" name="Google Shape;84;p17"/>
          <p:cNvPicPr preferRelativeResize="0"/>
          <p:nvPr/>
        </p:nvPicPr>
        <p:blipFill rotWithShape="1">
          <a:blip r:embed="rId4">
            <a:alphaModFix/>
          </a:blip>
          <a:srcRect b="8207" l="6331" r="0" t="14649"/>
          <a:stretch/>
        </p:blipFill>
        <p:spPr>
          <a:xfrm>
            <a:off x="1438275" y="2951800"/>
            <a:ext cx="803000" cy="514350"/>
          </a:xfrm>
          <a:prstGeom prst="rect">
            <a:avLst/>
          </a:prstGeom>
          <a:noFill/>
          <a:ln>
            <a:noFill/>
          </a:ln>
        </p:spPr>
      </p:pic>
      <p:sp>
        <p:nvSpPr>
          <p:cNvPr id="85" name="Google Shape;85;p17"/>
          <p:cNvSpPr txBox="1"/>
          <p:nvPr/>
        </p:nvSpPr>
        <p:spPr>
          <a:xfrm>
            <a:off x="2342150" y="3016413"/>
            <a:ext cx="383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Action that the policy tells us to take in state s</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Optimal Policy</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policy with the largest expected utility is called the optimal policy</a:t>
            </a:r>
            <a:endParaRPr/>
          </a:p>
          <a:p>
            <a:pPr indent="-342900" lvl="0" marL="457200" rtl="0" algn="l">
              <a:spcBef>
                <a:spcPts val="0"/>
              </a:spcBef>
              <a:spcAft>
                <a:spcPts val="0"/>
              </a:spcAft>
              <a:buSzPts val="1800"/>
              <a:buChar char="●"/>
            </a:pPr>
            <a:r>
              <a:rPr lang="en"/>
              <a:t>Notation:</a:t>
            </a:r>
            <a:endParaRPr/>
          </a:p>
        </p:txBody>
      </p:sp>
      <p:pic>
        <p:nvPicPr>
          <p:cNvPr id="92" name="Google Shape;92;p18"/>
          <p:cNvPicPr preferRelativeResize="0"/>
          <p:nvPr/>
        </p:nvPicPr>
        <p:blipFill>
          <a:blip r:embed="rId3">
            <a:alphaModFix/>
          </a:blip>
          <a:stretch>
            <a:fillRect/>
          </a:stretch>
        </p:blipFill>
        <p:spPr>
          <a:xfrm>
            <a:off x="1223950" y="2019400"/>
            <a:ext cx="445535" cy="514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Evaluating Policies</a:t>
            </a:r>
            <a:endParaRPr/>
          </a:p>
        </p:txBody>
      </p:sp>
      <p:sp>
        <p:nvSpPr>
          <p:cNvPr id="98" name="Google Shape;98;p19"/>
          <p:cNvSpPr txBox="1"/>
          <p:nvPr>
            <p:ph idx="1" type="body"/>
          </p:nvPr>
        </p:nvSpPr>
        <p:spPr>
          <a:xfrm>
            <a:off x="311700" y="1152475"/>
            <a:ext cx="8520600" cy="3411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One approach:</a:t>
            </a:r>
            <a:endParaRPr/>
          </a:p>
          <a:p>
            <a:pPr indent="-317500" lvl="1" marL="914400" rtl="0" algn="l">
              <a:spcBef>
                <a:spcPts val="0"/>
              </a:spcBef>
              <a:spcAft>
                <a:spcPts val="0"/>
              </a:spcAft>
              <a:buSzPts val="1400"/>
              <a:buChar char="○"/>
            </a:pPr>
            <a:r>
              <a:rPr lang="en"/>
              <a:t>For each policy we’re evaluating:</a:t>
            </a:r>
            <a:endParaRPr/>
          </a:p>
          <a:p>
            <a:pPr indent="-317500" lvl="2" marL="1371600" rtl="0" algn="l">
              <a:spcBef>
                <a:spcPts val="0"/>
              </a:spcBef>
              <a:spcAft>
                <a:spcPts val="0"/>
              </a:spcAft>
              <a:buSzPts val="1400"/>
              <a:buChar char="■"/>
            </a:pPr>
            <a:r>
              <a:rPr lang="en"/>
              <a:t>Start in the initial state</a:t>
            </a:r>
            <a:endParaRPr/>
          </a:p>
          <a:p>
            <a:pPr indent="-317500" lvl="2" marL="1371600" rtl="0" algn="l">
              <a:spcBef>
                <a:spcPts val="0"/>
              </a:spcBef>
              <a:spcAft>
                <a:spcPts val="0"/>
              </a:spcAft>
              <a:buSzPts val="1400"/>
              <a:buChar char="■"/>
            </a:pPr>
            <a:r>
              <a:rPr lang="en"/>
              <a:t>Execute the policy several times</a:t>
            </a:r>
            <a:endParaRPr/>
          </a:p>
          <a:p>
            <a:pPr indent="-317500" lvl="3" marL="1828800" rtl="0" algn="l">
              <a:spcBef>
                <a:spcPts val="0"/>
              </a:spcBef>
              <a:spcAft>
                <a:spcPts val="0"/>
              </a:spcAft>
              <a:buSzPts val="1400"/>
              <a:buChar char="●"/>
            </a:pPr>
            <a:r>
              <a:rPr lang="en"/>
              <a:t>Transitions are random</a:t>
            </a:r>
            <a:endParaRPr/>
          </a:p>
          <a:p>
            <a:pPr indent="-317500" lvl="3" marL="1828800" rtl="0" algn="l">
              <a:spcBef>
                <a:spcPts val="0"/>
              </a:spcBef>
              <a:spcAft>
                <a:spcPts val="0"/>
              </a:spcAft>
              <a:buSzPts val="1400"/>
              <a:buChar char="●"/>
            </a:pPr>
            <a:r>
              <a:rPr lang="en"/>
              <a:t>So, this gives us a distribution over state sequences induced by the policy</a:t>
            </a:r>
            <a:endParaRPr/>
          </a:p>
          <a:p>
            <a:pPr indent="-317500" lvl="4" marL="2286000" rtl="0" algn="l">
              <a:spcBef>
                <a:spcPts val="0"/>
              </a:spcBef>
              <a:spcAft>
                <a:spcPts val="0"/>
              </a:spcAft>
              <a:buSzPts val="1400"/>
              <a:buChar char="○"/>
            </a:pPr>
            <a:r>
              <a:rPr lang="en"/>
              <a:t>Each state sequence has an associated utility (ex: sum of rewards from each state)</a:t>
            </a:r>
            <a:endParaRPr/>
          </a:p>
          <a:p>
            <a:pPr indent="-317500" lvl="4" marL="2286000" rtl="0" algn="l">
              <a:spcBef>
                <a:spcPts val="0"/>
              </a:spcBef>
              <a:spcAft>
                <a:spcPts val="0"/>
              </a:spcAft>
              <a:buSzPts val="1400"/>
              <a:buChar char="○"/>
            </a:pPr>
            <a:r>
              <a:rPr lang="en"/>
              <a:t>Each state sequence has a probability of occuring</a:t>
            </a:r>
            <a:endParaRPr/>
          </a:p>
          <a:p>
            <a:pPr indent="-317500" lvl="2" marL="1371600" rtl="0" algn="l">
              <a:spcBef>
                <a:spcPts val="0"/>
              </a:spcBef>
              <a:spcAft>
                <a:spcPts val="0"/>
              </a:spcAft>
              <a:buSzPts val="1400"/>
              <a:buChar char="■"/>
            </a:pPr>
            <a:r>
              <a:rPr lang="en"/>
              <a:t>Use the rewards and probabilities of the state sequences to calculate the expected utility of the policy</a:t>
            </a:r>
            <a:endParaRPr/>
          </a:p>
          <a:p>
            <a:pPr indent="-317500" lvl="1" marL="914400" rtl="0" algn="l">
              <a:spcBef>
                <a:spcPts val="0"/>
              </a:spcBef>
              <a:spcAft>
                <a:spcPts val="0"/>
              </a:spcAft>
              <a:buSzPts val="1400"/>
              <a:buChar char="○"/>
            </a:pPr>
            <a:r>
              <a:rPr lang="en"/>
              <a:t>Use the MEU principle to choose the policy with the largest expected utility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Evaluating Policies</a:t>
            </a:r>
            <a:endParaRPr/>
          </a:p>
        </p:txBody>
      </p:sp>
      <p:sp>
        <p:nvSpPr>
          <p:cNvPr id="104" name="Google Shape;104;p2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are some problems with this approach?</a:t>
            </a:r>
            <a:endParaRPr/>
          </a:p>
          <a:p>
            <a:pPr indent="-317500" lvl="1" marL="914400" rtl="0" algn="l">
              <a:spcBef>
                <a:spcPts val="0"/>
              </a:spcBef>
              <a:spcAft>
                <a:spcPts val="0"/>
              </a:spcAft>
              <a:buSzPts val="1400"/>
              <a:buChar char="○"/>
            </a:pPr>
            <a:r>
              <a:rPr lang="en"/>
              <a:t>Need to have policies beforehand so that we can compare them</a:t>
            </a:r>
            <a:endParaRPr/>
          </a:p>
          <a:p>
            <a:pPr indent="-317500" lvl="1" marL="914400" rtl="0" algn="l">
              <a:spcBef>
                <a:spcPts val="0"/>
              </a:spcBef>
              <a:spcAft>
                <a:spcPts val="0"/>
              </a:spcAft>
              <a:buSzPts val="1400"/>
              <a:buChar char="○"/>
            </a:pPr>
            <a:r>
              <a:rPr lang="en"/>
              <a:t>It’s just a way to pick from a set of policies, but none of the policies are guaranteed to be optimal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an Optimal Policy</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 given an MDP, how do we find the optimal policy?</a:t>
            </a:r>
            <a:endParaRPr/>
          </a:p>
          <a:p>
            <a:pPr indent="-317500" lvl="1" marL="914400" rtl="0" algn="l">
              <a:spcBef>
                <a:spcPts val="0"/>
              </a:spcBef>
              <a:spcAft>
                <a:spcPts val="0"/>
              </a:spcAft>
              <a:buSzPts val="1400"/>
              <a:buChar char="○"/>
            </a:pPr>
            <a:r>
              <a:rPr lang="en"/>
              <a:t>We’ll use expected utility and the Bellman equation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Utility</a:t>
            </a:r>
            <a:endParaRPr/>
          </a:p>
        </p:txBody>
      </p:sp>
      <p:pic>
        <p:nvPicPr>
          <p:cNvPr id="116" name="Google Shape;116;p22"/>
          <p:cNvPicPr preferRelativeResize="0"/>
          <p:nvPr/>
        </p:nvPicPr>
        <p:blipFill>
          <a:blip r:embed="rId3">
            <a:alphaModFix/>
          </a:blip>
          <a:stretch>
            <a:fillRect/>
          </a:stretch>
        </p:blipFill>
        <p:spPr>
          <a:xfrm>
            <a:off x="2133600" y="1609725"/>
            <a:ext cx="4876800" cy="1924050"/>
          </a:xfrm>
          <a:prstGeom prst="rect">
            <a:avLst/>
          </a:prstGeom>
          <a:noFill/>
          <a:ln>
            <a:noFill/>
          </a:ln>
        </p:spPr>
      </p:pic>
      <p:sp>
        <p:nvSpPr>
          <p:cNvPr id="117" name="Google Shape;117;p22"/>
          <p:cNvSpPr txBox="1"/>
          <p:nvPr/>
        </p:nvSpPr>
        <p:spPr>
          <a:xfrm>
            <a:off x="311700" y="3674875"/>
            <a:ext cx="528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Expected utility obtained by executing a policy pi when starting in state s</a:t>
            </a:r>
            <a:endParaRPr sz="1800">
              <a:solidFill>
                <a:schemeClr val="dk2"/>
              </a:solidFill>
            </a:endParaRPr>
          </a:p>
        </p:txBody>
      </p:sp>
      <p:sp>
        <p:nvSpPr>
          <p:cNvPr id="118" name="Google Shape;118;p22"/>
          <p:cNvSpPr txBox="1"/>
          <p:nvPr/>
        </p:nvSpPr>
        <p:spPr>
          <a:xfrm>
            <a:off x="311700" y="1054900"/>
            <a:ext cx="347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Iterate through future time steps</a:t>
            </a:r>
            <a:endParaRPr sz="1800">
              <a:solidFill>
                <a:schemeClr val="dk2"/>
              </a:solidFill>
            </a:endParaRPr>
          </a:p>
        </p:txBody>
      </p:sp>
      <p:sp>
        <p:nvSpPr>
          <p:cNvPr id="119" name="Google Shape;119;p22"/>
          <p:cNvSpPr txBox="1"/>
          <p:nvPr/>
        </p:nvSpPr>
        <p:spPr>
          <a:xfrm>
            <a:off x="4123075" y="1054900"/>
            <a:ext cx="481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State agent is in at time t after using policy pi</a:t>
            </a:r>
            <a:endParaRPr sz="1800">
              <a:solidFill>
                <a:schemeClr val="dk2"/>
              </a:solidFill>
            </a:endParaRPr>
          </a:p>
        </p:txBody>
      </p:sp>
      <p:sp>
        <p:nvSpPr>
          <p:cNvPr id="120" name="Google Shape;120;p22"/>
          <p:cNvSpPr txBox="1"/>
          <p:nvPr/>
        </p:nvSpPr>
        <p:spPr>
          <a:xfrm>
            <a:off x="6432800" y="3674875"/>
            <a:ext cx="217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Discounted reward</a:t>
            </a:r>
            <a:endParaRPr sz="1800">
              <a:solidFill>
                <a:schemeClr val="dk2"/>
              </a:solidFill>
            </a:endParaRPr>
          </a:p>
        </p:txBody>
      </p:sp>
      <p:sp>
        <p:nvSpPr>
          <p:cNvPr id="121" name="Google Shape;121;p22"/>
          <p:cNvSpPr/>
          <p:nvPr/>
        </p:nvSpPr>
        <p:spPr>
          <a:xfrm>
            <a:off x="2379450" y="2226288"/>
            <a:ext cx="1144500" cy="7389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2" name="Google Shape;122;p22"/>
          <p:cNvCxnSpPr>
            <a:endCxn id="121" idx="4"/>
          </p:cNvCxnSpPr>
          <p:nvPr/>
        </p:nvCxnSpPr>
        <p:spPr>
          <a:xfrm flipH="1" rot="10800000">
            <a:off x="2489100" y="2965188"/>
            <a:ext cx="462600" cy="702900"/>
          </a:xfrm>
          <a:prstGeom prst="straightConnector1">
            <a:avLst/>
          </a:prstGeom>
          <a:noFill/>
          <a:ln cap="flat" cmpd="sng" w="9525">
            <a:solidFill>
              <a:schemeClr val="accent4"/>
            </a:solidFill>
            <a:prstDash val="solid"/>
            <a:round/>
            <a:headEnd len="med" w="med" type="none"/>
            <a:tailEnd len="med" w="med" type="triangle"/>
          </a:ln>
        </p:spPr>
      </p:cxnSp>
      <p:sp>
        <p:nvSpPr>
          <p:cNvPr id="123" name="Google Shape;123;p22"/>
          <p:cNvSpPr/>
          <p:nvPr/>
        </p:nvSpPr>
        <p:spPr>
          <a:xfrm>
            <a:off x="4440225" y="2033950"/>
            <a:ext cx="827400" cy="13170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4" name="Google Shape;124;p22"/>
          <p:cNvCxnSpPr>
            <a:endCxn id="123" idx="1"/>
          </p:cNvCxnSpPr>
          <p:nvPr/>
        </p:nvCxnSpPr>
        <p:spPr>
          <a:xfrm>
            <a:off x="2137395" y="1530520"/>
            <a:ext cx="2424000" cy="696300"/>
          </a:xfrm>
          <a:prstGeom prst="straightConnector1">
            <a:avLst/>
          </a:prstGeom>
          <a:noFill/>
          <a:ln cap="flat" cmpd="sng" w="9525">
            <a:solidFill>
              <a:schemeClr val="accent4"/>
            </a:solidFill>
            <a:prstDash val="solid"/>
            <a:round/>
            <a:headEnd len="med" w="med" type="none"/>
            <a:tailEnd len="med" w="med" type="triangle"/>
          </a:ln>
        </p:spPr>
      </p:cxnSp>
      <p:sp>
        <p:nvSpPr>
          <p:cNvPr id="125" name="Google Shape;125;p22"/>
          <p:cNvSpPr/>
          <p:nvPr/>
        </p:nvSpPr>
        <p:spPr>
          <a:xfrm>
            <a:off x="5999875" y="2330425"/>
            <a:ext cx="432900" cy="5106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6" name="Google Shape;126;p22"/>
          <p:cNvCxnSpPr>
            <a:endCxn id="125" idx="0"/>
          </p:cNvCxnSpPr>
          <p:nvPr/>
        </p:nvCxnSpPr>
        <p:spPr>
          <a:xfrm flipH="1">
            <a:off x="6216325" y="1509925"/>
            <a:ext cx="312900" cy="820500"/>
          </a:xfrm>
          <a:prstGeom prst="straightConnector1">
            <a:avLst/>
          </a:prstGeom>
          <a:noFill/>
          <a:ln cap="flat" cmpd="sng" w="9525">
            <a:solidFill>
              <a:schemeClr val="accent4"/>
            </a:solidFill>
            <a:prstDash val="solid"/>
            <a:round/>
            <a:headEnd len="med" w="med" type="none"/>
            <a:tailEnd len="med" w="med" type="triangle"/>
          </a:ln>
        </p:spPr>
      </p:cxnSp>
      <p:sp>
        <p:nvSpPr>
          <p:cNvPr id="127" name="Google Shape;127;p22"/>
          <p:cNvSpPr/>
          <p:nvPr/>
        </p:nvSpPr>
        <p:spPr>
          <a:xfrm>
            <a:off x="5158750" y="2226275"/>
            <a:ext cx="1480800" cy="7389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8" name="Google Shape;128;p22"/>
          <p:cNvCxnSpPr>
            <a:endCxn id="127" idx="4"/>
          </p:cNvCxnSpPr>
          <p:nvPr/>
        </p:nvCxnSpPr>
        <p:spPr>
          <a:xfrm rot="10800000">
            <a:off x="5899150" y="2965175"/>
            <a:ext cx="947400" cy="682200"/>
          </a:xfrm>
          <a:prstGeom prst="straightConnector1">
            <a:avLst/>
          </a:prstGeom>
          <a:noFill/>
          <a:ln cap="flat" cmpd="sng" w="9525">
            <a:solidFill>
              <a:schemeClr val="accent4"/>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Utility</a:t>
            </a:r>
            <a:endParaRPr/>
          </a:p>
        </p:txBody>
      </p:sp>
      <p:sp>
        <p:nvSpPr>
          <p:cNvPr id="134" name="Google Shape;13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basic terms, this is how much discounted reward we expect to receive when we start in state s and execute policy pi</a:t>
            </a:r>
            <a:endParaRPr/>
          </a:p>
          <a:p>
            <a:pPr indent="-342900" lvl="0" marL="457200" rtl="0" algn="l">
              <a:spcBef>
                <a:spcPts val="0"/>
              </a:spcBef>
              <a:spcAft>
                <a:spcPts val="0"/>
              </a:spcAft>
              <a:buSzPts val="1800"/>
              <a:buChar char="●"/>
            </a:pPr>
            <a:r>
              <a:rPr lang="en"/>
              <a:t>When we talked about the approach last lecture, this is what we meant by “</a:t>
            </a:r>
            <a:r>
              <a:rPr lang="en"/>
              <a:t>Use the rewards and probabilities of the state sequences to calculate the expected utility of the policy”</a:t>
            </a:r>
            <a:endParaRPr/>
          </a:p>
        </p:txBody>
      </p:sp>
      <p:pic>
        <p:nvPicPr>
          <p:cNvPr id="135" name="Google Shape;135;p23"/>
          <p:cNvPicPr preferRelativeResize="0"/>
          <p:nvPr/>
        </p:nvPicPr>
        <p:blipFill>
          <a:blip r:embed="rId3">
            <a:alphaModFix/>
          </a:blip>
          <a:stretch>
            <a:fillRect/>
          </a:stretch>
        </p:blipFill>
        <p:spPr>
          <a:xfrm>
            <a:off x="2133600" y="2933525"/>
            <a:ext cx="4876800" cy="192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Optimal Expected Utility</a:t>
            </a:r>
            <a:endParaRPr/>
          </a:p>
        </p:txBody>
      </p:sp>
      <p:sp>
        <p:nvSpPr>
          <p:cNvPr id="141" name="Google Shape;14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expected utility we get from using the optimal policy</a:t>
            </a:r>
            <a:endParaRPr/>
          </a:p>
          <a:p>
            <a:pPr indent="-317500" lvl="1" marL="914400" rtl="0" algn="l">
              <a:spcBef>
                <a:spcPts val="0"/>
              </a:spcBef>
              <a:spcAft>
                <a:spcPts val="0"/>
              </a:spcAft>
              <a:buSzPts val="1400"/>
              <a:buChar char="○"/>
            </a:pPr>
            <a:r>
              <a:rPr lang="en"/>
              <a:t>In other words, the maximum expected utility</a:t>
            </a:r>
            <a:endParaRPr/>
          </a:p>
          <a:p>
            <a:pPr indent="-342900" lvl="0" marL="457200" rtl="0" algn="l">
              <a:spcBef>
                <a:spcPts val="0"/>
              </a:spcBef>
              <a:spcAft>
                <a:spcPts val="0"/>
              </a:spcAft>
              <a:buSzPts val="1800"/>
              <a:buChar char="●"/>
            </a:pPr>
            <a:r>
              <a:rPr lang="en"/>
              <a:t>Notation: </a:t>
            </a:r>
            <a:endParaRPr/>
          </a:p>
        </p:txBody>
      </p:sp>
      <p:pic>
        <p:nvPicPr>
          <p:cNvPr id="142" name="Google Shape;142;p24"/>
          <p:cNvPicPr preferRelativeResize="0"/>
          <p:nvPr/>
        </p:nvPicPr>
        <p:blipFill rotWithShape="1">
          <a:blip r:embed="rId3">
            <a:alphaModFix/>
          </a:blip>
          <a:srcRect b="8382" l="0" r="0" t="22851"/>
          <a:stretch/>
        </p:blipFill>
        <p:spPr>
          <a:xfrm>
            <a:off x="863400" y="2227013"/>
            <a:ext cx="1143000" cy="524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a:t>
            </a:r>
            <a:r>
              <a:rPr lang="en"/>
              <a:t> Utility</a:t>
            </a:r>
            <a:endParaRPr/>
          </a:p>
        </p:txBody>
      </p:sp>
      <p:sp>
        <p:nvSpPr>
          <p:cNvPr id="148" name="Google Shape;14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if we knew what the optimal expected utility was beforehand?</a:t>
            </a:r>
            <a:endParaRPr/>
          </a:p>
          <a:p>
            <a:pPr indent="-317500" lvl="1" marL="914400" rtl="0" algn="l">
              <a:spcBef>
                <a:spcPts val="0"/>
              </a:spcBef>
              <a:spcAft>
                <a:spcPts val="0"/>
              </a:spcAft>
              <a:buSzPts val="1400"/>
              <a:buChar char="○"/>
            </a:pPr>
            <a:r>
              <a:rPr lang="en"/>
              <a:t>Just select the action that will </a:t>
            </a:r>
            <a:r>
              <a:rPr lang="en"/>
              <a:t>result in that optimal utility</a:t>
            </a:r>
            <a:endParaRPr/>
          </a:p>
          <a:p>
            <a:pPr indent="-342900" lvl="0" marL="457200" rtl="0" algn="l">
              <a:spcBef>
                <a:spcPts val="0"/>
              </a:spcBef>
              <a:spcAft>
                <a:spcPts val="0"/>
              </a:spcAft>
              <a:buSzPts val="1800"/>
              <a:buChar char="●"/>
            </a:pPr>
            <a:r>
              <a:rPr lang="en"/>
              <a:t>Let’s assume that we know the optimal expected utility</a:t>
            </a:r>
            <a:endParaRPr/>
          </a:p>
          <a:p>
            <a:pPr indent="-342900" lvl="0" marL="457200" rtl="0" algn="l">
              <a:spcBef>
                <a:spcPts val="0"/>
              </a:spcBef>
              <a:spcAft>
                <a:spcPts val="0"/>
              </a:spcAft>
              <a:buSzPts val="1800"/>
              <a:buChar char="●"/>
            </a:pPr>
            <a:r>
              <a:rPr lang="en"/>
              <a:t>Using this assumption, what would be the expected utility of an action a in state s?</a:t>
            </a:r>
            <a:endParaRPr/>
          </a:p>
        </p:txBody>
      </p:sp>
      <p:pic>
        <p:nvPicPr>
          <p:cNvPr id="149" name="Google Shape;149;p25"/>
          <p:cNvPicPr preferRelativeResize="0"/>
          <p:nvPr/>
        </p:nvPicPr>
        <p:blipFill rotWithShape="1">
          <a:blip r:embed="rId3">
            <a:alphaModFix/>
          </a:blip>
          <a:srcRect b="8382" l="0" r="0" t="22851"/>
          <a:stretch/>
        </p:blipFill>
        <p:spPr>
          <a:xfrm>
            <a:off x="7489275" y="628438"/>
            <a:ext cx="1143000" cy="524025"/>
          </a:xfrm>
          <a:prstGeom prst="rect">
            <a:avLst/>
          </a:prstGeom>
          <a:noFill/>
          <a:ln>
            <a:noFill/>
          </a:ln>
        </p:spPr>
      </p:pic>
      <p:pic>
        <p:nvPicPr>
          <p:cNvPr id="150" name="Google Shape;150;p25"/>
          <p:cNvPicPr preferRelativeResize="0"/>
          <p:nvPr/>
        </p:nvPicPr>
        <p:blipFill>
          <a:blip r:embed="rId4">
            <a:alphaModFix/>
          </a:blip>
          <a:stretch>
            <a:fillRect/>
          </a:stretch>
        </p:blipFill>
        <p:spPr>
          <a:xfrm>
            <a:off x="2667000" y="2970075"/>
            <a:ext cx="3810000" cy="140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Optimal Expected Utility of an Action</a:t>
            </a:r>
            <a:endParaRPr/>
          </a:p>
        </p:txBody>
      </p:sp>
      <p:pic>
        <p:nvPicPr>
          <p:cNvPr id="156" name="Google Shape;156;p26"/>
          <p:cNvPicPr preferRelativeResize="0"/>
          <p:nvPr/>
        </p:nvPicPr>
        <p:blipFill>
          <a:blip r:embed="rId3">
            <a:alphaModFix/>
          </a:blip>
          <a:stretch>
            <a:fillRect/>
          </a:stretch>
        </p:blipFill>
        <p:spPr>
          <a:xfrm>
            <a:off x="2667000" y="1935850"/>
            <a:ext cx="3810000" cy="1409700"/>
          </a:xfrm>
          <a:prstGeom prst="rect">
            <a:avLst/>
          </a:prstGeom>
          <a:noFill/>
          <a:ln>
            <a:noFill/>
          </a:ln>
        </p:spPr>
      </p:pic>
      <p:sp>
        <p:nvSpPr>
          <p:cNvPr id="157" name="Google Shape;157;p26"/>
          <p:cNvSpPr txBox="1"/>
          <p:nvPr/>
        </p:nvSpPr>
        <p:spPr>
          <a:xfrm>
            <a:off x="311700" y="3550825"/>
            <a:ext cx="4260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Iterate over every possible state s’ we could transition to from the current state s</a:t>
            </a:r>
            <a:endParaRPr sz="1800">
              <a:solidFill>
                <a:schemeClr val="dk2"/>
              </a:solidFill>
            </a:endParaRPr>
          </a:p>
        </p:txBody>
      </p:sp>
      <p:sp>
        <p:nvSpPr>
          <p:cNvPr id="158" name="Google Shape;158;p26"/>
          <p:cNvSpPr txBox="1"/>
          <p:nvPr/>
        </p:nvSpPr>
        <p:spPr>
          <a:xfrm>
            <a:off x="2045100" y="1017713"/>
            <a:ext cx="5053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Probability of moving to state s’ from state s after choosing action a</a:t>
            </a:r>
            <a:endParaRPr sz="1800">
              <a:solidFill>
                <a:schemeClr val="dk2"/>
              </a:solidFill>
            </a:endParaRPr>
          </a:p>
        </p:txBody>
      </p:sp>
      <p:sp>
        <p:nvSpPr>
          <p:cNvPr id="159" name="Google Shape;159;p26"/>
          <p:cNvSpPr txBox="1"/>
          <p:nvPr/>
        </p:nvSpPr>
        <p:spPr>
          <a:xfrm>
            <a:off x="5426100" y="3550825"/>
            <a:ext cx="3406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Optimal expected utility we receive once in state s’ (assume we know this)</a:t>
            </a:r>
            <a:endParaRPr sz="1800">
              <a:solidFill>
                <a:schemeClr val="dk2"/>
              </a:solidFill>
            </a:endParaRPr>
          </a:p>
        </p:txBody>
      </p:sp>
      <p:sp>
        <p:nvSpPr>
          <p:cNvPr id="160" name="Google Shape;160;p26"/>
          <p:cNvSpPr/>
          <p:nvPr/>
        </p:nvSpPr>
        <p:spPr>
          <a:xfrm>
            <a:off x="2819975" y="2091825"/>
            <a:ext cx="661800" cy="1123800"/>
          </a:xfrm>
          <a:prstGeom prst="ellipse">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1" name="Google Shape;161;p26"/>
          <p:cNvCxnSpPr>
            <a:endCxn id="160" idx="4"/>
          </p:cNvCxnSpPr>
          <p:nvPr/>
        </p:nvCxnSpPr>
        <p:spPr>
          <a:xfrm flipH="1" rot="10800000">
            <a:off x="2544275" y="3215625"/>
            <a:ext cx="606600" cy="300600"/>
          </a:xfrm>
          <a:prstGeom prst="straightConnector1">
            <a:avLst/>
          </a:prstGeom>
          <a:noFill/>
          <a:ln cap="flat" cmpd="sng" w="9525">
            <a:solidFill>
              <a:srgbClr val="FF9900"/>
            </a:solidFill>
            <a:prstDash val="solid"/>
            <a:round/>
            <a:headEnd len="med" w="med" type="none"/>
            <a:tailEnd len="med" w="med" type="triangle"/>
          </a:ln>
        </p:spPr>
      </p:cxnSp>
      <p:sp>
        <p:nvSpPr>
          <p:cNvPr id="162" name="Google Shape;162;p26"/>
          <p:cNvSpPr/>
          <p:nvPr/>
        </p:nvSpPr>
        <p:spPr>
          <a:xfrm>
            <a:off x="3481775" y="2167950"/>
            <a:ext cx="1758300" cy="807600"/>
          </a:xfrm>
          <a:prstGeom prst="ellipse">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3" name="Google Shape;163;p26"/>
          <p:cNvCxnSpPr>
            <a:endCxn id="162" idx="0"/>
          </p:cNvCxnSpPr>
          <p:nvPr/>
        </p:nvCxnSpPr>
        <p:spPr>
          <a:xfrm>
            <a:off x="3978125" y="1744350"/>
            <a:ext cx="382800" cy="423600"/>
          </a:xfrm>
          <a:prstGeom prst="straightConnector1">
            <a:avLst/>
          </a:prstGeom>
          <a:noFill/>
          <a:ln cap="flat" cmpd="sng" w="9525">
            <a:solidFill>
              <a:srgbClr val="FF9900"/>
            </a:solidFill>
            <a:prstDash val="solid"/>
            <a:round/>
            <a:headEnd len="med" w="med" type="none"/>
            <a:tailEnd len="med" w="med" type="triangle"/>
          </a:ln>
        </p:spPr>
      </p:cxnSp>
      <p:sp>
        <p:nvSpPr>
          <p:cNvPr id="164" name="Google Shape;164;p26"/>
          <p:cNvSpPr/>
          <p:nvPr/>
        </p:nvSpPr>
        <p:spPr>
          <a:xfrm>
            <a:off x="5192400" y="2167950"/>
            <a:ext cx="1157700" cy="807600"/>
          </a:xfrm>
          <a:prstGeom prst="ellipse">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5" name="Google Shape;165;p26"/>
          <p:cNvCxnSpPr>
            <a:endCxn id="164" idx="4"/>
          </p:cNvCxnSpPr>
          <p:nvPr/>
        </p:nvCxnSpPr>
        <p:spPr>
          <a:xfrm rot="10800000">
            <a:off x="5771250" y="2975550"/>
            <a:ext cx="854700" cy="5820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Optimal Policy</a:t>
            </a:r>
            <a:endParaRPr/>
          </a:p>
        </p:txBody>
      </p:sp>
      <p:pic>
        <p:nvPicPr>
          <p:cNvPr id="171" name="Google Shape;171;p27"/>
          <p:cNvPicPr preferRelativeResize="0"/>
          <p:nvPr/>
        </p:nvPicPr>
        <p:blipFill>
          <a:blip r:embed="rId3">
            <a:alphaModFix/>
          </a:blip>
          <a:stretch>
            <a:fillRect/>
          </a:stretch>
        </p:blipFill>
        <p:spPr>
          <a:xfrm>
            <a:off x="1162050" y="1771650"/>
            <a:ext cx="6819900" cy="1600200"/>
          </a:xfrm>
          <a:prstGeom prst="rect">
            <a:avLst/>
          </a:prstGeom>
          <a:noFill/>
          <a:ln>
            <a:noFill/>
          </a:ln>
        </p:spPr>
      </p:pic>
      <p:sp>
        <p:nvSpPr>
          <p:cNvPr id="172" name="Google Shape;172;p27"/>
          <p:cNvSpPr/>
          <p:nvPr/>
        </p:nvSpPr>
        <p:spPr>
          <a:xfrm>
            <a:off x="2764800" y="2091825"/>
            <a:ext cx="1558200" cy="962400"/>
          </a:xfrm>
          <a:prstGeom prst="ellipse">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7"/>
          <p:cNvSpPr/>
          <p:nvPr/>
        </p:nvSpPr>
        <p:spPr>
          <a:xfrm>
            <a:off x="4280250" y="1858200"/>
            <a:ext cx="3483300" cy="1427100"/>
          </a:xfrm>
          <a:prstGeom prst="ellipse">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7"/>
          <p:cNvSpPr txBox="1"/>
          <p:nvPr/>
        </p:nvSpPr>
        <p:spPr>
          <a:xfrm>
            <a:off x="3626700" y="948775"/>
            <a:ext cx="5205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Equation we just saw (optimal expected utility of an action)</a:t>
            </a:r>
            <a:endParaRPr sz="1800">
              <a:solidFill>
                <a:schemeClr val="dk2"/>
              </a:solidFill>
            </a:endParaRPr>
          </a:p>
        </p:txBody>
      </p:sp>
      <p:sp>
        <p:nvSpPr>
          <p:cNvPr id="175" name="Google Shape;175;p27"/>
          <p:cNvSpPr txBox="1"/>
          <p:nvPr/>
        </p:nvSpPr>
        <p:spPr>
          <a:xfrm>
            <a:off x="311700" y="3674900"/>
            <a:ext cx="619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Iterate through every possible action, choose the best one</a:t>
            </a:r>
            <a:endParaRPr sz="1800">
              <a:solidFill>
                <a:schemeClr val="dk2"/>
              </a:solidFill>
            </a:endParaRPr>
          </a:p>
        </p:txBody>
      </p:sp>
      <p:cxnSp>
        <p:nvCxnSpPr>
          <p:cNvPr id="176" name="Google Shape;176;p27"/>
          <p:cNvCxnSpPr>
            <a:endCxn id="172" idx="4"/>
          </p:cNvCxnSpPr>
          <p:nvPr/>
        </p:nvCxnSpPr>
        <p:spPr>
          <a:xfrm flipH="1" rot="10800000">
            <a:off x="2909700" y="3054225"/>
            <a:ext cx="634200" cy="606900"/>
          </a:xfrm>
          <a:prstGeom prst="straightConnector1">
            <a:avLst/>
          </a:prstGeom>
          <a:noFill/>
          <a:ln cap="flat" cmpd="sng" w="9525">
            <a:solidFill>
              <a:schemeClr val="accent4"/>
            </a:solidFill>
            <a:prstDash val="solid"/>
            <a:round/>
            <a:headEnd len="med" w="med" type="none"/>
            <a:tailEnd len="med" w="med" type="triangle"/>
          </a:ln>
        </p:spPr>
      </p:cxnSp>
      <p:cxnSp>
        <p:nvCxnSpPr>
          <p:cNvPr id="177" name="Google Shape;177;p27"/>
          <p:cNvCxnSpPr>
            <a:endCxn id="173" idx="0"/>
          </p:cNvCxnSpPr>
          <p:nvPr/>
        </p:nvCxnSpPr>
        <p:spPr>
          <a:xfrm flipH="1">
            <a:off x="6021900" y="1499700"/>
            <a:ext cx="92700" cy="358500"/>
          </a:xfrm>
          <a:prstGeom prst="straightConnector1">
            <a:avLst/>
          </a:prstGeom>
          <a:noFill/>
          <a:ln cap="flat" cmpd="sng" w="9525">
            <a:solidFill>
              <a:schemeClr val="accent4"/>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Optimal Policy</a:t>
            </a:r>
            <a:endParaRPr/>
          </a:p>
        </p:txBody>
      </p:sp>
      <p:sp>
        <p:nvSpPr>
          <p:cNvPr id="183" name="Google Shape;18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is good and all, but there’s still a missing piece:</a:t>
            </a:r>
            <a:endParaRPr/>
          </a:p>
          <a:p>
            <a:pPr indent="-317500" lvl="1" marL="914400" rtl="0" algn="l">
              <a:spcBef>
                <a:spcPts val="0"/>
              </a:spcBef>
              <a:spcAft>
                <a:spcPts val="0"/>
              </a:spcAft>
              <a:buSzPts val="1400"/>
              <a:buChar char="○"/>
            </a:pPr>
            <a:r>
              <a:rPr lang="en"/>
              <a:t>We made the assumption that we already know the optimal expected utility</a:t>
            </a:r>
            <a:endParaRPr/>
          </a:p>
          <a:p>
            <a:pPr indent="-342900" lvl="0" marL="457200" rtl="0" algn="l">
              <a:spcBef>
                <a:spcPts val="0"/>
              </a:spcBef>
              <a:spcAft>
                <a:spcPts val="0"/>
              </a:spcAft>
              <a:buSzPts val="1800"/>
              <a:buChar char="●"/>
            </a:pPr>
            <a:r>
              <a:rPr lang="en"/>
              <a:t>How do we calculate the optimal expected utility?</a:t>
            </a:r>
            <a:endParaRPr/>
          </a:p>
          <a:p>
            <a:pPr indent="-342900" lvl="0" marL="457200" rtl="0" algn="l">
              <a:spcBef>
                <a:spcPts val="0"/>
              </a:spcBef>
              <a:spcAft>
                <a:spcPts val="0"/>
              </a:spcAft>
              <a:buSzPts val="1800"/>
              <a:buChar char="●"/>
            </a:pPr>
            <a:r>
              <a:rPr lang="en"/>
              <a:t>What does the optimal utility of a state s depend on?</a:t>
            </a:r>
            <a:endParaRPr/>
          </a:p>
          <a:p>
            <a:pPr indent="-317500" lvl="1" marL="914400" rtl="0" algn="l">
              <a:spcBef>
                <a:spcPts val="0"/>
              </a:spcBef>
              <a:spcAft>
                <a:spcPts val="0"/>
              </a:spcAft>
              <a:buSzPts val="1400"/>
              <a:buChar char="○"/>
            </a:pPr>
            <a:r>
              <a:rPr lang="en"/>
              <a:t>The reward for being in state s: R(s)</a:t>
            </a:r>
            <a:endParaRPr/>
          </a:p>
          <a:p>
            <a:pPr indent="-317500" lvl="1" marL="914400" rtl="0" algn="l">
              <a:spcBef>
                <a:spcPts val="0"/>
              </a:spcBef>
              <a:spcAft>
                <a:spcPts val="0"/>
              </a:spcAft>
              <a:buSzPts val="1400"/>
              <a:buChar char="○"/>
            </a:pPr>
            <a:r>
              <a:rPr lang="en"/>
              <a:t>The discounted expected utility of the next state:</a:t>
            </a:r>
            <a:endParaRPr/>
          </a:p>
        </p:txBody>
      </p:sp>
      <p:pic>
        <p:nvPicPr>
          <p:cNvPr id="184" name="Google Shape;184;p28"/>
          <p:cNvPicPr preferRelativeResize="0"/>
          <p:nvPr/>
        </p:nvPicPr>
        <p:blipFill>
          <a:blip r:embed="rId3">
            <a:alphaModFix/>
          </a:blip>
          <a:stretch>
            <a:fillRect/>
          </a:stretch>
        </p:blipFill>
        <p:spPr>
          <a:xfrm>
            <a:off x="5757949" y="466075"/>
            <a:ext cx="2925329" cy="686400"/>
          </a:xfrm>
          <a:prstGeom prst="rect">
            <a:avLst/>
          </a:prstGeom>
          <a:noFill/>
          <a:ln>
            <a:noFill/>
          </a:ln>
        </p:spPr>
      </p:pic>
      <p:pic>
        <p:nvPicPr>
          <p:cNvPr id="185" name="Google Shape;185;p28"/>
          <p:cNvPicPr preferRelativeResize="0"/>
          <p:nvPr/>
        </p:nvPicPr>
        <p:blipFill>
          <a:blip r:embed="rId4">
            <a:alphaModFix/>
          </a:blip>
          <a:stretch>
            <a:fillRect/>
          </a:stretch>
        </p:blipFill>
        <p:spPr>
          <a:xfrm>
            <a:off x="2171700" y="3061325"/>
            <a:ext cx="4800600" cy="1447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Bellman Equation</a:t>
            </a:r>
            <a:endParaRPr/>
          </a:p>
        </p:txBody>
      </p:sp>
      <p:sp>
        <p:nvSpPr>
          <p:cNvPr id="191" name="Google Shape;19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we put these two pieces together, we get the Bellman equation (equation you should remember and be sure to understand):</a:t>
            </a:r>
            <a:endParaRPr/>
          </a:p>
        </p:txBody>
      </p:sp>
      <p:pic>
        <p:nvPicPr>
          <p:cNvPr id="192" name="Google Shape;192;p29"/>
          <p:cNvPicPr preferRelativeResize="0"/>
          <p:nvPr/>
        </p:nvPicPr>
        <p:blipFill>
          <a:blip r:embed="rId3">
            <a:alphaModFix/>
          </a:blip>
          <a:stretch>
            <a:fillRect/>
          </a:stretch>
        </p:blipFill>
        <p:spPr>
          <a:xfrm>
            <a:off x="679550" y="2211275"/>
            <a:ext cx="7867650" cy="1562100"/>
          </a:xfrm>
          <a:prstGeom prst="rect">
            <a:avLst/>
          </a:prstGeom>
          <a:noFill/>
          <a:ln>
            <a:noFill/>
          </a:ln>
        </p:spPr>
      </p:pic>
      <p:sp>
        <p:nvSpPr>
          <p:cNvPr id="193" name="Google Shape;193;p29"/>
          <p:cNvSpPr/>
          <p:nvPr/>
        </p:nvSpPr>
        <p:spPr>
          <a:xfrm>
            <a:off x="2330450" y="2571750"/>
            <a:ext cx="903300" cy="6618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9"/>
          <p:cNvSpPr/>
          <p:nvPr/>
        </p:nvSpPr>
        <p:spPr>
          <a:xfrm>
            <a:off x="3586000" y="2426950"/>
            <a:ext cx="4818600" cy="11445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9"/>
          <p:cNvSpPr txBox="1"/>
          <p:nvPr/>
        </p:nvSpPr>
        <p:spPr>
          <a:xfrm>
            <a:off x="311700" y="3985175"/>
            <a:ext cx="3971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First, we get an immediate reward for entering state s</a:t>
            </a:r>
            <a:endParaRPr sz="1800">
              <a:solidFill>
                <a:schemeClr val="dk2"/>
              </a:solidFill>
            </a:endParaRPr>
          </a:p>
        </p:txBody>
      </p:sp>
      <p:sp>
        <p:nvSpPr>
          <p:cNvPr id="196" name="Google Shape;196;p29"/>
          <p:cNvSpPr txBox="1"/>
          <p:nvPr/>
        </p:nvSpPr>
        <p:spPr>
          <a:xfrm>
            <a:off x="4929750" y="3985175"/>
            <a:ext cx="3902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Then, we get a discounted future reward by choosing optimal actions in any future states</a:t>
            </a:r>
            <a:endParaRPr sz="1800">
              <a:solidFill>
                <a:schemeClr val="dk2"/>
              </a:solidFill>
            </a:endParaRPr>
          </a:p>
        </p:txBody>
      </p:sp>
      <p:cxnSp>
        <p:nvCxnSpPr>
          <p:cNvPr id="197" name="Google Shape;197;p29"/>
          <p:cNvCxnSpPr>
            <a:endCxn id="193" idx="4"/>
          </p:cNvCxnSpPr>
          <p:nvPr/>
        </p:nvCxnSpPr>
        <p:spPr>
          <a:xfrm flipH="1" rot="10800000">
            <a:off x="2254700" y="3233550"/>
            <a:ext cx="527400" cy="765300"/>
          </a:xfrm>
          <a:prstGeom prst="straightConnector1">
            <a:avLst/>
          </a:prstGeom>
          <a:noFill/>
          <a:ln cap="flat" cmpd="sng" w="9525">
            <a:solidFill>
              <a:schemeClr val="accent4"/>
            </a:solidFill>
            <a:prstDash val="solid"/>
            <a:round/>
            <a:headEnd len="med" w="med" type="none"/>
            <a:tailEnd len="med" w="med" type="triangle"/>
          </a:ln>
        </p:spPr>
      </p:cxnSp>
      <p:cxnSp>
        <p:nvCxnSpPr>
          <p:cNvPr id="198" name="Google Shape;198;p29"/>
          <p:cNvCxnSpPr>
            <a:endCxn id="194" idx="4"/>
          </p:cNvCxnSpPr>
          <p:nvPr/>
        </p:nvCxnSpPr>
        <p:spPr>
          <a:xfrm rot="10800000">
            <a:off x="5995300" y="3571450"/>
            <a:ext cx="203100" cy="434400"/>
          </a:xfrm>
          <a:prstGeom prst="straightConnector1">
            <a:avLst/>
          </a:prstGeom>
          <a:noFill/>
          <a:ln cap="flat" cmpd="sng" w="9525">
            <a:solidFill>
              <a:schemeClr val="accent4"/>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Bellman Equation</a:t>
            </a:r>
            <a:endParaRPr/>
          </a:p>
        </p:txBody>
      </p:sp>
      <p:sp>
        <p:nvSpPr>
          <p:cNvPr id="204" name="Google Shape;20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Is there anything in particular you notice about this equation?</a:t>
            </a:r>
            <a:endParaRPr/>
          </a:p>
          <a:p>
            <a:pPr indent="-317500" lvl="1" marL="914400" rtl="0" algn="l">
              <a:spcBef>
                <a:spcPts val="0"/>
              </a:spcBef>
              <a:spcAft>
                <a:spcPts val="0"/>
              </a:spcAft>
              <a:buSzPts val="1400"/>
              <a:buChar char="○"/>
            </a:pPr>
            <a:r>
              <a:rPr lang="en"/>
              <a:t>Hint: it’s something you probably discussed in CS 312</a:t>
            </a:r>
            <a:endParaRPr/>
          </a:p>
          <a:p>
            <a:pPr indent="-317500" lvl="1" marL="914400" rtl="0" algn="l">
              <a:spcBef>
                <a:spcPts val="0"/>
              </a:spcBef>
              <a:spcAft>
                <a:spcPts val="0"/>
              </a:spcAft>
              <a:buSzPts val="1400"/>
              <a:buChar char="○"/>
            </a:pPr>
            <a:r>
              <a:rPr lang="en"/>
              <a:t>Recursive -&gt; dynamic programming (start in the final state, work your way backwards)</a:t>
            </a:r>
            <a:endParaRPr/>
          </a:p>
        </p:txBody>
      </p:sp>
      <p:pic>
        <p:nvPicPr>
          <p:cNvPr id="205" name="Google Shape;205;p30"/>
          <p:cNvPicPr preferRelativeResize="0"/>
          <p:nvPr/>
        </p:nvPicPr>
        <p:blipFill>
          <a:blip r:embed="rId3">
            <a:alphaModFix/>
          </a:blip>
          <a:stretch>
            <a:fillRect/>
          </a:stretch>
        </p:blipFill>
        <p:spPr>
          <a:xfrm>
            <a:off x="679550" y="2211275"/>
            <a:ext cx="7867650" cy="156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Bellman Equation</a:t>
            </a:r>
            <a:endParaRPr/>
          </a:p>
        </p:txBody>
      </p:sp>
      <p:sp>
        <p:nvSpPr>
          <p:cNvPr id="211" name="Google Shape;21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do we get the optimal policy out of this?</a:t>
            </a:r>
            <a:endParaRPr/>
          </a:p>
          <a:p>
            <a:pPr indent="-317500" lvl="1" marL="914400" rtl="0" algn="l">
              <a:spcBef>
                <a:spcPts val="0"/>
              </a:spcBef>
              <a:spcAft>
                <a:spcPts val="0"/>
              </a:spcAft>
              <a:buSzPts val="1400"/>
              <a:buChar char="○"/>
            </a:pPr>
            <a:r>
              <a:rPr lang="en"/>
              <a:t>Just keep track of the actions that resulted in the maximum discounted future reward (add an “arg” to the “max”) </a:t>
            </a:r>
            <a:endParaRPr/>
          </a:p>
        </p:txBody>
      </p:sp>
      <p:pic>
        <p:nvPicPr>
          <p:cNvPr id="212" name="Google Shape;212;p31"/>
          <p:cNvPicPr preferRelativeResize="0"/>
          <p:nvPr/>
        </p:nvPicPr>
        <p:blipFill>
          <a:blip r:embed="rId3">
            <a:alphaModFix/>
          </a:blip>
          <a:stretch>
            <a:fillRect/>
          </a:stretch>
        </p:blipFill>
        <p:spPr>
          <a:xfrm>
            <a:off x="679550" y="2211275"/>
            <a:ext cx="7867650" cy="156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Bellman Equation</a:t>
            </a:r>
            <a:endParaRPr/>
          </a:p>
        </p:txBody>
      </p:sp>
      <p:sp>
        <p:nvSpPr>
          <p:cNvPr id="218" name="Google Shape;21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One important assumption about the Bellman equation:</a:t>
            </a:r>
            <a:endParaRPr/>
          </a:p>
          <a:p>
            <a:pPr indent="-317500" lvl="1" marL="914400" rtl="0" algn="l">
              <a:spcBef>
                <a:spcPts val="0"/>
              </a:spcBef>
              <a:spcAft>
                <a:spcPts val="0"/>
              </a:spcAft>
              <a:buSzPts val="1400"/>
              <a:buChar char="○"/>
            </a:pPr>
            <a:r>
              <a:rPr lang="en"/>
              <a:t>The agent will act optimally in the future</a:t>
            </a:r>
            <a:endParaRPr/>
          </a:p>
        </p:txBody>
      </p:sp>
      <p:pic>
        <p:nvPicPr>
          <p:cNvPr id="219" name="Google Shape;219;p32"/>
          <p:cNvPicPr preferRelativeResize="0"/>
          <p:nvPr/>
        </p:nvPicPr>
        <p:blipFill>
          <a:blip r:embed="rId3">
            <a:alphaModFix/>
          </a:blip>
          <a:stretch>
            <a:fillRect/>
          </a:stretch>
        </p:blipFill>
        <p:spPr>
          <a:xfrm>
            <a:off x="679550" y="2211275"/>
            <a:ext cx="7867650" cy="156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pic>
        <p:nvPicPr>
          <p:cNvPr id="225" name="Google Shape;225;p33"/>
          <p:cNvPicPr preferRelativeResize="0"/>
          <p:nvPr/>
        </p:nvPicPr>
        <p:blipFill>
          <a:blip r:embed="rId3">
            <a:alphaModFix/>
          </a:blip>
          <a:stretch>
            <a:fillRect/>
          </a:stretch>
        </p:blipFill>
        <p:spPr>
          <a:xfrm>
            <a:off x="3143013" y="1017725"/>
            <a:ext cx="2857975" cy="2284675"/>
          </a:xfrm>
          <a:prstGeom prst="rect">
            <a:avLst/>
          </a:prstGeom>
          <a:noFill/>
          <a:ln>
            <a:noFill/>
          </a:ln>
        </p:spPr>
      </p:pic>
      <p:pic>
        <p:nvPicPr>
          <p:cNvPr id="226" name="Google Shape;226;p33"/>
          <p:cNvPicPr preferRelativeResize="0"/>
          <p:nvPr/>
        </p:nvPicPr>
        <p:blipFill>
          <a:blip r:embed="rId4">
            <a:alphaModFix/>
          </a:blip>
          <a:stretch>
            <a:fillRect/>
          </a:stretch>
        </p:blipFill>
        <p:spPr>
          <a:xfrm>
            <a:off x="5570975" y="243100"/>
            <a:ext cx="3369225" cy="668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pic>
        <p:nvPicPr>
          <p:cNvPr id="232" name="Google Shape;232;p34"/>
          <p:cNvPicPr preferRelativeResize="0"/>
          <p:nvPr/>
        </p:nvPicPr>
        <p:blipFill>
          <a:blip r:embed="rId3">
            <a:alphaModFix/>
          </a:blip>
          <a:stretch>
            <a:fillRect/>
          </a:stretch>
        </p:blipFill>
        <p:spPr>
          <a:xfrm>
            <a:off x="3143013" y="1017725"/>
            <a:ext cx="2857975" cy="2284675"/>
          </a:xfrm>
          <a:prstGeom prst="rect">
            <a:avLst/>
          </a:prstGeom>
          <a:noFill/>
          <a:ln>
            <a:noFill/>
          </a:ln>
        </p:spPr>
      </p:pic>
      <p:pic>
        <p:nvPicPr>
          <p:cNvPr id="233" name="Google Shape;233;p34"/>
          <p:cNvPicPr preferRelativeResize="0"/>
          <p:nvPr/>
        </p:nvPicPr>
        <p:blipFill>
          <a:blip r:embed="rId4">
            <a:alphaModFix/>
          </a:blip>
          <a:stretch>
            <a:fillRect/>
          </a:stretch>
        </p:blipFill>
        <p:spPr>
          <a:xfrm>
            <a:off x="1189263" y="3302400"/>
            <a:ext cx="6765467" cy="1635875"/>
          </a:xfrm>
          <a:prstGeom prst="rect">
            <a:avLst/>
          </a:prstGeom>
          <a:noFill/>
          <a:ln>
            <a:noFill/>
          </a:ln>
        </p:spPr>
      </p:pic>
      <p:pic>
        <p:nvPicPr>
          <p:cNvPr id="234" name="Google Shape;234;p34"/>
          <p:cNvPicPr preferRelativeResize="0"/>
          <p:nvPr/>
        </p:nvPicPr>
        <p:blipFill>
          <a:blip r:embed="rId5">
            <a:alphaModFix/>
          </a:blip>
          <a:stretch>
            <a:fillRect/>
          </a:stretch>
        </p:blipFill>
        <p:spPr>
          <a:xfrm>
            <a:off x="5570975" y="243100"/>
            <a:ext cx="3369225" cy="668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pic>
        <p:nvPicPr>
          <p:cNvPr id="240" name="Google Shape;240;p35"/>
          <p:cNvPicPr preferRelativeResize="0"/>
          <p:nvPr/>
        </p:nvPicPr>
        <p:blipFill>
          <a:blip r:embed="rId3">
            <a:alphaModFix/>
          </a:blip>
          <a:stretch>
            <a:fillRect/>
          </a:stretch>
        </p:blipFill>
        <p:spPr>
          <a:xfrm>
            <a:off x="3143013" y="1017725"/>
            <a:ext cx="2857975" cy="2284675"/>
          </a:xfrm>
          <a:prstGeom prst="rect">
            <a:avLst/>
          </a:prstGeom>
          <a:noFill/>
          <a:ln>
            <a:noFill/>
          </a:ln>
        </p:spPr>
      </p:pic>
      <p:pic>
        <p:nvPicPr>
          <p:cNvPr id="241" name="Google Shape;241;p35"/>
          <p:cNvPicPr preferRelativeResize="0"/>
          <p:nvPr/>
        </p:nvPicPr>
        <p:blipFill>
          <a:blip r:embed="rId4">
            <a:alphaModFix/>
          </a:blip>
          <a:stretch>
            <a:fillRect/>
          </a:stretch>
        </p:blipFill>
        <p:spPr>
          <a:xfrm>
            <a:off x="1326250" y="3302400"/>
            <a:ext cx="6491500" cy="1701775"/>
          </a:xfrm>
          <a:prstGeom prst="rect">
            <a:avLst/>
          </a:prstGeom>
          <a:noFill/>
          <a:ln>
            <a:noFill/>
          </a:ln>
        </p:spPr>
      </p:pic>
      <p:pic>
        <p:nvPicPr>
          <p:cNvPr id="242" name="Google Shape;242;p35"/>
          <p:cNvPicPr preferRelativeResize="0"/>
          <p:nvPr/>
        </p:nvPicPr>
        <p:blipFill>
          <a:blip r:embed="rId5">
            <a:alphaModFix/>
          </a:blip>
          <a:stretch>
            <a:fillRect/>
          </a:stretch>
        </p:blipFill>
        <p:spPr>
          <a:xfrm>
            <a:off x="5570975" y="243100"/>
            <a:ext cx="3369225" cy="668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pic>
        <p:nvPicPr>
          <p:cNvPr id="248" name="Google Shape;248;p36"/>
          <p:cNvPicPr preferRelativeResize="0"/>
          <p:nvPr/>
        </p:nvPicPr>
        <p:blipFill>
          <a:blip r:embed="rId3">
            <a:alphaModFix/>
          </a:blip>
          <a:stretch>
            <a:fillRect/>
          </a:stretch>
        </p:blipFill>
        <p:spPr>
          <a:xfrm>
            <a:off x="3143013" y="1017725"/>
            <a:ext cx="2857975" cy="2284675"/>
          </a:xfrm>
          <a:prstGeom prst="rect">
            <a:avLst/>
          </a:prstGeom>
          <a:noFill/>
          <a:ln>
            <a:noFill/>
          </a:ln>
        </p:spPr>
      </p:pic>
      <p:pic>
        <p:nvPicPr>
          <p:cNvPr id="249" name="Google Shape;249;p36"/>
          <p:cNvPicPr preferRelativeResize="0"/>
          <p:nvPr/>
        </p:nvPicPr>
        <p:blipFill>
          <a:blip r:embed="rId4">
            <a:alphaModFix/>
          </a:blip>
          <a:stretch>
            <a:fillRect/>
          </a:stretch>
        </p:blipFill>
        <p:spPr>
          <a:xfrm>
            <a:off x="5570975" y="243100"/>
            <a:ext cx="3369225" cy="668950"/>
          </a:xfrm>
          <a:prstGeom prst="rect">
            <a:avLst/>
          </a:prstGeom>
          <a:noFill/>
          <a:ln>
            <a:noFill/>
          </a:ln>
        </p:spPr>
      </p:pic>
      <p:sp>
        <p:nvSpPr>
          <p:cNvPr id="250" name="Google Shape;250;p36"/>
          <p:cNvSpPr txBox="1"/>
          <p:nvPr/>
        </p:nvSpPr>
        <p:spPr>
          <a:xfrm>
            <a:off x="311700" y="3599075"/>
            <a:ext cx="8628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Notice that each equation is a function of the utility of other states (due to the recursive nature of the Bellman equation)</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Solving the Bellman Equation</a:t>
            </a:r>
            <a:endParaRPr/>
          </a:p>
        </p:txBody>
      </p:sp>
      <p:sp>
        <p:nvSpPr>
          <p:cNvPr id="256" name="Google Shape;25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Due to its recursive nature, how do we actually solve the Bellman equation?</a:t>
            </a:r>
            <a:endParaRPr/>
          </a:p>
          <a:p>
            <a:pPr indent="-317500" lvl="1" marL="914400" rtl="0" algn="l">
              <a:spcBef>
                <a:spcPts val="0"/>
              </a:spcBef>
              <a:spcAft>
                <a:spcPts val="0"/>
              </a:spcAft>
              <a:buSzPts val="1400"/>
              <a:buChar char="○"/>
            </a:pPr>
            <a:r>
              <a:rPr lang="en"/>
              <a:t>System of equations?</a:t>
            </a:r>
            <a:endParaRPr/>
          </a:p>
          <a:p>
            <a:pPr indent="-317500" lvl="2" marL="1371600" rtl="0" algn="l">
              <a:spcBef>
                <a:spcPts val="0"/>
              </a:spcBef>
              <a:spcAft>
                <a:spcPts val="0"/>
              </a:spcAft>
              <a:buSzPts val="1400"/>
              <a:buChar char="■"/>
            </a:pPr>
            <a:r>
              <a:rPr lang="en"/>
              <a:t>Unfortunately no, because the max operator is not linear</a:t>
            </a:r>
            <a:endParaRPr/>
          </a:p>
          <a:p>
            <a:pPr indent="-342900" lvl="0" marL="457200" rtl="0" algn="l">
              <a:spcBef>
                <a:spcPts val="0"/>
              </a:spcBef>
              <a:spcAft>
                <a:spcPts val="0"/>
              </a:spcAft>
              <a:buSzPts val="1800"/>
              <a:buChar char="●"/>
            </a:pPr>
            <a:r>
              <a:rPr lang="en"/>
              <a:t>One approach we mentioned:</a:t>
            </a:r>
            <a:endParaRPr/>
          </a:p>
          <a:p>
            <a:pPr indent="-317500" lvl="1" marL="914400" rtl="0" algn="l">
              <a:spcBef>
                <a:spcPts val="0"/>
              </a:spcBef>
              <a:spcAft>
                <a:spcPts val="0"/>
              </a:spcAft>
              <a:buSzPts val="1400"/>
              <a:buChar char="○"/>
            </a:pPr>
            <a:r>
              <a:rPr lang="en"/>
              <a:t>Start in the final states, work backwards (dynamic programming)</a:t>
            </a:r>
            <a:endParaRPr/>
          </a:p>
          <a:p>
            <a:pPr indent="-317500" lvl="1" marL="914400" rtl="0" algn="l">
              <a:spcBef>
                <a:spcPts val="0"/>
              </a:spcBef>
              <a:spcAft>
                <a:spcPts val="0"/>
              </a:spcAft>
              <a:buSzPts val="1400"/>
              <a:buChar char="○"/>
            </a:pPr>
            <a:r>
              <a:rPr lang="en"/>
              <a:t>Are there any problems with this?</a:t>
            </a:r>
            <a:endParaRPr/>
          </a:p>
          <a:p>
            <a:pPr indent="-317500" lvl="2" marL="1371600" rtl="0" algn="l">
              <a:spcBef>
                <a:spcPts val="0"/>
              </a:spcBef>
              <a:spcAft>
                <a:spcPts val="0"/>
              </a:spcAft>
              <a:buSzPts val="1400"/>
              <a:buChar char="■"/>
            </a:pPr>
            <a:r>
              <a:rPr lang="en"/>
              <a:t>Probabilistic nature can still make the equation very difficult to work with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Iterative Solution</a:t>
            </a:r>
            <a:endParaRPr/>
          </a:p>
        </p:txBody>
      </p:sp>
      <p:sp>
        <p:nvSpPr>
          <p:cNvPr id="262" name="Google Shape;26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We’ll use an iterative approach to solving the Bellman equation</a:t>
            </a:r>
            <a:endParaRPr/>
          </a:p>
          <a:p>
            <a:pPr indent="-342900" lvl="0" marL="457200" rtl="0" algn="l">
              <a:spcBef>
                <a:spcPts val="0"/>
              </a:spcBef>
              <a:spcAft>
                <a:spcPts val="0"/>
              </a:spcAft>
              <a:buSzPts val="1800"/>
              <a:buChar char="●"/>
            </a:pPr>
            <a:r>
              <a:rPr lang="en"/>
              <a:t>Basic idea:</a:t>
            </a:r>
            <a:endParaRPr/>
          </a:p>
          <a:p>
            <a:pPr indent="-317500" lvl="1" marL="914400" rtl="0" algn="l">
              <a:spcBef>
                <a:spcPts val="0"/>
              </a:spcBef>
              <a:spcAft>
                <a:spcPts val="0"/>
              </a:spcAft>
              <a:buSzPts val="1400"/>
              <a:buChar char="○"/>
            </a:pPr>
            <a:r>
              <a:rPr lang="en"/>
              <a:t>Repeatedly update the value for each state until the values converge</a:t>
            </a:r>
            <a:endParaRPr/>
          </a:p>
          <a:p>
            <a:pPr indent="-317500" lvl="2" marL="1371600" rtl="0" algn="l">
              <a:spcBef>
                <a:spcPts val="0"/>
              </a:spcBef>
              <a:spcAft>
                <a:spcPts val="0"/>
              </a:spcAft>
              <a:buSzPts val="1400"/>
              <a:buChar char="■"/>
            </a:pPr>
            <a:r>
              <a:rPr lang="en"/>
              <a:t>When we say “converge”, we mean that when the values of the states only change by some very small amount</a:t>
            </a:r>
            <a:endParaRPr/>
          </a:p>
          <a:p>
            <a:pPr indent="-317500" lvl="1" marL="914400" rtl="0" algn="l">
              <a:spcBef>
                <a:spcPts val="0"/>
              </a:spcBef>
              <a:spcAft>
                <a:spcPts val="0"/>
              </a:spcAft>
              <a:buSzPts val="1400"/>
              <a:buChar char="○"/>
            </a:pPr>
            <a:r>
              <a:rPr lang="en"/>
              <a:t>“Iterative” because we are repeatedly updating values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Value Iteration</a:t>
            </a:r>
            <a:endParaRPr/>
          </a:p>
        </p:txBody>
      </p:sp>
      <p:sp>
        <p:nvSpPr>
          <p:cNvPr id="268" name="Google Shape;26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Choose some small value of epsilon (ex: 0.001)</a:t>
            </a:r>
            <a:endParaRPr/>
          </a:p>
          <a:p>
            <a:pPr indent="-342900" lvl="0" marL="457200" rtl="0" algn="l">
              <a:spcBef>
                <a:spcPts val="0"/>
              </a:spcBef>
              <a:spcAft>
                <a:spcPts val="0"/>
              </a:spcAft>
              <a:buSzPts val="1800"/>
              <a:buChar char="●"/>
            </a:pPr>
            <a:r>
              <a:rPr lang="en"/>
              <a:t>Initialize the utility U(s) </a:t>
            </a:r>
            <a:r>
              <a:rPr lang="en"/>
              <a:t>arbitrarily</a:t>
            </a:r>
            <a:r>
              <a:rPr lang="en"/>
              <a:t> (usually something like 0)</a:t>
            </a:r>
            <a:endParaRPr/>
          </a:p>
          <a:p>
            <a:pPr indent="-342900" lvl="0" marL="457200" rtl="0" algn="l">
              <a:spcBef>
                <a:spcPts val="0"/>
              </a:spcBef>
              <a:spcAft>
                <a:spcPts val="0"/>
              </a:spcAft>
              <a:buSzPts val="1800"/>
              <a:buChar char="●"/>
            </a:pPr>
            <a:r>
              <a:rPr lang="en"/>
              <a:t>While the maximum U(s) change is larger than epsilon:</a:t>
            </a:r>
            <a:endParaRPr/>
          </a:p>
          <a:p>
            <a:pPr indent="-317500" lvl="1" marL="914400" rtl="0" algn="l">
              <a:spcBef>
                <a:spcPts val="0"/>
              </a:spcBef>
              <a:spcAft>
                <a:spcPts val="0"/>
              </a:spcAft>
              <a:buSzPts val="1400"/>
              <a:buChar char="○"/>
            </a:pPr>
            <a:r>
              <a:rPr lang="en"/>
              <a:t>Update the utility values:</a:t>
            </a:r>
            <a:endParaRPr/>
          </a:p>
        </p:txBody>
      </p:sp>
      <p:pic>
        <p:nvPicPr>
          <p:cNvPr id="269" name="Google Shape;269;p39"/>
          <p:cNvPicPr preferRelativeResize="0"/>
          <p:nvPr/>
        </p:nvPicPr>
        <p:blipFill>
          <a:blip r:embed="rId3">
            <a:alphaModFix/>
          </a:blip>
          <a:stretch>
            <a:fillRect/>
          </a:stretch>
        </p:blipFill>
        <p:spPr>
          <a:xfrm>
            <a:off x="1289763" y="2529700"/>
            <a:ext cx="6564476" cy="1228900"/>
          </a:xfrm>
          <a:prstGeom prst="rect">
            <a:avLst/>
          </a:prstGeom>
          <a:noFill/>
          <a:ln>
            <a:noFill/>
          </a:ln>
        </p:spPr>
      </p:pic>
      <p:sp>
        <p:nvSpPr>
          <p:cNvPr id="270" name="Google Shape;270;p39"/>
          <p:cNvSpPr txBox="1"/>
          <p:nvPr>
            <p:ph idx="1" type="body"/>
          </p:nvPr>
        </p:nvSpPr>
        <p:spPr>
          <a:xfrm>
            <a:off x="311700" y="3288775"/>
            <a:ext cx="8520600" cy="9825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317500" lvl="1" marL="914400" rtl="0" algn="l">
              <a:spcBef>
                <a:spcPts val="1200"/>
              </a:spcBef>
              <a:spcAft>
                <a:spcPts val="0"/>
              </a:spcAft>
              <a:buSzPts val="1400"/>
              <a:buChar char="○"/>
            </a:pPr>
            <a:r>
              <a:rPr lang="en"/>
              <a:t>Update the maximum change in U(s)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276" name="Google Shape;276;p40"/>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ctr">
                        <a:spcBef>
                          <a:spcPts val="0"/>
                        </a:spcBef>
                        <a:spcAft>
                          <a:spcPts val="0"/>
                        </a:spcAft>
                        <a:buNone/>
                      </a:pPr>
                      <a:r>
                        <a:rPr lang="en"/>
                        <a:t>Salad</a:t>
                      </a:r>
                      <a:endParaRPr/>
                    </a:p>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bl>
          </a:graphicData>
        </a:graphic>
      </p:graphicFrame>
      <p:sp>
        <p:nvSpPr>
          <p:cNvPr id="277" name="Google Shape;277;p40"/>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8" name="Google Shape;278;p40"/>
          <p:cNvCxnSpPr>
            <a:stCxn id="277"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40"/>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40"/>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40"/>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40"/>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40"/>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284" name="Google Shape;284;p40"/>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40"/>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40"/>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40"/>
          <p:cNvSpPr txBox="1"/>
          <p:nvPr/>
        </p:nvSpPr>
        <p:spPr>
          <a:xfrm>
            <a:off x="2364925" y="556025"/>
            <a:ext cx="207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Let gamma = 0.99</a:t>
            </a:r>
            <a:endParaRPr sz="1800">
              <a:solidFill>
                <a:schemeClr val="dk2"/>
              </a:solidFill>
            </a:endParaRPr>
          </a:p>
        </p:txBody>
      </p:sp>
      <p:sp>
        <p:nvSpPr>
          <p:cNvPr id="288" name="Google Shape;288;p40"/>
          <p:cNvSpPr txBox="1"/>
          <p:nvPr/>
        </p:nvSpPr>
        <p:spPr>
          <a:xfrm>
            <a:off x="4823975" y="556025"/>
            <a:ext cx="304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Assume deterministic world</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294" name="Google Shape;294;p41"/>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ctr">
                        <a:spcBef>
                          <a:spcPts val="0"/>
                        </a:spcBef>
                        <a:spcAft>
                          <a:spcPts val="0"/>
                        </a:spcAft>
                        <a:buNone/>
                      </a:pPr>
                      <a:r>
                        <a:rPr lang="en"/>
                        <a:t>Salad</a:t>
                      </a:r>
                      <a:endParaRPr/>
                    </a:p>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a:t>
                      </a:r>
                      <a:endParaRPr/>
                    </a:p>
                  </a:txBody>
                  <a:tcPr marT="91425" marB="91425" marR="91425" marL="91425"/>
                </a:tc>
              </a:tr>
            </a:tbl>
          </a:graphicData>
        </a:graphic>
      </p:graphicFrame>
      <p:sp>
        <p:nvSpPr>
          <p:cNvPr id="295" name="Google Shape;295;p41"/>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6" name="Google Shape;296;p41"/>
          <p:cNvCxnSpPr>
            <a:stCxn id="295"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41"/>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41"/>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41"/>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300" name="Google Shape;300;p41"/>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301" name="Google Shape;301;p41"/>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302" name="Google Shape;302;p41"/>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41"/>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41"/>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5" name="Google Shape;305;p41"/>
          <p:cNvPicPr preferRelativeResize="0"/>
          <p:nvPr/>
        </p:nvPicPr>
        <p:blipFill>
          <a:blip r:embed="rId3">
            <a:alphaModFix/>
          </a:blip>
          <a:stretch>
            <a:fillRect/>
          </a:stretch>
        </p:blipFill>
        <p:spPr>
          <a:xfrm>
            <a:off x="4378650" y="215175"/>
            <a:ext cx="4453651" cy="833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311" name="Google Shape;311;p42"/>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ctr">
                        <a:spcBef>
                          <a:spcPts val="0"/>
                        </a:spcBef>
                        <a:spcAft>
                          <a:spcPts val="0"/>
                        </a:spcAft>
                        <a:buNone/>
                      </a:pPr>
                      <a:r>
                        <a:rPr lang="en"/>
                        <a:t>Salad</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-100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312" name="Google Shape;312;p42"/>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13" name="Google Shape;313;p42"/>
          <p:cNvCxnSpPr>
            <a:stCxn id="312"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314" name="Google Shape;314;p42"/>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315" name="Google Shape;315;p42"/>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316" name="Google Shape;316;p42"/>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317" name="Google Shape;317;p42"/>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318" name="Google Shape;318;p42"/>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319" name="Google Shape;319;p42"/>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42"/>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42"/>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2" name="Google Shape;322;p42"/>
          <p:cNvPicPr preferRelativeResize="0"/>
          <p:nvPr/>
        </p:nvPicPr>
        <p:blipFill>
          <a:blip r:embed="rId3">
            <a:alphaModFix/>
          </a:blip>
          <a:stretch>
            <a:fillRect/>
          </a:stretch>
        </p:blipFill>
        <p:spPr>
          <a:xfrm>
            <a:off x="4378650" y="215175"/>
            <a:ext cx="4453651" cy="833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328" name="Google Shape;328;p43"/>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ctr">
                        <a:spcBef>
                          <a:spcPts val="0"/>
                        </a:spcBef>
                        <a:spcAft>
                          <a:spcPts val="0"/>
                        </a:spcAft>
                        <a:buNone/>
                      </a:pPr>
                      <a:r>
                        <a:rPr lang="en"/>
                        <a:t>Salad</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329" name="Google Shape;329;p43"/>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0" name="Google Shape;330;p43"/>
          <p:cNvCxnSpPr>
            <a:stCxn id="329"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43"/>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43"/>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333" name="Google Shape;333;p43"/>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334" name="Google Shape;334;p43"/>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335" name="Google Shape;335;p43"/>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336" name="Google Shape;336;p43"/>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43"/>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43"/>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9" name="Google Shape;339;p43"/>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340" name="Google Shape;340;p43"/>
          <p:cNvSpPr/>
          <p:nvPr/>
        </p:nvSpPr>
        <p:spPr>
          <a:xfrm>
            <a:off x="1519575" y="114677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346" name="Google Shape;346;p44"/>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ctr">
                        <a:spcBef>
                          <a:spcPts val="0"/>
                        </a:spcBef>
                        <a:spcAft>
                          <a:spcPts val="0"/>
                        </a:spcAft>
                        <a:buNone/>
                      </a:pPr>
                      <a:r>
                        <a:rPr lang="en"/>
                        <a:t>Salad</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347" name="Google Shape;347;p44"/>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8" name="Google Shape;348;p44"/>
          <p:cNvCxnSpPr>
            <a:stCxn id="347"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44"/>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44"/>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44"/>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44"/>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44"/>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354" name="Google Shape;354;p44"/>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44"/>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44"/>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7" name="Google Shape;357;p44"/>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358" name="Google Shape;358;p44"/>
          <p:cNvSpPr/>
          <p:nvPr/>
        </p:nvSpPr>
        <p:spPr>
          <a:xfrm>
            <a:off x="1519575" y="114677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44"/>
          <p:cNvSpPr txBox="1"/>
          <p:nvPr/>
        </p:nvSpPr>
        <p:spPr>
          <a:xfrm>
            <a:off x="158575" y="1048925"/>
            <a:ext cx="1361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Special case:</a:t>
            </a:r>
            <a:endParaRPr sz="1800">
              <a:solidFill>
                <a:schemeClr val="dk2"/>
              </a:solidFill>
            </a:endParaRPr>
          </a:p>
          <a:p>
            <a:pPr indent="0" lvl="0" marL="0" rtl="0" algn="l">
              <a:spcBef>
                <a:spcPts val="0"/>
              </a:spcBef>
              <a:spcAft>
                <a:spcPts val="0"/>
              </a:spcAft>
              <a:buNone/>
            </a:pPr>
            <a:r>
              <a:rPr lang="en" sz="1800">
                <a:solidFill>
                  <a:schemeClr val="dk2"/>
                </a:solidFill>
              </a:rPr>
              <a:t>Only need R(s)</a:t>
            </a: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365" name="Google Shape;365;p45"/>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t>      </a:t>
                      </a:r>
                      <a:r>
                        <a:rPr lang="en"/>
                        <a:t>Salad   </a:t>
                      </a:r>
                      <a:r>
                        <a:rPr lang="en">
                          <a:solidFill>
                            <a:schemeClr val="accent5"/>
                          </a:solidFill>
                        </a:rPr>
                        <a:t>5</a:t>
                      </a:r>
                      <a:endParaRPr>
                        <a:solidFill>
                          <a:schemeClr val="accent5"/>
                        </a:solidFill>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366" name="Google Shape;366;p45"/>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7" name="Google Shape;367;p45"/>
          <p:cNvCxnSpPr>
            <a:stCxn id="366"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45"/>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369" name="Google Shape;369;p45"/>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370" name="Google Shape;370;p45"/>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371" name="Google Shape;371;p45"/>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372" name="Google Shape;372;p45"/>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373" name="Google Shape;373;p45"/>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45"/>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45"/>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6" name="Google Shape;376;p45"/>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377" name="Google Shape;377;p45"/>
          <p:cNvSpPr/>
          <p:nvPr/>
        </p:nvSpPr>
        <p:spPr>
          <a:xfrm>
            <a:off x="1519675" y="114677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45"/>
          <p:cNvSpPr txBox="1"/>
          <p:nvPr/>
        </p:nvSpPr>
        <p:spPr>
          <a:xfrm>
            <a:off x="158575" y="1048925"/>
            <a:ext cx="1361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Special case:</a:t>
            </a:r>
            <a:endParaRPr sz="1800">
              <a:solidFill>
                <a:schemeClr val="dk2"/>
              </a:solidFill>
            </a:endParaRPr>
          </a:p>
          <a:p>
            <a:pPr indent="0" lvl="0" marL="0" rtl="0" algn="l">
              <a:spcBef>
                <a:spcPts val="0"/>
              </a:spcBef>
              <a:spcAft>
                <a:spcPts val="0"/>
              </a:spcAft>
              <a:buNone/>
            </a:pPr>
            <a:r>
              <a:rPr lang="en" sz="1800">
                <a:solidFill>
                  <a:schemeClr val="dk2"/>
                </a:solidFill>
              </a:rPr>
              <a:t>Only need R(s)</a:t>
            </a:r>
            <a:endParaRPr sz="18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384" name="Google Shape;384;p46"/>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385" name="Google Shape;385;p46"/>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86" name="Google Shape;386;p46"/>
          <p:cNvCxnSpPr>
            <a:stCxn id="385"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46"/>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46"/>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46"/>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46"/>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46"/>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392" name="Google Shape;392;p46"/>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46"/>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46"/>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5" name="Google Shape;395;p46"/>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396" name="Google Shape;396;p46"/>
          <p:cNvSpPr/>
          <p:nvPr/>
        </p:nvSpPr>
        <p:spPr>
          <a:xfrm>
            <a:off x="1519575"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402" name="Google Shape;402;p47"/>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403" name="Google Shape;403;p47"/>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04" name="Google Shape;404;p47"/>
          <p:cNvCxnSpPr>
            <a:stCxn id="403"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47"/>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406" name="Google Shape;406;p47"/>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407" name="Google Shape;407;p47"/>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408" name="Google Shape;408;p47"/>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47"/>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410" name="Google Shape;410;p47"/>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47"/>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47"/>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3" name="Google Shape;413;p47"/>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414" name="Google Shape;414;p47"/>
          <p:cNvSpPr/>
          <p:nvPr/>
        </p:nvSpPr>
        <p:spPr>
          <a:xfrm>
            <a:off x="1519575"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47"/>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16" name="Google Shape;416;p47"/>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a:t>
            </a:r>
            <a:r>
              <a:rPr lang="en" sz="1800">
                <a:solidFill>
                  <a:schemeClr val="dk2"/>
                </a:solidFill>
              </a:rPr>
              <a: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17" name="Google Shape;417;p47"/>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a:t>
            </a:r>
            <a:r>
              <a:rPr lang="en" sz="1800">
                <a:solidFill>
                  <a:schemeClr val="dk2"/>
                </a:solidFill>
              </a:rPr>
              <a: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18" name="Google Shape;418;p47"/>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0.99 * 0</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 0</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424" name="Google Shape;424;p48"/>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425" name="Google Shape;425;p48"/>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6" name="Google Shape;426;p48"/>
          <p:cNvCxnSpPr>
            <a:stCxn id="425"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48"/>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48"/>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48"/>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430" name="Google Shape;430;p48"/>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431" name="Google Shape;431;p48"/>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432" name="Google Shape;432;p48"/>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48"/>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48"/>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5" name="Google Shape;435;p48"/>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436" name="Google Shape;436;p48"/>
          <p:cNvSpPr/>
          <p:nvPr/>
        </p:nvSpPr>
        <p:spPr>
          <a:xfrm>
            <a:off x="1519575"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48"/>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38" name="Google Shape;438;p48"/>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39" name="Google Shape;439;p48"/>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40" name="Google Shape;440;p48"/>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p:txBody>
      </p:sp>
      <p:sp>
        <p:nvSpPr>
          <p:cNvPr id="441" name="Google Shape;441;p48"/>
          <p:cNvSpPr/>
          <p:nvPr/>
        </p:nvSpPr>
        <p:spPr>
          <a:xfrm>
            <a:off x="158575" y="1081050"/>
            <a:ext cx="1221000" cy="8337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447" name="Google Shape;447;p49"/>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Clr>
                          <a:schemeClr val="dk1"/>
                        </a:buClr>
                        <a:buSzPts val="1100"/>
                        <a:buFont typeface="Arial"/>
                        <a:buNone/>
                      </a:pPr>
                      <a:r>
                        <a:rPr lang="en">
                          <a:solidFill>
                            <a:schemeClr val="accent6"/>
                          </a:solidFill>
                        </a:rPr>
                        <a:t>                 </a:t>
                      </a:r>
                      <a:r>
                        <a:rPr lang="en">
                          <a:solidFill>
                            <a:schemeClr val="accent5"/>
                          </a:solidFill>
                        </a:rPr>
                        <a:t>-1</a:t>
                      </a:r>
                      <a:endParaRPr>
                        <a:solidFill>
                          <a:schemeClr val="accent5"/>
                        </a:solidFill>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448" name="Google Shape;448;p49"/>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49" name="Google Shape;449;p49"/>
          <p:cNvCxnSpPr>
            <a:stCxn id="448"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49"/>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49"/>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49"/>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49"/>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49"/>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455" name="Google Shape;455;p49"/>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49"/>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49"/>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8" name="Google Shape;458;p49"/>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459" name="Google Shape;459;p49"/>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-1 + 0</a:t>
            </a:r>
            <a:endParaRPr sz="1800">
              <a:solidFill>
                <a:schemeClr val="dk2"/>
              </a:solidFill>
            </a:endParaRPr>
          </a:p>
          <a:p>
            <a:pPr indent="0" lvl="0" marL="0" rtl="0" algn="l">
              <a:spcBef>
                <a:spcPts val="0"/>
              </a:spcBef>
              <a:spcAft>
                <a:spcPts val="0"/>
              </a:spcAft>
              <a:buNone/>
            </a:pPr>
            <a:r>
              <a:rPr lang="en" sz="1800">
                <a:solidFill>
                  <a:schemeClr val="dk2"/>
                </a:solidFill>
              </a:rPr>
              <a:t>= -1</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60" name="Google Shape;460;p49"/>
          <p:cNvSpPr/>
          <p:nvPr/>
        </p:nvSpPr>
        <p:spPr>
          <a:xfrm>
            <a:off x="1519575"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466" name="Google Shape;466;p50"/>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Clr>
                          <a:schemeClr val="dk1"/>
                        </a:buClr>
                        <a:buSzPts val="1100"/>
                        <a:buFont typeface="Arial"/>
                        <a:buNone/>
                      </a:pPr>
                      <a:r>
                        <a:rPr lang="en">
                          <a:solidFill>
                            <a:schemeClr val="accent6"/>
                          </a:solidFill>
                        </a:rPr>
                        <a:t>                 </a:t>
                      </a:r>
                      <a:r>
                        <a:rPr lang="en">
                          <a:solidFill>
                            <a:schemeClr val="accent5"/>
                          </a:solidFill>
                        </a:rPr>
                        <a:t>-1</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467" name="Google Shape;467;p50"/>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68" name="Google Shape;468;p50"/>
          <p:cNvCxnSpPr>
            <a:stCxn id="467"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469" name="Google Shape;469;p50"/>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470" name="Google Shape;470;p50"/>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471" name="Google Shape;471;p50"/>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472" name="Google Shape;472;p50"/>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473" name="Google Shape;473;p50"/>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474" name="Google Shape;474;p50"/>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50"/>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50"/>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7" name="Google Shape;477;p50"/>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478" name="Google Shape;478;p50"/>
          <p:cNvSpPr/>
          <p:nvPr/>
        </p:nvSpPr>
        <p:spPr>
          <a:xfrm>
            <a:off x="2740550" y="1861850"/>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484" name="Google Shape;484;p51"/>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Clr>
                          <a:schemeClr val="dk1"/>
                        </a:buClr>
                        <a:buSzPts val="1100"/>
                        <a:buFont typeface="Arial"/>
                        <a:buNone/>
                      </a:pPr>
                      <a:r>
                        <a:rPr lang="en">
                          <a:solidFill>
                            <a:schemeClr val="accent6"/>
                          </a:solidFill>
                        </a:rPr>
                        <a:t>                 </a:t>
                      </a:r>
                      <a:r>
                        <a:rPr lang="en">
                          <a:solidFill>
                            <a:schemeClr val="accent5"/>
                          </a:solidFill>
                        </a:rPr>
                        <a:t>-1</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485" name="Google Shape;485;p51"/>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6" name="Google Shape;486;p51"/>
          <p:cNvCxnSpPr>
            <a:stCxn id="485"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487" name="Google Shape;487;p51"/>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488" name="Google Shape;488;p51"/>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489" name="Google Shape;489;p51"/>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490" name="Google Shape;490;p51"/>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51"/>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492" name="Google Shape;492;p51"/>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51"/>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51"/>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95" name="Google Shape;495;p51"/>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496" name="Google Shape;496;p51"/>
          <p:cNvSpPr/>
          <p:nvPr/>
        </p:nvSpPr>
        <p:spPr>
          <a:xfrm>
            <a:off x="2740550"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51"/>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98" name="Google Shape;498;p51"/>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99" name="Google Shape;499;p51"/>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00" name="Google Shape;500;p51"/>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506" name="Google Shape;506;p52"/>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Clr>
                          <a:schemeClr val="dk1"/>
                        </a:buClr>
                        <a:buSzPts val="1100"/>
                        <a:buFont typeface="Arial"/>
                        <a:buNone/>
                      </a:pPr>
                      <a:r>
                        <a:rPr lang="en">
                          <a:solidFill>
                            <a:schemeClr val="accent6"/>
                          </a:solidFill>
                        </a:rPr>
                        <a:t>                 </a:t>
                      </a:r>
                      <a:r>
                        <a:rPr lang="en">
                          <a:solidFill>
                            <a:schemeClr val="accent5"/>
                          </a:solidFill>
                        </a:rPr>
                        <a:t>-1</a:t>
                      </a:r>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507" name="Google Shape;507;p52"/>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08" name="Google Shape;508;p52"/>
          <p:cNvCxnSpPr>
            <a:stCxn id="507"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52"/>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510" name="Google Shape;510;p52"/>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52"/>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52"/>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513" name="Google Shape;513;p52"/>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514" name="Google Shape;514;p52"/>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52"/>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52"/>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7" name="Google Shape;517;p52"/>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518" name="Google Shape;518;p52"/>
          <p:cNvSpPr/>
          <p:nvPr/>
        </p:nvSpPr>
        <p:spPr>
          <a:xfrm>
            <a:off x="2740550"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52"/>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20" name="Google Shape;520;p52"/>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21" name="Google Shape;521;p52"/>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 </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22" name="Google Shape;522;p52"/>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None/>
            </a:pPr>
            <a:r>
              <a:rPr lang="en" sz="1800">
                <a:solidFill>
                  <a:schemeClr val="dk2"/>
                </a:solidFill>
              </a:rPr>
              <a:t>0.99 * 0</a:t>
            </a:r>
            <a:endParaRPr sz="1800">
              <a:solidFill>
                <a:schemeClr val="dk2"/>
              </a:solidFill>
            </a:endParaRPr>
          </a:p>
          <a:p>
            <a:pPr indent="0" lvl="0" marL="0" rtl="0" algn="l">
              <a:spcBef>
                <a:spcPts val="0"/>
              </a:spcBef>
              <a:spcAft>
                <a:spcPts val="0"/>
              </a:spcAft>
              <a:buNone/>
            </a:pPr>
            <a:r>
              <a:rPr lang="en" sz="1800">
                <a:solidFill>
                  <a:schemeClr val="dk2"/>
                </a:solidFill>
              </a:rPr>
              <a:t>= 0</a:t>
            </a:r>
            <a:endParaRPr sz="1800">
              <a:solidFill>
                <a:schemeClr val="dk2"/>
              </a:solidFill>
            </a:endParaRPr>
          </a:p>
        </p:txBody>
      </p:sp>
      <p:sp>
        <p:nvSpPr>
          <p:cNvPr id="523" name="Google Shape;523;p52"/>
          <p:cNvSpPr/>
          <p:nvPr/>
        </p:nvSpPr>
        <p:spPr>
          <a:xfrm>
            <a:off x="140625" y="1094425"/>
            <a:ext cx="1221000" cy="8337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529" name="Google Shape;529;p53"/>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Clr>
                          <a:schemeClr val="dk1"/>
                        </a:buClr>
                        <a:buSzPts val="1100"/>
                        <a:buFont typeface="Arial"/>
                        <a:buNone/>
                      </a:pPr>
                      <a:r>
                        <a:rPr lang="en">
                          <a:solidFill>
                            <a:schemeClr val="dk1"/>
                          </a:solidFill>
                        </a:rPr>
                        <a:t>      Salad   </a:t>
                      </a:r>
                      <a:r>
                        <a:rPr lang="en">
                          <a:solidFill>
                            <a:schemeClr val="accent5"/>
                          </a:solidFill>
                        </a:rPr>
                        <a:t>5</a:t>
                      </a:r>
                      <a:endParaRPr/>
                    </a:p>
                    <a:p>
                      <a:pPr indent="0" lvl="0" marL="0" rtl="0" algn="l">
                        <a:spcBef>
                          <a:spcPts val="0"/>
                        </a:spcBef>
                        <a:spcAft>
                          <a:spcPts val="0"/>
                        </a:spcAft>
                        <a:buNone/>
                      </a:pPr>
                      <a:r>
                        <a:rPr lang="en"/>
                        <a:t>5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r>
                        <a:rPr lang="en">
                          <a:solidFill>
                            <a:schemeClr val="accent5"/>
                          </a:solidFill>
                        </a:rPr>
                        <a:t>-1</a:t>
                      </a:r>
                      <a:endParaRPr>
                        <a:solidFill>
                          <a:schemeClr val="accent5"/>
                        </a:solidFill>
                      </a:endParaRPr>
                    </a:p>
                    <a:p>
                      <a:pPr indent="0" lvl="0" marL="0" rtl="0" algn="l">
                        <a:spcBef>
                          <a:spcPts val="0"/>
                        </a:spcBef>
                        <a:spcAft>
                          <a:spcPts val="0"/>
                        </a:spcAft>
                        <a:buNone/>
                      </a:pPr>
                      <a:r>
                        <a:rPr lang="en"/>
                        <a:t>-1               </a:t>
                      </a:r>
                      <a:r>
                        <a:rPr lang="en">
                          <a:solidFill>
                            <a:schemeClr val="accent6"/>
                          </a:solidFill>
                        </a:rPr>
                        <a:t>0</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r>
                        <a:rPr lang="en">
                          <a:solidFill>
                            <a:schemeClr val="accent5"/>
                          </a:solidFill>
                        </a:rPr>
                        <a:t>-1</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-100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0</a:t>
                      </a:r>
                      <a:endParaRPr/>
                    </a:p>
                  </a:txBody>
                  <a:tcPr marT="91425" marB="91425" marR="91425" marL="91425"/>
                </a:tc>
              </a:tr>
            </a:tbl>
          </a:graphicData>
        </a:graphic>
      </p:graphicFrame>
      <p:sp>
        <p:nvSpPr>
          <p:cNvPr id="530" name="Google Shape;530;p53"/>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31" name="Google Shape;531;p53"/>
          <p:cNvCxnSpPr>
            <a:stCxn id="530"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53"/>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53"/>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53"/>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53"/>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53"/>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537" name="Google Shape;537;p53"/>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53"/>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53"/>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40" name="Google Shape;540;p53"/>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541" name="Google Shape;541;p53"/>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-1 + 0</a:t>
            </a:r>
            <a:endParaRPr sz="1800">
              <a:solidFill>
                <a:schemeClr val="dk2"/>
              </a:solidFill>
            </a:endParaRPr>
          </a:p>
          <a:p>
            <a:pPr indent="0" lvl="0" marL="0" rtl="0" algn="l">
              <a:spcBef>
                <a:spcPts val="0"/>
              </a:spcBef>
              <a:spcAft>
                <a:spcPts val="0"/>
              </a:spcAft>
              <a:buNone/>
            </a:pPr>
            <a:r>
              <a:rPr lang="en" sz="1800">
                <a:solidFill>
                  <a:schemeClr val="dk2"/>
                </a:solidFill>
              </a:rPr>
              <a:t>= -1</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42" name="Google Shape;542;p53"/>
          <p:cNvSpPr/>
          <p:nvPr/>
        </p:nvSpPr>
        <p:spPr>
          <a:xfrm>
            <a:off x="2740550" y="1861850"/>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548" name="Google Shape;548;p54"/>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549" name="Google Shape;549;p54"/>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50" name="Google Shape;550;p54"/>
          <p:cNvCxnSpPr>
            <a:stCxn id="549"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551" name="Google Shape;551;p54"/>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552" name="Google Shape;552;p54"/>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553" name="Google Shape;553;p54"/>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554" name="Google Shape;554;p54"/>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54"/>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556" name="Google Shape;556;p54"/>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54"/>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54"/>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9" name="Google Shape;559;p54"/>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560" name="Google Shape;560;p54"/>
          <p:cNvSpPr txBox="1"/>
          <p:nvPr/>
        </p:nvSpPr>
        <p:spPr>
          <a:xfrm>
            <a:off x="110325" y="1160725"/>
            <a:ext cx="13446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After the first iteration, our estimates should just be the immediate rewards</a:t>
            </a:r>
            <a:endParaRPr sz="1800">
              <a:solidFill>
                <a:schemeClr val="dk2"/>
              </a:solidFill>
            </a:endParaRPr>
          </a:p>
        </p:txBody>
      </p:sp>
      <p:sp>
        <p:nvSpPr>
          <p:cNvPr id="561" name="Google Shape;561;p54"/>
          <p:cNvSpPr txBox="1"/>
          <p:nvPr/>
        </p:nvSpPr>
        <p:spPr>
          <a:xfrm>
            <a:off x="7824400" y="2461175"/>
            <a:ext cx="1097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Max change: 100</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567" name="Google Shape;567;p55"/>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568" name="Google Shape;568;p55"/>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69" name="Google Shape;569;p55"/>
          <p:cNvCxnSpPr>
            <a:stCxn id="568"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55"/>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55"/>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55"/>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55"/>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55"/>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575" name="Google Shape;575;p55"/>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55"/>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55"/>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8" name="Google Shape;578;p55"/>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579" name="Google Shape;579;p55"/>
          <p:cNvSpPr/>
          <p:nvPr/>
        </p:nvSpPr>
        <p:spPr>
          <a:xfrm>
            <a:off x="1519575"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585" name="Google Shape;585;p56"/>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586" name="Google Shape;586;p56"/>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7" name="Google Shape;587;p56"/>
          <p:cNvCxnSpPr>
            <a:stCxn id="586"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588" name="Google Shape;588;p56"/>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589" name="Google Shape;589;p56"/>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590" name="Google Shape;590;p56"/>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56"/>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56"/>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593" name="Google Shape;593;p56"/>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56"/>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56"/>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96" name="Google Shape;596;p56"/>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597" name="Google Shape;597;p56"/>
          <p:cNvSpPr/>
          <p:nvPr/>
        </p:nvSpPr>
        <p:spPr>
          <a:xfrm>
            <a:off x="1519575"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56"/>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5</a:t>
            </a:r>
            <a:endParaRPr sz="1800">
              <a:solidFill>
                <a:schemeClr val="dk2"/>
              </a:solidFill>
            </a:endParaRPr>
          </a:p>
          <a:p>
            <a:pPr indent="0" lvl="0" marL="0" rtl="0" algn="l">
              <a:spcBef>
                <a:spcPts val="0"/>
              </a:spcBef>
              <a:spcAft>
                <a:spcPts val="0"/>
              </a:spcAft>
              <a:buNone/>
            </a:pPr>
            <a:r>
              <a:rPr lang="en" sz="1800">
                <a:solidFill>
                  <a:schemeClr val="dk2"/>
                </a:solidFill>
              </a:rPr>
              <a:t>= 4.95</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99" name="Google Shape;599;p56"/>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00" name="Google Shape;600;p56"/>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01" name="Google Shape;601;p56"/>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607" name="Google Shape;607;p57"/>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608" name="Google Shape;608;p57"/>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09" name="Google Shape;609;p57"/>
          <p:cNvCxnSpPr>
            <a:stCxn id="608"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57"/>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57"/>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57"/>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57"/>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614" name="Google Shape;614;p57"/>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615" name="Google Shape;615;p57"/>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57"/>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7" name="Google Shape;617;p57"/>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18" name="Google Shape;618;p57"/>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619" name="Google Shape;619;p57"/>
          <p:cNvSpPr/>
          <p:nvPr/>
        </p:nvSpPr>
        <p:spPr>
          <a:xfrm>
            <a:off x="1519575"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0" name="Google Shape;620;p57"/>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5</a:t>
            </a:r>
            <a:endParaRPr sz="1800">
              <a:solidFill>
                <a:schemeClr val="dk2"/>
              </a:solidFill>
            </a:endParaRPr>
          </a:p>
          <a:p>
            <a:pPr indent="0" lvl="0" marL="0" rtl="0" algn="l">
              <a:spcBef>
                <a:spcPts val="0"/>
              </a:spcBef>
              <a:spcAft>
                <a:spcPts val="0"/>
              </a:spcAft>
              <a:buNone/>
            </a:pPr>
            <a:r>
              <a:rPr lang="en" sz="1800">
                <a:solidFill>
                  <a:schemeClr val="dk2"/>
                </a:solidFill>
              </a:rPr>
              <a:t>= 4.95</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21" name="Google Shape;621;p57"/>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22" name="Google Shape;622;p57"/>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23" name="Google Shape;623;p57"/>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p:txBody>
      </p:sp>
      <p:sp>
        <p:nvSpPr>
          <p:cNvPr id="624" name="Google Shape;624;p57"/>
          <p:cNvSpPr/>
          <p:nvPr/>
        </p:nvSpPr>
        <p:spPr>
          <a:xfrm>
            <a:off x="140625" y="1094425"/>
            <a:ext cx="1221000" cy="8337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630" name="Google Shape;630;p58"/>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r>
                        <a:rPr lang="en">
                          <a:solidFill>
                            <a:schemeClr val="accent5"/>
                          </a:solidFill>
                        </a:rPr>
                        <a:t>3.95</a:t>
                      </a:r>
                      <a:r>
                        <a:rPr lang="en">
                          <a:solidFill>
                            <a:schemeClr val="accent6"/>
                          </a:solidFill>
                        </a:rPr>
                        <a:t> </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631" name="Google Shape;631;p58"/>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32" name="Google Shape;632;p58"/>
          <p:cNvCxnSpPr>
            <a:stCxn id="631"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58"/>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58"/>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635" name="Google Shape;635;p58"/>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636" name="Google Shape;636;p58"/>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637" name="Google Shape;637;p58"/>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638" name="Google Shape;638;p58"/>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58"/>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58"/>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1" name="Google Shape;641;p58"/>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642" name="Google Shape;642;p58"/>
          <p:cNvSpPr/>
          <p:nvPr/>
        </p:nvSpPr>
        <p:spPr>
          <a:xfrm>
            <a:off x="1519575" y="1861850"/>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58"/>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-1 + 4.95</a:t>
            </a:r>
            <a:endParaRPr sz="1800">
              <a:solidFill>
                <a:schemeClr val="dk2"/>
              </a:solidFill>
            </a:endParaRPr>
          </a:p>
          <a:p>
            <a:pPr indent="0" lvl="0" marL="0" rtl="0" algn="l">
              <a:spcBef>
                <a:spcPts val="0"/>
              </a:spcBef>
              <a:spcAft>
                <a:spcPts val="0"/>
              </a:spcAft>
              <a:buNone/>
            </a:pPr>
            <a:r>
              <a:rPr lang="en" sz="1800">
                <a:solidFill>
                  <a:schemeClr val="dk2"/>
                </a:solidFill>
              </a:rPr>
              <a:t>= 3.95</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649" name="Google Shape;649;p59"/>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r>
                        <a:rPr lang="en">
                          <a:solidFill>
                            <a:schemeClr val="accent5"/>
                          </a:solidFill>
                        </a:rPr>
                        <a:t>3.95</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650" name="Google Shape;650;p59"/>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1" name="Google Shape;651;p59"/>
          <p:cNvCxnSpPr>
            <a:stCxn id="650"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59"/>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59"/>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59"/>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59"/>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59"/>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657" name="Google Shape;657;p59"/>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8" name="Google Shape;658;p59"/>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59"/>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60" name="Google Shape;660;p59"/>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661" name="Google Shape;661;p59"/>
          <p:cNvSpPr/>
          <p:nvPr/>
        </p:nvSpPr>
        <p:spPr>
          <a:xfrm>
            <a:off x="2740550"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667" name="Google Shape;667;p60"/>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r>
                        <a:rPr lang="en">
                          <a:solidFill>
                            <a:schemeClr val="accent5"/>
                          </a:solidFill>
                        </a:rPr>
                        <a:t>3.95</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668" name="Google Shape;668;p60"/>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69" name="Google Shape;669;p60"/>
          <p:cNvCxnSpPr>
            <a:stCxn id="668"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670" name="Google Shape;670;p60"/>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671" name="Google Shape;671;p60"/>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672" name="Google Shape;672;p60"/>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673" name="Google Shape;673;p60"/>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674" name="Google Shape;674;p60"/>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675" name="Google Shape;675;p60"/>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6" name="Google Shape;676;p60"/>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7" name="Google Shape;677;p60"/>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8" name="Google Shape;678;p60"/>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679" name="Google Shape;679;p60"/>
          <p:cNvSpPr/>
          <p:nvPr/>
        </p:nvSpPr>
        <p:spPr>
          <a:xfrm>
            <a:off x="2740550"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0" name="Google Shape;680;p60"/>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81" name="Google Shape;681;p60"/>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82" name="Google Shape;682;p60"/>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83" name="Google Shape;683;p60"/>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689" name="Google Shape;689;p61"/>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r>
                        <a:rPr lang="en">
                          <a:solidFill>
                            <a:schemeClr val="accent5"/>
                          </a:solidFill>
                        </a:rPr>
                        <a:t>3.95</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690" name="Google Shape;690;p61"/>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91" name="Google Shape;691;p61"/>
          <p:cNvCxnSpPr>
            <a:stCxn id="690"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692" name="Google Shape;692;p61"/>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61"/>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61"/>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61"/>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61"/>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697" name="Google Shape;697;p61"/>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8" name="Google Shape;698;p61"/>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9" name="Google Shape;699;p61"/>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00" name="Google Shape;700;p61"/>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701" name="Google Shape;701;p61"/>
          <p:cNvSpPr/>
          <p:nvPr/>
        </p:nvSpPr>
        <p:spPr>
          <a:xfrm>
            <a:off x="2740550"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61"/>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a:t>
            </a:r>
            <a:r>
              <a:rPr lang="en" sz="1800">
                <a:solidFill>
                  <a:schemeClr val="dk2"/>
                </a:solidFill>
              </a:rPr>
              <a:t>-0.99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03" name="Google Shape;703;p61"/>
          <p:cNvSpPr txBox="1"/>
          <p:nvPr/>
        </p:nvSpPr>
        <p:spPr>
          <a:xfrm>
            <a:off x="220650" y="1978075"/>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Left: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04" name="Google Shape;704;p61"/>
          <p:cNvSpPr txBox="1"/>
          <p:nvPr/>
        </p:nvSpPr>
        <p:spPr>
          <a:xfrm>
            <a:off x="220650" y="2993950"/>
            <a:ext cx="1551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Right: </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05" name="Google Shape;705;p61"/>
          <p:cNvSpPr txBox="1"/>
          <p:nvPr/>
        </p:nvSpPr>
        <p:spPr>
          <a:xfrm>
            <a:off x="220650" y="3923600"/>
            <a:ext cx="155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Down:</a:t>
            </a:r>
            <a:endParaRPr sz="1800">
              <a:solidFill>
                <a:schemeClr val="dk2"/>
              </a:solidFill>
            </a:endParaRPr>
          </a:p>
          <a:p>
            <a:pPr indent="0" lvl="0" marL="0" rtl="0" algn="l">
              <a:spcBef>
                <a:spcPts val="0"/>
              </a:spcBef>
              <a:spcAft>
                <a:spcPts val="0"/>
              </a:spcAft>
              <a:buNone/>
            </a:pPr>
            <a:r>
              <a:rPr lang="en" sz="1800">
                <a:solidFill>
                  <a:schemeClr val="dk2"/>
                </a:solidFill>
              </a:rPr>
              <a:t>0.99 * -1</a:t>
            </a:r>
            <a:endParaRPr sz="1800">
              <a:solidFill>
                <a:schemeClr val="dk2"/>
              </a:solidFill>
            </a:endParaRPr>
          </a:p>
          <a:p>
            <a:pPr indent="0" lvl="0" marL="0" rtl="0" algn="l">
              <a:spcBef>
                <a:spcPts val="0"/>
              </a:spcBef>
              <a:spcAft>
                <a:spcPts val="0"/>
              </a:spcAft>
              <a:buNone/>
            </a:pPr>
            <a:r>
              <a:rPr lang="en" sz="1800">
                <a:solidFill>
                  <a:schemeClr val="dk2"/>
                </a:solidFill>
              </a:rPr>
              <a:t>= -0.99</a:t>
            </a:r>
            <a:endParaRPr sz="1800">
              <a:solidFill>
                <a:schemeClr val="dk2"/>
              </a:solidFill>
            </a:endParaRPr>
          </a:p>
        </p:txBody>
      </p:sp>
      <p:sp>
        <p:nvSpPr>
          <p:cNvPr id="706" name="Google Shape;706;p61"/>
          <p:cNvSpPr/>
          <p:nvPr/>
        </p:nvSpPr>
        <p:spPr>
          <a:xfrm>
            <a:off x="154400" y="1081050"/>
            <a:ext cx="1221000" cy="8337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graphicFrame>
        <p:nvGraphicFramePr>
          <p:cNvPr id="712" name="Google Shape;712;p62"/>
          <p:cNvGraphicFramePr/>
          <p:nvPr/>
        </p:nvGraphicFramePr>
        <p:xfrm>
          <a:off x="1519563" y="1160725"/>
          <a:ext cx="3000000" cy="3000000"/>
        </p:xfrm>
        <a:graphic>
          <a:graphicData uri="http://schemas.openxmlformats.org/drawingml/2006/table">
            <a:tbl>
              <a:tblPr>
                <a:noFill/>
                <a:tableStyleId>{031F8257-A4DF-49B2-A289-FD5F02B52E0A}</a:tableStyleId>
              </a:tblPr>
              <a:tblGrid>
                <a:gridCol w="1220975"/>
                <a:gridCol w="1220975"/>
                <a:gridCol w="1220975"/>
                <a:gridCol w="1220975"/>
                <a:gridCol w="1220975"/>
              </a:tblGrid>
              <a:tr h="701125">
                <a:tc>
                  <a:txBody>
                    <a:bodyPr/>
                    <a:lstStyle/>
                    <a:p>
                      <a:pPr indent="0" lvl="0" marL="0" rtl="0" algn="l">
                        <a:spcBef>
                          <a:spcPts val="0"/>
                        </a:spcBef>
                        <a:spcAft>
                          <a:spcPts val="0"/>
                        </a:spcAft>
                        <a:buNone/>
                      </a:pPr>
                      <a:r>
                        <a:rPr lang="en">
                          <a:solidFill>
                            <a:schemeClr val="dk1"/>
                          </a:solidFill>
                        </a:rPr>
                        <a:t>      Salad   </a:t>
                      </a:r>
                      <a:endParaRPr/>
                    </a:p>
                    <a:p>
                      <a:pPr indent="0" lvl="0" marL="0" rtl="0" algn="l">
                        <a:spcBef>
                          <a:spcPts val="0"/>
                        </a:spcBef>
                        <a:spcAft>
                          <a:spcPts val="0"/>
                        </a:spcAft>
                        <a:buNone/>
                      </a:pPr>
                      <a:r>
                        <a:rPr lang="en"/>
                        <a:t>5                 </a:t>
                      </a:r>
                      <a:r>
                        <a:rPr lang="en">
                          <a:solidFill>
                            <a:schemeClr val="accent6"/>
                          </a:solidFill>
                        </a:rPr>
                        <a:t>5</a:t>
                      </a:r>
                      <a:endParaRPr>
                        <a:solidFill>
                          <a:schemeClr val="accent6"/>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Pizza</a:t>
                      </a:r>
                      <a:endParaRPr/>
                    </a:p>
                    <a:p>
                      <a:pPr indent="0" lvl="0" marL="0" rtl="0" algn="l">
                        <a:spcBef>
                          <a:spcPts val="0"/>
                        </a:spcBef>
                        <a:spcAft>
                          <a:spcPts val="0"/>
                        </a:spcAft>
                        <a:buNone/>
                      </a:pPr>
                      <a:r>
                        <a:rPr lang="en"/>
                        <a:t>100         </a:t>
                      </a:r>
                      <a:r>
                        <a:rPr lang="en">
                          <a:solidFill>
                            <a:schemeClr val="accent6"/>
                          </a:solidFill>
                        </a:rPr>
                        <a:t>100</a:t>
                      </a:r>
                      <a:endParaRPr>
                        <a:solidFill>
                          <a:schemeClr val="accent6"/>
                        </a:solidFill>
                      </a:endParaRPr>
                    </a:p>
                  </a:txBody>
                  <a:tcPr marT="91425" marB="91425" marR="91425" marL="91425"/>
                </a:tc>
              </a:tr>
              <a:tr h="729100">
                <a:tc>
                  <a:txBody>
                    <a:bodyPr/>
                    <a:lstStyle/>
                    <a:p>
                      <a:pPr indent="0" lvl="0" marL="0" rtl="0" algn="l">
                        <a:spcBef>
                          <a:spcPts val="0"/>
                        </a:spcBef>
                        <a:spcAft>
                          <a:spcPts val="0"/>
                        </a:spcAft>
                        <a:buNone/>
                      </a:pPr>
                      <a:r>
                        <a:rPr lang="en">
                          <a:solidFill>
                            <a:schemeClr val="accent6"/>
                          </a:solidFill>
                        </a:rPr>
                        <a:t>              </a:t>
                      </a:r>
                      <a:r>
                        <a:rPr lang="en">
                          <a:solidFill>
                            <a:schemeClr val="accent5"/>
                          </a:solidFill>
                        </a:rPr>
                        <a:t>3.95</a:t>
                      </a:r>
                      <a:r>
                        <a:rPr lang="en">
                          <a:solidFill>
                            <a:schemeClr val="accent6"/>
                          </a:solidFill>
                        </a:rPr>
                        <a:t> </a:t>
                      </a:r>
                      <a:endParaRPr>
                        <a:solidFill>
                          <a:schemeClr val="accent5"/>
                        </a:solidFill>
                      </a:endParaRPr>
                    </a:p>
                    <a:p>
                      <a:pPr indent="0" lvl="0" marL="0" rtl="0" algn="l">
                        <a:spcBef>
                          <a:spcPts val="0"/>
                        </a:spcBef>
                        <a:spcAft>
                          <a:spcPts val="0"/>
                        </a:spcAft>
                        <a:buNone/>
                      </a:pPr>
                      <a:r>
                        <a:rPr lang="en"/>
                        <a:t>-1              </a:t>
                      </a:r>
                      <a:r>
                        <a:rPr lang="en">
                          <a:solidFill>
                            <a:schemeClr val="accent6"/>
                          </a:solidFill>
                        </a:rPr>
                        <a:t>-1</a:t>
                      </a:r>
                      <a:endParaRPr>
                        <a:solidFill>
                          <a:schemeClr val="accent6"/>
                        </a:solidFill>
                      </a:endParaRPr>
                    </a:p>
                  </a:txBody>
                  <a:tcPr marT="91425" marB="91425" marR="91425" marL="91425"/>
                </a:tc>
                <a:tc>
                  <a:txBody>
                    <a:bodyPr/>
                    <a:lstStyle/>
                    <a:p>
                      <a:pPr indent="0" lvl="0" marL="0" rtl="0" algn="l">
                        <a:spcBef>
                          <a:spcPts val="0"/>
                        </a:spcBef>
                        <a:spcAft>
                          <a:spcPts val="0"/>
                        </a:spcAft>
                        <a:buNone/>
                      </a:pPr>
                      <a:r>
                        <a:rPr lang="en"/>
                        <a:t>            </a:t>
                      </a:r>
                      <a:r>
                        <a:rPr lang="en">
                          <a:solidFill>
                            <a:schemeClr val="accent5"/>
                          </a:solidFill>
                        </a:rPr>
                        <a:t>-1.99</a:t>
                      </a:r>
                      <a:r>
                        <a:rPr lang="en"/>
                        <a:t>    </a:t>
                      </a:r>
                      <a:endParaRPr>
                        <a:solidFill>
                          <a:schemeClr val="accent5"/>
                        </a:solidFill>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-100      </a:t>
                      </a:r>
                      <a:r>
                        <a:rPr lang="en">
                          <a:solidFill>
                            <a:schemeClr val="accent6"/>
                          </a:solidFill>
                        </a:rPr>
                        <a:t>-100</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r h="701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-1              </a:t>
                      </a:r>
                      <a:r>
                        <a:rPr lang="en">
                          <a:solidFill>
                            <a:schemeClr val="accent6"/>
                          </a:solidFill>
                        </a:rPr>
                        <a:t>-1</a:t>
                      </a:r>
                      <a:endParaRPr/>
                    </a:p>
                  </a:txBody>
                  <a:tcPr marT="91425" marB="91425" marR="91425" marL="91425"/>
                </a:tc>
              </a:tr>
            </a:tbl>
          </a:graphicData>
        </a:graphic>
      </p:graphicFrame>
      <p:sp>
        <p:nvSpPr>
          <p:cNvPr id="713" name="Google Shape;713;p62"/>
          <p:cNvSpPr/>
          <p:nvPr/>
        </p:nvSpPr>
        <p:spPr>
          <a:xfrm>
            <a:off x="5715775" y="2590950"/>
            <a:ext cx="121800" cy="12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14" name="Google Shape;714;p62"/>
          <p:cNvCxnSpPr>
            <a:stCxn id="713" idx="4"/>
          </p:cNvCxnSpPr>
          <p:nvPr/>
        </p:nvCxnSpPr>
        <p:spPr>
          <a:xfrm>
            <a:off x="5776675" y="2713650"/>
            <a:ext cx="2400" cy="199200"/>
          </a:xfrm>
          <a:prstGeom prst="straightConnector1">
            <a:avLst/>
          </a:prstGeom>
          <a:noFill/>
          <a:ln cap="flat" cmpd="sng" w="9525">
            <a:solidFill>
              <a:schemeClr val="dk2"/>
            </a:solidFill>
            <a:prstDash val="solid"/>
            <a:round/>
            <a:headEnd len="med" w="med" type="none"/>
            <a:tailEnd len="med" w="med" type="none"/>
          </a:ln>
        </p:spPr>
      </p:cxnSp>
      <p:cxnSp>
        <p:nvCxnSpPr>
          <p:cNvPr id="715" name="Google Shape;715;p62"/>
          <p:cNvCxnSpPr/>
          <p:nvPr/>
        </p:nvCxnSpPr>
        <p:spPr>
          <a:xfrm flipH="1" rot="10800000">
            <a:off x="5724662" y="2915368"/>
            <a:ext cx="53400" cy="107400"/>
          </a:xfrm>
          <a:prstGeom prst="straightConnector1">
            <a:avLst/>
          </a:prstGeom>
          <a:noFill/>
          <a:ln cap="flat" cmpd="sng" w="9525">
            <a:solidFill>
              <a:schemeClr val="dk2"/>
            </a:solidFill>
            <a:prstDash val="solid"/>
            <a:round/>
            <a:headEnd len="med" w="med" type="none"/>
            <a:tailEnd len="med" w="med" type="none"/>
          </a:ln>
        </p:spPr>
      </p:cxnSp>
      <p:cxnSp>
        <p:nvCxnSpPr>
          <p:cNvPr id="716" name="Google Shape;716;p62"/>
          <p:cNvCxnSpPr/>
          <p:nvPr/>
        </p:nvCxnSpPr>
        <p:spPr>
          <a:xfrm rot="10800000">
            <a:off x="5779270" y="2914325"/>
            <a:ext cx="60900" cy="111000"/>
          </a:xfrm>
          <a:prstGeom prst="straightConnector1">
            <a:avLst/>
          </a:prstGeom>
          <a:noFill/>
          <a:ln cap="flat" cmpd="sng" w="9525">
            <a:solidFill>
              <a:schemeClr val="dk2"/>
            </a:solidFill>
            <a:prstDash val="solid"/>
            <a:round/>
            <a:headEnd len="med" w="med" type="none"/>
            <a:tailEnd len="med" w="med" type="none"/>
          </a:ln>
        </p:spPr>
      </p:cxnSp>
      <p:cxnSp>
        <p:nvCxnSpPr>
          <p:cNvPr id="717" name="Google Shape;717;p62"/>
          <p:cNvCxnSpPr/>
          <p:nvPr/>
        </p:nvCxnSpPr>
        <p:spPr>
          <a:xfrm flipH="1" rot="10800000">
            <a:off x="5723392" y="2783816"/>
            <a:ext cx="54600" cy="88200"/>
          </a:xfrm>
          <a:prstGeom prst="straightConnector1">
            <a:avLst/>
          </a:prstGeom>
          <a:noFill/>
          <a:ln cap="flat" cmpd="sng" w="9525">
            <a:solidFill>
              <a:schemeClr val="dk2"/>
            </a:solidFill>
            <a:prstDash val="solid"/>
            <a:round/>
            <a:headEnd len="med" w="med" type="none"/>
            <a:tailEnd len="med" w="med" type="none"/>
          </a:ln>
        </p:spPr>
      </p:cxnSp>
      <p:cxnSp>
        <p:nvCxnSpPr>
          <p:cNvPr id="718" name="Google Shape;718;p62"/>
          <p:cNvCxnSpPr/>
          <p:nvPr/>
        </p:nvCxnSpPr>
        <p:spPr>
          <a:xfrm flipH="1">
            <a:off x="5778046" y="2763423"/>
            <a:ext cx="83700" cy="23100"/>
          </a:xfrm>
          <a:prstGeom prst="straightConnector1">
            <a:avLst/>
          </a:prstGeom>
          <a:noFill/>
          <a:ln cap="flat" cmpd="sng" w="9525">
            <a:solidFill>
              <a:schemeClr val="dk2"/>
            </a:solidFill>
            <a:prstDash val="solid"/>
            <a:round/>
            <a:headEnd len="med" w="med" type="none"/>
            <a:tailEnd len="med" w="med" type="none"/>
          </a:ln>
        </p:spPr>
      </p:cxnSp>
      <p:cxnSp>
        <p:nvCxnSpPr>
          <p:cNvPr id="719" name="Google Shape;719;p62"/>
          <p:cNvCxnSpPr/>
          <p:nvPr/>
        </p:nvCxnSpPr>
        <p:spPr>
          <a:xfrm flipH="1" rot="10800000">
            <a:off x="5861746" y="2696247"/>
            <a:ext cx="102300" cy="70200"/>
          </a:xfrm>
          <a:prstGeom prst="straightConnector1">
            <a:avLst/>
          </a:prstGeom>
          <a:noFill/>
          <a:ln cap="flat" cmpd="sng" w="9525">
            <a:solidFill>
              <a:srgbClr val="E6B8AF"/>
            </a:solidFill>
            <a:prstDash val="solid"/>
            <a:round/>
            <a:headEnd len="med" w="med" type="none"/>
            <a:tailEnd len="med" w="med" type="none"/>
          </a:ln>
        </p:spPr>
      </p:cxnSp>
      <p:sp>
        <p:nvSpPr>
          <p:cNvPr id="720" name="Google Shape;720;p62"/>
          <p:cNvSpPr/>
          <p:nvPr/>
        </p:nvSpPr>
        <p:spPr>
          <a:xfrm>
            <a:off x="274055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1" name="Google Shape;721;p62"/>
          <p:cNvSpPr/>
          <p:nvPr/>
        </p:nvSpPr>
        <p:spPr>
          <a:xfrm>
            <a:off x="3961500"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2" name="Google Shape;722;p62"/>
          <p:cNvSpPr/>
          <p:nvPr/>
        </p:nvSpPr>
        <p:spPr>
          <a:xfrm>
            <a:off x="5182425" y="1160725"/>
            <a:ext cx="1221000" cy="701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3" name="Google Shape;723;p62"/>
          <p:cNvPicPr preferRelativeResize="0"/>
          <p:nvPr/>
        </p:nvPicPr>
        <p:blipFill>
          <a:blip r:embed="rId3">
            <a:alphaModFix/>
          </a:blip>
          <a:stretch>
            <a:fillRect/>
          </a:stretch>
        </p:blipFill>
        <p:spPr>
          <a:xfrm>
            <a:off x="4378650" y="215175"/>
            <a:ext cx="4453651" cy="833750"/>
          </a:xfrm>
          <a:prstGeom prst="rect">
            <a:avLst/>
          </a:prstGeom>
          <a:noFill/>
          <a:ln>
            <a:noFill/>
          </a:ln>
        </p:spPr>
      </p:pic>
      <p:sp>
        <p:nvSpPr>
          <p:cNvPr id="724" name="Google Shape;724;p62"/>
          <p:cNvSpPr/>
          <p:nvPr/>
        </p:nvSpPr>
        <p:spPr>
          <a:xfrm>
            <a:off x="2740550" y="1861825"/>
            <a:ext cx="1221000" cy="729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5" name="Google Shape;725;p62"/>
          <p:cNvSpPr txBox="1"/>
          <p:nvPr/>
        </p:nvSpPr>
        <p:spPr>
          <a:xfrm>
            <a:off x="220650" y="1000250"/>
            <a:ext cx="145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Up: </a:t>
            </a:r>
            <a:endParaRPr sz="1800">
              <a:solidFill>
                <a:schemeClr val="dk2"/>
              </a:solidFill>
            </a:endParaRPr>
          </a:p>
          <a:p>
            <a:pPr indent="0" lvl="0" marL="0" rtl="0" algn="l">
              <a:spcBef>
                <a:spcPts val="0"/>
              </a:spcBef>
              <a:spcAft>
                <a:spcPts val="0"/>
              </a:spcAft>
              <a:buNone/>
            </a:pPr>
            <a:r>
              <a:rPr lang="en" sz="1800">
                <a:solidFill>
                  <a:schemeClr val="dk2"/>
                </a:solidFill>
              </a:rPr>
              <a:t>-1 - 0.99</a:t>
            </a:r>
            <a:endParaRPr sz="1800">
              <a:solidFill>
                <a:schemeClr val="dk2"/>
              </a:solidFill>
            </a:endParaRPr>
          </a:p>
          <a:p>
            <a:pPr indent="0" lvl="0" marL="0" rtl="0" algn="l">
              <a:spcBef>
                <a:spcPts val="0"/>
              </a:spcBef>
              <a:spcAft>
                <a:spcPts val="0"/>
              </a:spcAft>
              <a:buNone/>
            </a:pPr>
            <a:r>
              <a:rPr lang="en" sz="1800">
                <a:solidFill>
                  <a:schemeClr val="dk2"/>
                </a:solidFill>
              </a:rPr>
              <a:t>= -1.99</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Value Iteration</a:t>
            </a:r>
            <a:endParaRPr/>
          </a:p>
        </p:txBody>
      </p:sp>
      <p:sp>
        <p:nvSpPr>
          <p:cNvPr id="731" name="Google Shape;731;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States near terminal states change the most at first, then the changes propagate to other states</a:t>
            </a:r>
            <a:endParaRPr/>
          </a:p>
          <a:p>
            <a:pPr indent="-342900" lvl="0" marL="457200" rtl="0" algn="l">
              <a:spcBef>
                <a:spcPts val="0"/>
              </a:spcBef>
              <a:spcAft>
                <a:spcPts val="0"/>
              </a:spcAft>
              <a:buSzPts val="1800"/>
              <a:buChar char="●"/>
            </a:pPr>
            <a:r>
              <a:rPr lang="en"/>
              <a:t>Eventually leads to the optimal policy</a:t>
            </a:r>
            <a:endParaRPr/>
          </a:p>
          <a:p>
            <a:pPr indent="-342900" lvl="0" marL="457200" rtl="0" algn="l">
              <a:spcBef>
                <a:spcPts val="0"/>
              </a:spcBef>
              <a:spcAft>
                <a:spcPts val="0"/>
              </a:spcAft>
              <a:buSzPts val="1800"/>
              <a:buChar char="●"/>
            </a:pPr>
            <a:r>
              <a:rPr lang="en"/>
              <a:t>Issues with this?</a:t>
            </a:r>
            <a:endParaRPr/>
          </a:p>
          <a:p>
            <a:pPr indent="-317500" lvl="1" marL="914400" rtl="0" algn="l">
              <a:spcBef>
                <a:spcPts val="0"/>
              </a:spcBef>
              <a:spcAft>
                <a:spcPts val="0"/>
              </a:spcAft>
              <a:buSzPts val="1400"/>
              <a:buChar char="○"/>
            </a:pPr>
            <a:r>
              <a:rPr lang="en"/>
              <a:t>Computational complexity: what if our state and/or action space is very large?</a:t>
            </a:r>
            <a:endParaRPr/>
          </a:p>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Simple</a:t>
            </a:r>
            <a:endParaRPr/>
          </a:p>
          <a:p>
            <a:pPr indent="-317500" lvl="1" marL="914400" rtl="0" algn="l">
              <a:spcBef>
                <a:spcPts val="0"/>
              </a:spcBef>
              <a:spcAft>
                <a:spcPts val="0"/>
              </a:spcAft>
              <a:buSzPts val="1400"/>
              <a:buChar char="○"/>
            </a:pPr>
            <a:r>
              <a:rPr lang="en"/>
              <a:t>Guaranteed to solve the Bellman equation (i.e. give us an optimal policy) if run infinitely-many times</a:t>
            </a:r>
            <a:endParaRPr/>
          </a:p>
          <a:p>
            <a:pPr indent="-317500" lvl="2" marL="1371600" rtl="0" algn="l">
              <a:spcBef>
                <a:spcPts val="0"/>
              </a:spcBef>
              <a:spcAft>
                <a:spcPts val="0"/>
              </a:spcAft>
              <a:buSzPts val="1400"/>
              <a:buChar char="■"/>
            </a:pPr>
            <a:r>
              <a:rPr lang="en"/>
              <a:t>In practice, using epsilon as a change cutoff is sufficient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 for Policy Iteration</a:t>
            </a:r>
            <a:endParaRPr/>
          </a:p>
        </p:txBody>
      </p:sp>
      <p:sp>
        <p:nvSpPr>
          <p:cNvPr id="737" name="Google Shape;737;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often know the optimal policy before value iteration converges</a:t>
            </a:r>
            <a:endParaRPr/>
          </a:p>
          <a:p>
            <a:pPr indent="-342900" lvl="0" marL="457200" rtl="0" algn="l">
              <a:spcBef>
                <a:spcPts val="0"/>
              </a:spcBef>
              <a:spcAft>
                <a:spcPts val="0"/>
              </a:spcAft>
              <a:buSzPts val="1800"/>
              <a:buChar char="●"/>
            </a:pPr>
            <a:r>
              <a:rPr lang="en"/>
              <a:t>In other words, we can know to do (or not do) something without the exact value</a:t>
            </a:r>
            <a:endParaRPr/>
          </a:p>
          <a:p>
            <a:pPr indent="-317500" lvl="1" marL="914400" rtl="0" algn="l">
              <a:spcBef>
                <a:spcPts val="0"/>
              </a:spcBef>
              <a:spcAft>
                <a:spcPts val="0"/>
              </a:spcAft>
              <a:buSzPts val="1400"/>
              <a:buChar char="○"/>
            </a:pPr>
            <a:r>
              <a:rPr lang="en"/>
              <a:t>Similar to pruning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Policy Iteration</a:t>
            </a:r>
            <a:endParaRPr/>
          </a:p>
        </p:txBody>
      </p:sp>
      <p:sp>
        <p:nvSpPr>
          <p:cNvPr id="743" name="Google Shape;743;p65"/>
          <p:cNvSpPr txBox="1"/>
          <p:nvPr>
            <p:ph idx="1" type="body"/>
          </p:nvPr>
        </p:nvSpPr>
        <p:spPr>
          <a:xfrm>
            <a:off x="311700" y="1152475"/>
            <a:ext cx="8520600" cy="1893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Begin with a random policy</a:t>
            </a:r>
            <a:endParaRPr/>
          </a:p>
          <a:p>
            <a:pPr indent="-342900" lvl="0" marL="457200" rtl="0" algn="l">
              <a:spcBef>
                <a:spcPts val="0"/>
              </a:spcBef>
              <a:spcAft>
                <a:spcPts val="0"/>
              </a:spcAft>
              <a:buSzPts val="1800"/>
              <a:buChar char="●"/>
            </a:pPr>
            <a:r>
              <a:rPr lang="en"/>
              <a:t>While our policy changes:</a:t>
            </a:r>
            <a:endParaRPr/>
          </a:p>
          <a:p>
            <a:pPr indent="-317500" lvl="1" marL="914400" rtl="0" algn="l">
              <a:spcBef>
                <a:spcPts val="0"/>
              </a:spcBef>
              <a:spcAft>
                <a:spcPts val="0"/>
              </a:spcAft>
              <a:buSzPts val="1400"/>
              <a:buChar char="○"/>
            </a:pPr>
            <a:r>
              <a:rPr lang="en"/>
              <a:t>Use the Bellman equation to determine the utility of each state if our policy is executed</a:t>
            </a:r>
            <a:endParaRPr/>
          </a:p>
          <a:p>
            <a:pPr indent="-317500" lvl="2" marL="1371600" rtl="0" algn="l">
              <a:spcBef>
                <a:spcPts val="0"/>
              </a:spcBef>
              <a:spcAft>
                <a:spcPts val="0"/>
              </a:spcAft>
              <a:buSzPts val="1400"/>
              <a:buChar char="■"/>
            </a:pPr>
            <a:r>
              <a:rPr lang="en"/>
              <a:t>No more max operator, so we can use linear algebra to solve the system of equations:</a:t>
            </a:r>
            <a:endParaRPr/>
          </a:p>
          <a:p>
            <a:pPr indent="0" lvl="0" marL="914400" rtl="0" algn="l">
              <a:spcBef>
                <a:spcPts val="1200"/>
              </a:spcBef>
              <a:spcAft>
                <a:spcPts val="1200"/>
              </a:spcAft>
              <a:buNone/>
            </a:pPr>
            <a:r>
              <a:t/>
            </a:r>
            <a:endParaRPr/>
          </a:p>
        </p:txBody>
      </p:sp>
      <p:pic>
        <p:nvPicPr>
          <p:cNvPr id="744" name="Google Shape;744;p65"/>
          <p:cNvPicPr preferRelativeResize="0"/>
          <p:nvPr/>
        </p:nvPicPr>
        <p:blipFill>
          <a:blip r:embed="rId3">
            <a:alphaModFix/>
          </a:blip>
          <a:stretch>
            <a:fillRect/>
          </a:stretch>
        </p:blipFill>
        <p:spPr>
          <a:xfrm>
            <a:off x="2329174" y="2436475"/>
            <a:ext cx="4485645" cy="860100"/>
          </a:xfrm>
          <a:prstGeom prst="rect">
            <a:avLst/>
          </a:prstGeom>
          <a:noFill/>
          <a:ln>
            <a:noFill/>
          </a:ln>
        </p:spPr>
      </p:pic>
      <p:sp>
        <p:nvSpPr>
          <p:cNvPr id="745" name="Google Shape;745;p65"/>
          <p:cNvSpPr txBox="1"/>
          <p:nvPr>
            <p:ph idx="1" type="body"/>
          </p:nvPr>
        </p:nvSpPr>
        <p:spPr>
          <a:xfrm>
            <a:off x="311700" y="2851075"/>
            <a:ext cx="8520600" cy="154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17500" lvl="1" marL="914400" rtl="0" algn="l">
              <a:spcBef>
                <a:spcPts val="1200"/>
              </a:spcBef>
              <a:spcAft>
                <a:spcPts val="0"/>
              </a:spcAft>
              <a:buSzPts val="1400"/>
              <a:buChar char="○"/>
            </a:pPr>
            <a:r>
              <a:rPr lang="en"/>
              <a:t>Update the policy so that it chooses the best action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pic>
        <p:nvPicPr>
          <p:cNvPr id="751" name="Google Shape;751;p66"/>
          <p:cNvPicPr preferRelativeResize="0"/>
          <p:nvPr/>
        </p:nvPicPr>
        <p:blipFill>
          <a:blip r:embed="rId3">
            <a:alphaModFix/>
          </a:blip>
          <a:stretch>
            <a:fillRect/>
          </a:stretch>
        </p:blipFill>
        <p:spPr>
          <a:xfrm>
            <a:off x="1914525" y="1914525"/>
            <a:ext cx="5314950" cy="13144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757" name="Google Shape;757;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are the states?</a:t>
            </a:r>
            <a:endParaRPr/>
          </a:p>
          <a:p>
            <a:pPr indent="-317500" lvl="1" marL="914400" rtl="0" algn="l">
              <a:spcBef>
                <a:spcPts val="0"/>
              </a:spcBef>
              <a:spcAft>
                <a:spcPts val="0"/>
              </a:spcAft>
              <a:buSzPts val="1400"/>
              <a:buChar char="○"/>
            </a:pPr>
            <a:r>
              <a:rPr lang="en"/>
              <a:t>Rooms</a:t>
            </a:r>
            <a:endParaRPr/>
          </a:p>
          <a:p>
            <a:pPr indent="-342900" lvl="0" marL="457200" rtl="0" algn="l">
              <a:spcBef>
                <a:spcPts val="0"/>
              </a:spcBef>
              <a:spcAft>
                <a:spcPts val="0"/>
              </a:spcAft>
              <a:buSzPts val="1800"/>
              <a:buChar char="●"/>
            </a:pPr>
            <a:r>
              <a:rPr lang="en"/>
              <a:t>What are the actions?</a:t>
            </a:r>
            <a:endParaRPr/>
          </a:p>
          <a:p>
            <a:pPr indent="-317500" lvl="1" marL="914400" rtl="0" algn="l">
              <a:spcBef>
                <a:spcPts val="0"/>
              </a:spcBef>
              <a:spcAft>
                <a:spcPts val="0"/>
              </a:spcAft>
              <a:buSzPts val="1400"/>
              <a:buChar char="○"/>
            </a:pPr>
            <a:r>
              <a:rPr lang="en"/>
              <a:t>Left, right</a:t>
            </a:r>
            <a:endParaRPr/>
          </a:p>
          <a:p>
            <a:pPr indent="-342900" lvl="0" marL="457200" rtl="0" algn="l">
              <a:spcBef>
                <a:spcPts val="0"/>
              </a:spcBef>
              <a:spcAft>
                <a:spcPts val="0"/>
              </a:spcAft>
              <a:buSzPts val="1800"/>
              <a:buChar char="●"/>
            </a:pPr>
            <a:r>
              <a:rPr lang="en"/>
              <a:t>Transition model?</a:t>
            </a:r>
            <a:endParaRPr/>
          </a:p>
          <a:p>
            <a:pPr indent="-317500" lvl="1" marL="914400" rtl="0" algn="l">
              <a:spcBef>
                <a:spcPts val="0"/>
              </a:spcBef>
              <a:spcAft>
                <a:spcPts val="0"/>
              </a:spcAft>
              <a:buSzPts val="1400"/>
              <a:buChar char="○"/>
            </a:pPr>
            <a:r>
              <a:rPr lang="en"/>
              <a:t>Let’s say that the probability of moving correctly is 0.7, the probability of staying is 0.2, and the probability of moving in the unintended direction is 0.1</a:t>
            </a:r>
            <a:endParaRPr/>
          </a:p>
          <a:p>
            <a:pPr indent="-342900" lvl="0" marL="457200" rtl="0" algn="l">
              <a:spcBef>
                <a:spcPts val="0"/>
              </a:spcBef>
              <a:spcAft>
                <a:spcPts val="0"/>
              </a:spcAft>
              <a:buSzPts val="1800"/>
              <a:buChar char="●"/>
            </a:pPr>
            <a:r>
              <a:rPr lang="en"/>
              <a:t>Reward function?</a:t>
            </a:r>
            <a:endParaRPr/>
          </a:p>
          <a:p>
            <a:pPr indent="-317500" lvl="1" marL="914400" rtl="0" algn="l">
              <a:spcBef>
                <a:spcPts val="0"/>
              </a:spcBef>
              <a:spcAft>
                <a:spcPts val="0"/>
              </a:spcAft>
              <a:buSzPts val="1400"/>
              <a:buChar char="○"/>
            </a:pPr>
            <a:r>
              <a:rPr lang="en"/>
              <a:t>Shown in the picture</a:t>
            </a:r>
            <a:endParaRPr/>
          </a:p>
          <a:p>
            <a:pPr indent="-342900" lvl="0" marL="457200" rtl="0" algn="l">
              <a:spcBef>
                <a:spcPts val="0"/>
              </a:spcBef>
              <a:spcAft>
                <a:spcPts val="0"/>
              </a:spcAft>
              <a:buSzPts val="1800"/>
              <a:buChar char="●"/>
            </a:pPr>
            <a:r>
              <a:rPr lang="en"/>
              <a:t>For simplicity, let the discount factor be 1</a:t>
            </a:r>
            <a:endParaRPr/>
          </a:p>
        </p:txBody>
      </p:sp>
      <p:pic>
        <p:nvPicPr>
          <p:cNvPr id="758" name="Google Shape;758;p67"/>
          <p:cNvPicPr preferRelativeResize="0"/>
          <p:nvPr/>
        </p:nvPicPr>
        <p:blipFill>
          <a:blip r:embed="rId3">
            <a:alphaModFix/>
          </a:blip>
          <a:stretch>
            <a:fillRect/>
          </a:stretch>
        </p:blipFill>
        <p:spPr>
          <a:xfrm>
            <a:off x="5078700" y="790925"/>
            <a:ext cx="3466800" cy="857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764" name="Google Shape;764;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Set an initial policy:</a:t>
            </a:r>
            <a:endParaRPr/>
          </a:p>
        </p:txBody>
      </p:sp>
      <p:pic>
        <p:nvPicPr>
          <p:cNvPr id="765" name="Google Shape;765;p68"/>
          <p:cNvPicPr preferRelativeResize="0"/>
          <p:nvPr/>
        </p:nvPicPr>
        <p:blipFill rotWithShape="1">
          <a:blip r:embed="rId3">
            <a:alphaModFix/>
          </a:blip>
          <a:srcRect b="7184" l="2605" r="1937" t="7184"/>
          <a:stretch/>
        </p:blipFill>
        <p:spPr>
          <a:xfrm>
            <a:off x="2790000" y="1984500"/>
            <a:ext cx="3564000" cy="1174500"/>
          </a:xfrm>
          <a:prstGeom prst="rect">
            <a:avLst/>
          </a:prstGeom>
          <a:noFill/>
          <a:ln>
            <a:noFill/>
          </a:ln>
        </p:spPr>
      </p:pic>
      <p:pic>
        <p:nvPicPr>
          <p:cNvPr id="766" name="Google Shape;766;p68"/>
          <p:cNvPicPr preferRelativeResize="0"/>
          <p:nvPr/>
        </p:nvPicPr>
        <p:blipFill>
          <a:blip r:embed="rId4">
            <a:alphaModFix/>
          </a:blip>
          <a:stretch>
            <a:fillRect/>
          </a:stretch>
        </p:blipFill>
        <p:spPr>
          <a:xfrm>
            <a:off x="5078700" y="790925"/>
            <a:ext cx="3466800" cy="857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772" name="Google Shape;772;p69"/>
          <p:cNvSpPr txBox="1"/>
          <p:nvPr>
            <p:ph idx="1" type="body"/>
          </p:nvPr>
        </p:nvSpPr>
        <p:spPr>
          <a:xfrm>
            <a:off x="311700" y="1152475"/>
            <a:ext cx="3859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 the Bellman equation to get the following system of equations:</a:t>
            </a:r>
            <a:endParaRPr/>
          </a:p>
        </p:txBody>
      </p:sp>
      <p:pic>
        <p:nvPicPr>
          <p:cNvPr id="773" name="Google Shape;773;p69"/>
          <p:cNvPicPr preferRelativeResize="0"/>
          <p:nvPr/>
        </p:nvPicPr>
        <p:blipFill>
          <a:blip r:embed="rId3">
            <a:alphaModFix/>
          </a:blip>
          <a:stretch>
            <a:fillRect/>
          </a:stretch>
        </p:blipFill>
        <p:spPr>
          <a:xfrm>
            <a:off x="5078700" y="790925"/>
            <a:ext cx="3466800" cy="857375"/>
          </a:xfrm>
          <a:prstGeom prst="rect">
            <a:avLst/>
          </a:prstGeom>
          <a:noFill/>
          <a:ln>
            <a:noFill/>
          </a:ln>
        </p:spPr>
      </p:pic>
      <p:pic>
        <p:nvPicPr>
          <p:cNvPr id="774" name="Google Shape;774;p69"/>
          <p:cNvPicPr preferRelativeResize="0"/>
          <p:nvPr/>
        </p:nvPicPr>
        <p:blipFill>
          <a:blip r:embed="rId4">
            <a:alphaModFix/>
          </a:blip>
          <a:stretch>
            <a:fillRect/>
          </a:stretch>
        </p:blipFill>
        <p:spPr>
          <a:xfrm>
            <a:off x="4851900" y="1648300"/>
            <a:ext cx="3920399" cy="751725"/>
          </a:xfrm>
          <a:prstGeom prst="rect">
            <a:avLst/>
          </a:prstGeom>
          <a:noFill/>
          <a:ln>
            <a:noFill/>
          </a:ln>
        </p:spPr>
      </p:pic>
      <p:pic>
        <p:nvPicPr>
          <p:cNvPr id="775" name="Google Shape;775;p69"/>
          <p:cNvPicPr preferRelativeResize="0"/>
          <p:nvPr/>
        </p:nvPicPr>
        <p:blipFill>
          <a:blip r:embed="rId5">
            <a:alphaModFix/>
          </a:blip>
          <a:stretch>
            <a:fillRect/>
          </a:stretch>
        </p:blipFill>
        <p:spPr>
          <a:xfrm>
            <a:off x="769875" y="2619825"/>
            <a:ext cx="6661726" cy="1413975"/>
          </a:xfrm>
          <a:prstGeom prst="rect">
            <a:avLst/>
          </a:prstGeom>
          <a:noFill/>
          <a:ln>
            <a:noFill/>
          </a:ln>
        </p:spPr>
      </p:pic>
      <p:pic>
        <p:nvPicPr>
          <p:cNvPr id="776" name="Google Shape;776;p69"/>
          <p:cNvPicPr preferRelativeResize="0"/>
          <p:nvPr/>
        </p:nvPicPr>
        <p:blipFill rotWithShape="1">
          <a:blip r:embed="rId6">
            <a:alphaModFix/>
          </a:blip>
          <a:srcRect b="7184" l="2605" r="1937" t="7184"/>
          <a:stretch/>
        </p:blipFill>
        <p:spPr>
          <a:xfrm>
            <a:off x="5848975" y="156150"/>
            <a:ext cx="1926250" cy="634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782" name="Google Shape;782;p70"/>
          <p:cNvSpPr txBox="1"/>
          <p:nvPr>
            <p:ph idx="1" type="body"/>
          </p:nvPr>
        </p:nvSpPr>
        <p:spPr>
          <a:xfrm>
            <a:off x="311700" y="1152475"/>
            <a:ext cx="3859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 the Bellman equation to get the following system of equations:</a:t>
            </a:r>
            <a:endParaRPr/>
          </a:p>
        </p:txBody>
      </p:sp>
      <p:pic>
        <p:nvPicPr>
          <p:cNvPr id="783" name="Google Shape;783;p70"/>
          <p:cNvPicPr preferRelativeResize="0"/>
          <p:nvPr/>
        </p:nvPicPr>
        <p:blipFill>
          <a:blip r:embed="rId3">
            <a:alphaModFix/>
          </a:blip>
          <a:stretch>
            <a:fillRect/>
          </a:stretch>
        </p:blipFill>
        <p:spPr>
          <a:xfrm>
            <a:off x="5078700" y="790925"/>
            <a:ext cx="3466800" cy="857375"/>
          </a:xfrm>
          <a:prstGeom prst="rect">
            <a:avLst/>
          </a:prstGeom>
          <a:noFill/>
          <a:ln>
            <a:noFill/>
          </a:ln>
        </p:spPr>
      </p:pic>
      <p:pic>
        <p:nvPicPr>
          <p:cNvPr id="784" name="Google Shape;784;p70"/>
          <p:cNvPicPr preferRelativeResize="0"/>
          <p:nvPr/>
        </p:nvPicPr>
        <p:blipFill>
          <a:blip r:embed="rId4">
            <a:alphaModFix/>
          </a:blip>
          <a:stretch>
            <a:fillRect/>
          </a:stretch>
        </p:blipFill>
        <p:spPr>
          <a:xfrm>
            <a:off x="4851900" y="1648300"/>
            <a:ext cx="3920399" cy="751725"/>
          </a:xfrm>
          <a:prstGeom prst="rect">
            <a:avLst/>
          </a:prstGeom>
          <a:noFill/>
          <a:ln>
            <a:noFill/>
          </a:ln>
        </p:spPr>
      </p:pic>
      <p:pic>
        <p:nvPicPr>
          <p:cNvPr id="785" name="Google Shape;785;p70"/>
          <p:cNvPicPr preferRelativeResize="0"/>
          <p:nvPr/>
        </p:nvPicPr>
        <p:blipFill>
          <a:blip r:embed="rId5">
            <a:alphaModFix/>
          </a:blip>
          <a:stretch>
            <a:fillRect/>
          </a:stretch>
        </p:blipFill>
        <p:spPr>
          <a:xfrm>
            <a:off x="769875" y="2619825"/>
            <a:ext cx="6661726" cy="1413975"/>
          </a:xfrm>
          <a:prstGeom prst="rect">
            <a:avLst/>
          </a:prstGeom>
          <a:noFill/>
          <a:ln>
            <a:noFill/>
          </a:ln>
        </p:spPr>
      </p:pic>
      <p:pic>
        <p:nvPicPr>
          <p:cNvPr id="786" name="Google Shape;786;p70"/>
          <p:cNvPicPr preferRelativeResize="0"/>
          <p:nvPr/>
        </p:nvPicPr>
        <p:blipFill rotWithShape="1">
          <a:blip r:embed="rId6">
            <a:alphaModFix/>
          </a:blip>
          <a:srcRect b="7184" l="2605" r="1937" t="7184"/>
          <a:stretch/>
        </p:blipFill>
        <p:spPr>
          <a:xfrm>
            <a:off x="5848975" y="156150"/>
            <a:ext cx="1926250" cy="634775"/>
          </a:xfrm>
          <a:prstGeom prst="rect">
            <a:avLst/>
          </a:prstGeom>
          <a:noFill/>
          <a:ln>
            <a:noFill/>
          </a:ln>
        </p:spPr>
      </p:pic>
      <p:sp>
        <p:nvSpPr>
          <p:cNvPr id="787" name="Google Shape;787;p70"/>
          <p:cNvSpPr txBox="1"/>
          <p:nvPr/>
        </p:nvSpPr>
        <p:spPr>
          <a:xfrm>
            <a:off x="769875" y="4107175"/>
            <a:ext cx="466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Solution:</a:t>
            </a:r>
            <a:endParaRPr sz="1800">
              <a:solidFill>
                <a:schemeClr val="dk2"/>
              </a:solidFill>
            </a:endParaRPr>
          </a:p>
        </p:txBody>
      </p:sp>
      <p:pic>
        <p:nvPicPr>
          <p:cNvPr id="788" name="Google Shape;788;p70"/>
          <p:cNvPicPr preferRelativeResize="0"/>
          <p:nvPr/>
        </p:nvPicPr>
        <p:blipFill rotWithShape="1">
          <a:blip r:embed="rId7">
            <a:alphaModFix/>
          </a:blip>
          <a:srcRect b="14507" l="918" r="1387" t="14479"/>
          <a:stretch/>
        </p:blipFill>
        <p:spPr>
          <a:xfrm>
            <a:off x="1960200" y="4107175"/>
            <a:ext cx="5067312" cy="4617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794" name="Google Shape;794;p71"/>
          <p:cNvSpPr txBox="1"/>
          <p:nvPr>
            <p:ph idx="1" type="body"/>
          </p:nvPr>
        </p:nvSpPr>
        <p:spPr>
          <a:xfrm>
            <a:off x="311700" y="1981863"/>
            <a:ext cx="8520600" cy="1666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Update policy:</a:t>
            </a:r>
            <a:endParaRPr/>
          </a:p>
        </p:txBody>
      </p:sp>
      <p:pic>
        <p:nvPicPr>
          <p:cNvPr id="795" name="Google Shape;795;p71"/>
          <p:cNvPicPr preferRelativeResize="0"/>
          <p:nvPr/>
        </p:nvPicPr>
        <p:blipFill>
          <a:blip r:embed="rId3">
            <a:alphaModFix/>
          </a:blip>
          <a:stretch>
            <a:fillRect/>
          </a:stretch>
        </p:blipFill>
        <p:spPr>
          <a:xfrm>
            <a:off x="5078700" y="790925"/>
            <a:ext cx="3466800" cy="857375"/>
          </a:xfrm>
          <a:prstGeom prst="rect">
            <a:avLst/>
          </a:prstGeom>
          <a:noFill/>
          <a:ln>
            <a:noFill/>
          </a:ln>
        </p:spPr>
      </p:pic>
      <p:pic>
        <p:nvPicPr>
          <p:cNvPr id="796" name="Google Shape;796;p71"/>
          <p:cNvPicPr preferRelativeResize="0"/>
          <p:nvPr/>
        </p:nvPicPr>
        <p:blipFill rotWithShape="1">
          <a:blip r:embed="rId4">
            <a:alphaModFix/>
          </a:blip>
          <a:srcRect b="14507" l="918" r="1387" t="14479"/>
          <a:stretch/>
        </p:blipFill>
        <p:spPr>
          <a:xfrm>
            <a:off x="4076700" y="1648300"/>
            <a:ext cx="5067312" cy="461700"/>
          </a:xfrm>
          <a:prstGeom prst="rect">
            <a:avLst/>
          </a:prstGeom>
          <a:noFill/>
          <a:ln>
            <a:noFill/>
          </a:ln>
        </p:spPr>
      </p:pic>
      <p:pic>
        <p:nvPicPr>
          <p:cNvPr id="797" name="Google Shape;797;p71"/>
          <p:cNvPicPr preferRelativeResize="0"/>
          <p:nvPr/>
        </p:nvPicPr>
        <p:blipFill>
          <a:blip r:embed="rId5">
            <a:alphaModFix/>
          </a:blip>
          <a:stretch>
            <a:fillRect/>
          </a:stretch>
        </p:blipFill>
        <p:spPr>
          <a:xfrm>
            <a:off x="887700" y="2571750"/>
            <a:ext cx="4191000" cy="876300"/>
          </a:xfrm>
          <a:prstGeom prst="rect">
            <a:avLst/>
          </a:prstGeom>
          <a:noFill/>
          <a:ln>
            <a:noFill/>
          </a:ln>
        </p:spPr>
      </p:pic>
      <p:pic>
        <p:nvPicPr>
          <p:cNvPr id="798" name="Google Shape;798;p71"/>
          <p:cNvPicPr preferRelativeResize="0"/>
          <p:nvPr/>
        </p:nvPicPr>
        <p:blipFill rotWithShape="1">
          <a:blip r:embed="rId6">
            <a:alphaModFix/>
          </a:blip>
          <a:srcRect b="7184" l="2605" r="1937" t="7184"/>
          <a:stretch/>
        </p:blipFill>
        <p:spPr>
          <a:xfrm>
            <a:off x="5848975" y="156150"/>
            <a:ext cx="1926250" cy="634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804" name="Google Shape;804;p72"/>
          <p:cNvSpPr txBox="1"/>
          <p:nvPr>
            <p:ph idx="1" type="body"/>
          </p:nvPr>
        </p:nvSpPr>
        <p:spPr>
          <a:xfrm>
            <a:off x="311700" y="1152475"/>
            <a:ext cx="3859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 the Bellman equation to get the following system of equations:</a:t>
            </a:r>
            <a:endParaRPr/>
          </a:p>
        </p:txBody>
      </p:sp>
      <p:pic>
        <p:nvPicPr>
          <p:cNvPr id="805" name="Google Shape;805;p72"/>
          <p:cNvPicPr preferRelativeResize="0"/>
          <p:nvPr/>
        </p:nvPicPr>
        <p:blipFill>
          <a:blip r:embed="rId3">
            <a:alphaModFix/>
          </a:blip>
          <a:stretch>
            <a:fillRect/>
          </a:stretch>
        </p:blipFill>
        <p:spPr>
          <a:xfrm>
            <a:off x="5078700" y="790925"/>
            <a:ext cx="3466800" cy="857375"/>
          </a:xfrm>
          <a:prstGeom prst="rect">
            <a:avLst/>
          </a:prstGeom>
          <a:noFill/>
          <a:ln>
            <a:noFill/>
          </a:ln>
        </p:spPr>
      </p:pic>
      <p:pic>
        <p:nvPicPr>
          <p:cNvPr id="806" name="Google Shape;806;p72"/>
          <p:cNvPicPr preferRelativeResize="0"/>
          <p:nvPr/>
        </p:nvPicPr>
        <p:blipFill>
          <a:blip r:embed="rId4">
            <a:alphaModFix/>
          </a:blip>
          <a:stretch>
            <a:fillRect/>
          </a:stretch>
        </p:blipFill>
        <p:spPr>
          <a:xfrm>
            <a:off x="4851900" y="1648300"/>
            <a:ext cx="3920399" cy="751725"/>
          </a:xfrm>
          <a:prstGeom prst="rect">
            <a:avLst/>
          </a:prstGeom>
          <a:noFill/>
          <a:ln>
            <a:noFill/>
          </a:ln>
        </p:spPr>
      </p:pic>
      <p:pic>
        <p:nvPicPr>
          <p:cNvPr id="807" name="Google Shape;807;p72"/>
          <p:cNvPicPr preferRelativeResize="0"/>
          <p:nvPr/>
        </p:nvPicPr>
        <p:blipFill>
          <a:blip r:embed="rId5">
            <a:alphaModFix/>
          </a:blip>
          <a:stretch>
            <a:fillRect/>
          </a:stretch>
        </p:blipFill>
        <p:spPr>
          <a:xfrm>
            <a:off x="5586975" y="278600"/>
            <a:ext cx="2450250" cy="512325"/>
          </a:xfrm>
          <a:prstGeom prst="rect">
            <a:avLst/>
          </a:prstGeom>
          <a:noFill/>
          <a:ln>
            <a:noFill/>
          </a:ln>
        </p:spPr>
      </p:pic>
      <p:pic>
        <p:nvPicPr>
          <p:cNvPr id="808" name="Google Shape;808;p72"/>
          <p:cNvPicPr preferRelativeResize="0"/>
          <p:nvPr/>
        </p:nvPicPr>
        <p:blipFill rotWithShape="1">
          <a:blip r:embed="rId6">
            <a:alphaModFix/>
          </a:blip>
          <a:srcRect b="8400" l="1333" r="1304" t="11523"/>
          <a:stretch/>
        </p:blipFill>
        <p:spPr>
          <a:xfrm>
            <a:off x="850500" y="2571750"/>
            <a:ext cx="6650100" cy="137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814" name="Google Shape;814;p73"/>
          <p:cNvSpPr txBox="1"/>
          <p:nvPr>
            <p:ph idx="1" type="body"/>
          </p:nvPr>
        </p:nvSpPr>
        <p:spPr>
          <a:xfrm>
            <a:off x="311700" y="1152475"/>
            <a:ext cx="3859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 the Bellman equation to get the following system of equations:</a:t>
            </a:r>
            <a:endParaRPr/>
          </a:p>
        </p:txBody>
      </p:sp>
      <p:pic>
        <p:nvPicPr>
          <p:cNvPr id="815" name="Google Shape;815;p73"/>
          <p:cNvPicPr preferRelativeResize="0"/>
          <p:nvPr/>
        </p:nvPicPr>
        <p:blipFill>
          <a:blip r:embed="rId3">
            <a:alphaModFix/>
          </a:blip>
          <a:stretch>
            <a:fillRect/>
          </a:stretch>
        </p:blipFill>
        <p:spPr>
          <a:xfrm>
            <a:off x="5078700" y="790925"/>
            <a:ext cx="3466800" cy="857375"/>
          </a:xfrm>
          <a:prstGeom prst="rect">
            <a:avLst/>
          </a:prstGeom>
          <a:noFill/>
          <a:ln>
            <a:noFill/>
          </a:ln>
        </p:spPr>
      </p:pic>
      <p:pic>
        <p:nvPicPr>
          <p:cNvPr id="816" name="Google Shape;816;p73"/>
          <p:cNvPicPr preferRelativeResize="0"/>
          <p:nvPr/>
        </p:nvPicPr>
        <p:blipFill>
          <a:blip r:embed="rId4">
            <a:alphaModFix/>
          </a:blip>
          <a:stretch>
            <a:fillRect/>
          </a:stretch>
        </p:blipFill>
        <p:spPr>
          <a:xfrm>
            <a:off x="4851900" y="1648300"/>
            <a:ext cx="3920399" cy="751725"/>
          </a:xfrm>
          <a:prstGeom prst="rect">
            <a:avLst/>
          </a:prstGeom>
          <a:noFill/>
          <a:ln>
            <a:noFill/>
          </a:ln>
        </p:spPr>
      </p:pic>
      <p:pic>
        <p:nvPicPr>
          <p:cNvPr id="817" name="Google Shape;817;p73"/>
          <p:cNvPicPr preferRelativeResize="0"/>
          <p:nvPr/>
        </p:nvPicPr>
        <p:blipFill>
          <a:blip r:embed="rId5">
            <a:alphaModFix/>
          </a:blip>
          <a:stretch>
            <a:fillRect/>
          </a:stretch>
        </p:blipFill>
        <p:spPr>
          <a:xfrm>
            <a:off x="5586975" y="278600"/>
            <a:ext cx="2450250" cy="512325"/>
          </a:xfrm>
          <a:prstGeom prst="rect">
            <a:avLst/>
          </a:prstGeom>
          <a:noFill/>
          <a:ln>
            <a:noFill/>
          </a:ln>
        </p:spPr>
      </p:pic>
      <p:pic>
        <p:nvPicPr>
          <p:cNvPr id="818" name="Google Shape;818;p73"/>
          <p:cNvPicPr preferRelativeResize="0"/>
          <p:nvPr/>
        </p:nvPicPr>
        <p:blipFill rotWithShape="1">
          <a:blip r:embed="rId6">
            <a:alphaModFix/>
          </a:blip>
          <a:srcRect b="8400" l="1333" r="1304" t="11523"/>
          <a:stretch/>
        </p:blipFill>
        <p:spPr>
          <a:xfrm>
            <a:off x="850500" y="2571750"/>
            <a:ext cx="6650100" cy="1379250"/>
          </a:xfrm>
          <a:prstGeom prst="rect">
            <a:avLst/>
          </a:prstGeom>
          <a:noFill/>
          <a:ln>
            <a:noFill/>
          </a:ln>
        </p:spPr>
      </p:pic>
      <p:sp>
        <p:nvSpPr>
          <p:cNvPr id="819" name="Google Shape;819;p73"/>
          <p:cNvSpPr txBox="1"/>
          <p:nvPr/>
        </p:nvSpPr>
        <p:spPr>
          <a:xfrm>
            <a:off x="769875" y="4081863"/>
            <a:ext cx="466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Solution:</a:t>
            </a:r>
            <a:endParaRPr sz="1800">
              <a:solidFill>
                <a:schemeClr val="dk2"/>
              </a:solidFill>
            </a:endParaRPr>
          </a:p>
        </p:txBody>
      </p:sp>
      <p:pic>
        <p:nvPicPr>
          <p:cNvPr id="820" name="Google Shape;820;p73"/>
          <p:cNvPicPr preferRelativeResize="0"/>
          <p:nvPr/>
        </p:nvPicPr>
        <p:blipFill rotWithShape="1">
          <a:blip r:embed="rId7">
            <a:alphaModFix/>
          </a:blip>
          <a:srcRect b="8931" l="1192" r="1046" t="10312"/>
          <a:stretch/>
        </p:blipFill>
        <p:spPr>
          <a:xfrm>
            <a:off x="1927800" y="4056550"/>
            <a:ext cx="4806525" cy="5123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826" name="Google Shape;826;p74"/>
          <p:cNvSpPr txBox="1"/>
          <p:nvPr>
            <p:ph idx="1" type="body"/>
          </p:nvPr>
        </p:nvSpPr>
        <p:spPr>
          <a:xfrm>
            <a:off x="311700" y="1981863"/>
            <a:ext cx="8520600" cy="1666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Update policy:</a:t>
            </a:r>
            <a:endParaRPr/>
          </a:p>
        </p:txBody>
      </p:sp>
      <p:pic>
        <p:nvPicPr>
          <p:cNvPr id="827" name="Google Shape;827;p74"/>
          <p:cNvPicPr preferRelativeResize="0"/>
          <p:nvPr/>
        </p:nvPicPr>
        <p:blipFill>
          <a:blip r:embed="rId3">
            <a:alphaModFix/>
          </a:blip>
          <a:stretch>
            <a:fillRect/>
          </a:stretch>
        </p:blipFill>
        <p:spPr>
          <a:xfrm>
            <a:off x="5078700" y="790925"/>
            <a:ext cx="3466800" cy="857375"/>
          </a:xfrm>
          <a:prstGeom prst="rect">
            <a:avLst/>
          </a:prstGeom>
          <a:noFill/>
          <a:ln>
            <a:noFill/>
          </a:ln>
        </p:spPr>
      </p:pic>
      <p:pic>
        <p:nvPicPr>
          <p:cNvPr id="828" name="Google Shape;828;p74"/>
          <p:cNvPicPr preferRelativeResize="0"/>
          <p:nvPr/>
        </p:nvPicPr>
        <p:blipFill rotWithShape="1">
          <a:blip r:embed="rId4">
            <a:alphaModFix/>
          </a:blip>
          <a:srcRect b="8931" l="1192" r="1046" t="10312"/>
          <a:stretch/>
        </p:blipFill>
        <p:spPr>
          <a:xfrm>
            <a:off x="4337475" y="1648300"/>
            <a:ext cx="4806525" cy="512325"/>
          </a:xfrm>
          <a:prstGeom prst="rect">
            <a:avLst/>
          </a:prstGeom>
          <a:noFill/>
          <a:ln>
            <a:noFill/>
          </a:ln>
        </p:spPr>
      </p:pic>
      <p:pic>
        <p:nvPicPr>
          <p:cNvPr id="829" name="Google Shape;829;p74"/>
          <p:cNvPicPr preferRelativeResize="0"/>
          <p:nvPr/>
        </p:nvPicPr>
        <p:blipFill>
          <a:blip r:embed="rId5">
            <a:alphaModFix/>
          </a:blip>
          <a:stretch>
            <a:fillRect/>
          </a:stretch>
        </p:blipFill>
        <p:spPr>
          <a:xfrm>
            <a:off x="849600" y="2520663"/>
            <a:ext cx="4229100" cy="819150"/>
          </a:xfrm>
          <a:prstGeom prst="rect">
            <a:avLst/>
          </a:prstGeom>
          <a:noFill/>
          <a:ln>
            <a:noFill/>
          </a:ln>
        </p:spPr>
      </p:pic>
      <p:pic>
        <p:nvPicPr>
          <p:cNvPr id="830" name="Google Shape;830;p74"/>
          <p:cNvPicPr preferRelativeResize="0"/>
          <p:nvPr/>
        </p:nvPicPr>
        <p:blipFill>
          <a:blip r:embed="rId6">
            <a:alphaModFix/>
          </a:blip>
          <a:stretch>
            <a:fillRect/>
          </a:stretch>
        </p:blipFill>
        <p:spPr>
          <a:xfrm>
            <a:off x="5586975" y="278600"/>
            <a:ext cx="2450250" cy="512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836" name="Google Shape;836;p75"/>
          <p:cNvSpPr txBox="1"/>
          <p:nvPr>
            <p:ph idx="1" type="body"/>
          </p:nvPr>
        </p:nvSpPr>
        <p:spPr>
          <a:xfrm>
            <a:off x="311700" y="1152475"/>
            <a:ext cx="3876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After the third iteration, the policy doesn’t change, so the algorithm completes</a:t>
            </a:r>
            <a:endParaRPr/>
          </a:p>
        </p:txBody>
      </p:sp>
      <p:pic>
        <p:nvPicPr>
          <p:cNvPr id="837" name="Google Shape;837;p75"/>
          <p:cNvPicPr preferRelativeResize="0"/>
          <p:nvPr/>
        </p:nvPicPr>
        <p:blipFill>
          <a:blip r:embed="rId3">
            <a:alphaModFix/>
          </a:blip>
          <a:stretch>
            <a:fillRect/>
          </a:stretch>
        </p:blipFill>
        <p:spPr>
          <a:xfrm>
            <a:off x="5078700" y="790925"/>
            <a:ext cx="3466800" cy="857375"/>
          </a:xfrm>
          <a:prstGeom prst="rect">
            <a:avLst/>
          </a:prstGeom>
          <a:noFill/>
          <a:ln>
            <a:noFill/>
          </a:ln>
        </p:spPr>
      </p:pic>
      <p:pic>
        <p:nvPicPr>
          <p:cNvPr id="838" name="Google Shape;838;p75"/>
          <p:cNvPicPr preferRelativeResize="0"/>
          <p:nvPr/>
        </p:nvPicPr>
        <p:blipFill rotWithShape="1">
          <a:blip r:embed="rId4">
            <a:alphaModFix/>
          </a:blip>
          <a:srcRect b="8931" l="1192" r="1046" t="10312"/>
          <a:stretch/>
        </p:blipFill>
        <p:spPr>
          <a:xfrm>
            <a:off x="4337475" y="1648300"/>
            <a:ext cx="4806525" cy="512325"/>
          </a:xfrm>
          <a:prstGeom prst="rect">
            <a:avLst/>
          </a:prstGeom>
          <a:noFill/>
          <a:ln>
            <a:noFill/>
          </a:ln>
        </p:spPr>
      </p:pic>
      <p:pic>
        <p:nvPicPr>
          <p:cNvPr id="839" name="Google Shape;839;p75"/>
          <p:cNvPicPr preferRelativeResize="0"/>
          <p:nvPr/>
        </p:nvPicPr>
        <p:blipFill>
          <a:blip r:embed="rId5">
            <a:alphaModFix/>
          </a:blip>
          <a:stretch>
            <a:fillRect/>
          </a:stretch>
        </p:blipFill>
        <p:spPr>
          <a:xfrm>
            <a:off x="5586975" y="316320"/>
            <a:ext cx="2450250" cy="47459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Policy Iteration vs. Value Iteration</a:t>
            </a:r>
            <a:endParaRPr/>
          </a:p>
        </p:txBody>
      </p:sp>
      <p:sp>
        <p:nvSpPr>
          <p:cNvPr id="845" name="Google Shape;845;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When should we use one vs. the other?</a:t>
            </a:r>
            <a:endParaRPr/>
          </a:p>
          <a:p>
            <a:pPr indent="-317500" lvl="1" marL="914400" rtl="0" algn="l">
              <a:spcBef>
                <a:spcPts val="0"/>
              </a:spcBef>
              <a:spcAft>
                <a:spcPts val="0"/>
              </a:spcAft>
              <a:buSzPts val="1400"/>
              <a:buChar char="○"/>
            </a:pPr>
            <a:r>
              <a:rPr lang="en"/>
              <a:t>Policy Iteration:</a:t>
            </a:r>
            <a:endParaRPr/>
          </a:p>
          <a:p>
            <a:pPr indent="-317500" lvl="2" marL="1371600" rtl="0" algn="l">
              <a:spcBef>
                <a:spcPts val="0"/>
              </a:spcBef>
              <a:spcAft>
                <a:spcPts val="0"/>
              </a:spcAft>
              <a:buSzPts val="1400"/>
              <a:buChar char="■"/>
            </a:pPr>
            <a:r>
              <a:rPr lang="en"/>
              <a:t>Smaller state spaces (the more states, the larger our system of equations will be) </a:t>
            </a:r>
            <a:endParaRPr/>
          </a:p>
          <a:p>
            <a:pPr indent="-317500" lvl="1" marL="914400" rtl="0" algn="l">
              <a:spcBef>
                <a:spcPts val="0"/>
              </a:spcBef>
              <a:spcAft>
                <a:spcPts val="0"/>
              </a:spcAft>
              <a:buSzPts val="1400"/>
              <a:buChar char="○"/>
            </a:pPr>
            <a:r>
              <a:rPr lang="en"/>
              <a:t>Value Iteration:</a:t>
            </a:r>
            <a:endParaRPr/>
          </a:p>
          <a:p>
            <a:pPr indent="-317500" lvl="2" marL="1371600" rtl="0" algn="l">
              <a:spcBef>
                <a:spcPts val="0"/>
              </a:spcBef>
              <a:spcAft>
                <a:spcPts val="0"/>
              </a:spcAft>
              <a:buSzPts val="1400"/>
              <a:buChar char="■"/>
            </a:pPr>
            <a:r>
              <a:rPr lang="en"/>
              <a:t>Larger state spaces</a:t>
            </a:r>
            <a:endParaRPr/>
          </a:p>
          <a:p>
            <a:pPr indent="-317500" lvl="2" marL="1371600" rtl="0" algn="l">
              <a:spcBef>
                <a:spcPts val="0"/>
              </a:spcBef>
              <a:spcAft>
                <a:spcPts val="0"/>
              </a:spcAft>
              <a:buSzPts val="1400"/>
              <a:buChar char="■"/>
            </a:pPr>
            <a:r>
              <a:rPr lang="en"/>
              <a:t>However, this can still fall apart for extremely large spaces</a:t>
            </a:r>
            <a:endParaRPr/>
          </a:p>
          <a:p>
            <a:pPr indent="-317500" lvl="3" marL="1828800" rtl="0" algn="l">
              <a:spcBef>
                <a:spcPts val="0"/>
              </a:spcBef>
              <a:spcAft>
                <a:spcPts val="0"/>
              </a:spcAft>
              <a:buSzPts val="1400"/>
              <a:buChar char="●"/>
            </a:pPr>
            <a:r>
              <a:rPr lang="en"/>
              <a:t>In these scenarios, we usually use value function approximation</a:t>
            </a:r>
            <a:endParaRPr/>
          </a:p>
          <a:p>
            <a:pPr indent="-317500" lvl="4" marL="2286000" rtl="0" algn="l">
              <a:spcBef>
                <a:spcPts val="0"/>
              </a:spcBef>
              <a:spcAft>
                <a:spcPts val="0"/>
              </a:spcAft>
              <a:buSzPts val="1400"/>
              <a:buChar char="○"/>
            </a:pPr>
            <a:r>
              <a:rPr lang="en"/>
              <a:t>What is a good function approximator?</a:t>
            </a:r>
            <a:endParaRPr/>
          </a:p>
          <a:p>
            <a:pPr indent="-317500" lvl="5" marL="2743200" rtl="0" algn="l">
              <a:spcBef>
                <a:spcPts val="0"/>
              </a:spcBef>
              <a:spcAft>
                <a:spcPts val="0"/>
              </a:spcAft>
              <a:buSzPts val="1400"/>
              <a:buChar char="■"/>
            </a:pPr>
            <a:r>
              <a:rPr lang="en"/>
              <a:t>Neural networks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Homework</a:t>
            </a:r>
            <a:endParaRPr/>
          </a:p>
        </p:txBody>
      </p:sp>
      <p:sp>
        <p:nvSpPr>
          <p:cNvPr id="851" name="Google Shape;851;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COVID mini project</a:t>
            </a:r>
            <a:endParaRPr/>
          </a:p>
          <a:p>
            <a:pPr indent="-317500" lvl="1" marL="914400" rtl="0" algn="l">
              <a:spcBef>
                <a:spcPts val="0"/>
              </a:spcBef>
              <a:spcAft>
                <a:spcPts val="0"/>
              </a:spcAft>
              <a:buSzPts val="1400"/>
              <a:buChar char="○"/>
            </a:pPr>
            <a:r>
              <a:rPr lang="en"/>
              <a:t>Due Wednesday by 11:59 pm</a:t>
            </a:r>
            <a:endParaRPr/>
          </a:p>
          <a:p>
            <a:pPr indent="-342900" lvl="0" marL="457200" rtl="0" algn="l">
              <a:spcBef>
                <a:spcPts val="0"/>
              </a:spcBef>
              <a:spcAft>
                <a:spcPts val="0"/>
              </a:spcAft>
              <a:buSzPts val="1800"/>
              <a:buChar char="●"/>
            </a:pPr>
            <a:r>
              <a:rPr lang="en"/>
              <a:t>Value iteration lab</a:t>
            </a:r>
            <a:endParaRPr/>
          </a:p>
          <a:p>
            <a:pPr indent="-317500" lvl="1" marL="914400" rtl="0" algn="l">
              <a:spcBef>
                <a:spcPts val="0"/>
              </a:spcBef>
              <a:spcAft>
                <a:spcPts val="0"/>
              </a:spcAft>
              <a:buSzPts val="1400"/>
              <a:buChar char="○"/>
            </a:pPr>
            <a:r>
              <a:rPr lang="en"/>
              <a:t>Due April 1 by 11:59 pm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Value Iteration Lab</a:t>
            </a:r>
            <a:endParaRPr/>
          </a:p>
        </p:txBody>
      </p:sp>
      <p:sp>
        <p:nvSpPr>
          <p:cNvPr id="857" name="Google Shape;857;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 one of the following:</a:t>
            </a:r>
            <a:endParaRPr/>
          </a:p>
          <a:p>
            <a:pPr indent="-317500" lvl="1" marL="914400" rtl="0" algn="l">
              <a:spcBef>
                <a:spcPts val="0"/>
              </a:spcBef>
              <a:spcAft>
                <a:spcPts val="0"/>
              </a:spcAft>
              <a:buSzPts val="1400"/>
              <a:buChar char="○"/>
            </a:pPr>
            <a:r>
              <a:rPr lang="en"/>
              <a:t>Add value iteration to your Bayes Filter lab so that the robot can run in automatic mode (rather than you manually controlling the robot, your value iteration algorithm helps guide the robot)</a:t>
            </a:r>
            <a:endParaRPr/>
          </a:p>
          <a:p>
            <a:pPr indent="-317500" lvl="1" marL="914400" rtl="0" algn="l">
              <a:spcBef>
                <a:spcPts val="0"/>
              </a:spcBef>
              <a:spcAft>
                <a:spcPts val="0"/>
              </a:spcAft>
              <a:buSzPts val="1400"/>
              <a:buChar char="○"/>
            </a:pPr>
            <a:r>
              <a:rPr lang="en"/>
              <a:t>Implement the MDP model and value iteration on a paper titled “A Markov Decision Process Model to Guide Treatment of Abdominal Aortic Aneurysms”</a:t>
            </a:r>
            <a:endParaRPr/>
          </a:p>
          <a:p>
            <a:pPr indent="-317500" lvl="1" marL="914400" rtl="0" algn="l">
              <a:spcBef>
                <a:spcPts val="0"/>
              </a:spcBef>
              <a:spcAft>
                <a:spcPts val="0"/>
              </a:spcAft>
              <a:buSzPts val="1400"/>
              <a:buChar char="○"/>
            </a:pPr>
            <a:r>
              <a:rPr lang="en"/>
              <a:t>Domain of your choice, where you use value iteration to solve a problem</a:t>
            </a:r>
            <a:endParaRPr/>
          </a:p>
          <a:p>
            <a:pPr indent="-317500" lvl="2" marL="1371600" rtl="0" algn="l">
              <a:spcBef>
                <a:spcPts val="0"/>
              </a:spcBef>
              <a:spcAft>
                <a:spcPts val="0"/>
              </a:spcAft>
              <a:buSzPts val="1400"/>
              <a:buChar char="■"/>
            </a:pPr>
            <a:r>
              <a:rPr lang="en"/>
              <a:t>Ask Jared if the domain is acceptable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Time</a:t>
            </a:r>
            <a:endParaRPr/>
          </a:p>
        </p:txBody>
      </p:sp>
      <p:sp>
        <p:nvSpPr>
          <p:cNvPr id="863" name="Google Shape;863;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Partially Observable MDPs (POMDPs)</a:t>
            </a:r>
            <a:endParaRPr/>
          </a:p>
          <a:p>
            <a:pPr indent="-317500" lvl="1" marL="914400" rtl="0" algn="l">
              <a:spcBef>
                <a:spcPts val="0"/>
              </a:spcBef>
              <a:spcAft>
                <a:spcPts val="0"/>
              </a:spcAft>
              <a:buSzPts val="1400"/>
              <a:buChar char="○"/>
            </a:pPr>
            <a:r>
              <a:rPr lang="en"/>
              <a:t>Skim the linked Wikipedia page</a:t>
            </a:r>
            <a:endParaRPr/>
          </a:p>
          <a:p>
            <a:pPr indent="-342900" lvl="0" marL="457200" rtl="0" algn="l">
              <a:spcBef>
                <a:spcPts val="0"/>
              </a:spcBef>
              <a:spcAft>
                <a:spcPts val="0"/>
              </a:spcAft>
              <a:buSzPts val="1800"/>
              <a:buChar char="●"/>
            </a:pPr>
            <a:r>
              <a:rPr lang="en"/>
              <a:t>Will probably also start talking about reinforcement learning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